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301" r:id="rId3"/>
    <p:sldId id="277" r:id="rId4"/>
    <p:sldId id="284" r:id="rId5"/>
    <p:sldId id="282" r:id="rId6"/>
    <p:sldId id="283" r:id="rId7"/>
    <p:sldId id="258" r:id="rId8"/>
    <p:sldId id="259" r:id="rId9"/>
    <p:sldId id="260" r:id="rId10"/>
    <p:sldId id="261" r:id="rId11"/>
    <p:sldId id="262" r:id="rId12"/>
    <p:sldId id="285" r:id="rId13"/>
    <p:sldId id="263" r:id="rId14"/>
    <p:sldId id="279" r:id="rId15"/>
    <p:sldId id="286" r:id="rId16"/>
    <p:sldId id="280" r:id="rId17"/>
    <p:sldId id="278" r:id="rId18"/>
    <p:sldId id="264" r:id="rId19"/>
    <p:sldId id="265" r:id="rId20"/>
    <p:sldId id="266" r:id="rId21"/>
    <p:sldId id="267" r:id="rId22"/>
    <p:sldId id="271" r:id="rId23"/>
    <p:sldId id="268" r:id="rId24"/>
    <p:sldId id="269" r:id="rId25"/>
    <p:sldId id="270" r:id="rId26"/>
    <p:sldId id="272" r:id="rId27"/>
    <p:sldId id="273" r:id="rId28"/>
    <p:sldId id="27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F33541-5E58-43C3-A2D8-8288F878A3DB}">
          <p14:sldIdLst>
            <p14:sldId id="256"/>
            <p14:sldId id="301"/>
            <p14:sldId id="277"/>
            <p14:sldId id="284"/>
            <p14:sldId id="282"/>
            <p14:sldId id="283"/>
            <p14:sldId id="258"/>
            <p14:sldId id="259"/>
            <p14:sldId id="260"/>
            <p14:sldId id="261"/>
            <p14:sldId id="262"/>
            <p14:sldId id="285"/>
            <p14:sldId id="263"/>
            <p14:sldId id="279"/>
            <p14:sldId id="286"/>
            <p14:sldId id="280"/>
            <p14:sldId id="278"/>
            <p14:sldId id="264"/>
            <p14:sldId id="265"/>
            <p14:sldId id="266"/>
            <p14:sldId id="267"/>
            <p14:sldId id="271"/>
            <p14:sldId id="268"/>
            <p14:sldId id="269"/>
            <p14:sldId id="270"/>
            <p14:sldId id="272"/>
            <p14:sldId id="273"/>
            <p14:sldId id="275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F5B"/>
    <a:srgbClr val="000000"/>
    <a:srgbClr val="A8204E"/>
    <a:srgbClr val="C6093B"/>
    <a:srgbClr val="B1B6AF"/>
    <a:srgbClr val="D9D7D0"/>
    <a:srgbClr val="FF9ED3"/>
    <a:srgbClr val="AFAFAF"/>
    <a:srgbClr val="04ABFD"/>
    <a:srgbClr val="C50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6" autoAdjust="0"/>
    <p:restoredTop sz="78865" autoAdjust="0"/>
  </p:normalViewPr>
  <p:slideViewPr>
    <p:cSldViewPr snapToGrid="0">
      <p:cViewPr varScale="1">
        <p:scale>
          <a:sx n="115" d="100"/>
          <a:sy n="115" d="100"/>
        </p:scale>
        <p:origin x="6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AB296-C70E-40F1-B507-D2D143AD6E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78BF-40EC-41E1-9B62-3081DB120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15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2892C-D9C7-4A81-A07C-60131499A00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A37F7-1A90-4E51-A507-1AEFE7B69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5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12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is chronologically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2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Incentive compatible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02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little more setup in terms of the decisions that they are 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72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 the axes between male and female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manipulation check</a:t>
            </a:r>
            <a:br>
              <a:rPr lang="en-US" dirty="0"/>
            </a:br>
            <a:r>
              <a:rPr lang="en-US" dirty="0"/>
              <a:t>endowed them with money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99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and female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30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115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C79B39E0-BF53-44AA-98FF-1D1B87B7E713}"/>
              </a:ext>
            </a:extLst>
          </p:cNvPr>
          <p:cNvSpPr/>
          <p:nvPr userDrawn="1"/>
        </p:nvSpPr>
        <p:spPr>
          <a:xfrm>
            <a:off x="9712713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695DCC8-D73C-40D9-A089-189E7E30D752}"/>
              </a:ext>
            </a:extLst>
          </p:cNvPr>
          <p:cNvSpPr/>
          <p:nvPr userDrawn="1"/>
        </p:nvSpPr>
        <p:spPr>
          <a:xfrm rot="10800000">
            <a:off x="7213298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71" y="3896000"/>
            <a:ext cx="10135871" cy="646331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44444"/>
          </a:xfrm>
        </p:spPr>
        <p:txBody>
          <a:bodyPr lIns="0" rIns="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509691"/>
          </a:xfrm>
        </p:spPr>
        <p:txBody>
          <a:bodyPr lIns="0" rIns="0">
            <a:spAutoFit/>
          </a:bodyPr>
          <a:lstStyle>
            <a:lvl1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2pPr>
            <a:lvl3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3pPr>
            <a:lvl4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4pPr>
            <a:lvl5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A7F1E24-66DA-4CF5-9530-9AE8212B0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72" y="533027"/>
            <a:ext cx="3655687" cy="9563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BF14-A6EB-4C48-A237-48EB0CADD5DE}"/>
              </a:ext>
            </a:extLst>
          </p:cNvPr>
          <p:cNvCxnSpPr>
            <a:cxnSpLocks/>
          </p:cNvCxnSpPr>
          <p:nvPr userDrawn="1"/>
        </p:nvCxnSpPr>
        <p:spPr>
          <a:xfrm flipH="1">
            <a:off x="9901646" y="0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72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uilding, outdoor, sky, city&#10;&#10;Description automatically generated">
            <a:extLst>
              <a:ext uri="{FF2B5EF4-FFF2-40B4-BE49-F238E27FC236}">
                <a16:creationId xmlns:a16="http://schemas.microsoft.com/office/drawing/2014/main" id="{E2A878F4-D03E-4B25-B3E7-D24416503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321100"/>
            <a:ext cx="12191999" cy="812799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C79B39E0-BF53-44AA-98FF-1D1B87B7E713}"/>
              </a:ext>
            </a:extLst>
          </p:cNvPr>
          <p:cNvSpPr/>
          <p:nvPr userDrawn="1"/>
        </p:nvSpPr>
        <p:spPr>
          <a:xfrm>
            <a:off x="9712713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695DCC8-D73C-40D9-A089-189E7E30D752}"/>
              </a:ext>
            </a:extLst>
          </p:cNvPr>
          <p:cNvSpPr/>
          <p:nvPr userDrawn="1"/>
        </p:nvSpPr>
        <p:spPr>
          <a:xfrm rot="10800000">
            <a:off x="7213298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71" y="3896000"/>
            <a:ext cx="10135871" cy="646331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44444"/>
          </a:xfrm>
        </p:spPr>
        <p:txBody>
          <a:bodyPr lIns="0" rIns="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509691"/>
          </a:xfrm>
        </p:spPr>
        <p:txBody>
          <a:bodyPr lIns="0" rIns="0">
            <a:spAutoFit/>
          </a:bodyPr>
          <a:lstStyle>
            <a:lvl1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2pPr>
            <a:lvl3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3pPr>
            <a:lvl4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4pPr>
            <a:lvl5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A7F1E24-66DA-4CF5-9530-9AE8212B0B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72" y="533027"/>
            <a:ext cx="3655687" cy="9563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BF14-A6EB-4C48-A237-48EB0CADD5DE}"/>
              </a:ext>
            </a:extLst>
          </p:cNvPr>
          <p:cNvCxnSpPr>
            <a:cxnSpLocks/>
          </p:cNvCxnSpPr>
          <p:nvPr userDrawn="1"/>
        </p:nvCxnSpPr>
        <p:spPr>
          <a:xfrm flipH="1">
            <a:off x="9901646" y="0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71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: Emphas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C0B3D4-45AD-49CB-92C9-1CEAD1196E1A}"/>
              </a:ext>
            </a:extLst>
          </p:cNvPr>
          <p:cNvSpPr/>
          <p:nvPr userDrawn="1"/>
        </p:nvSpPr>
        <p:spPr>
          <a:xfrm>
            <a:off x="0" y="6503504"/>
            <a:ext cx="12192000" cy="384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2C77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8AF9ED-1340-42AE-98EE-2BF152A0315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280" y="6595711"/>
            <a:ext cx="914688" cy="17309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8C50F-BE59-40AD-99BF-D8A00352B94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92746" y="6552811"/>
            <a:ext cx="97287" cy="213183"/>
          </a:xfrm>
          <a:prstGeom prst="line">
            <a:avLst/>
          </a:prstGeom>
          <a:ln w="25400">
            <a:solidFill>
              <a:srgbClr val="C50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57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5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30061091-7521-4125-B5CB-44ACB827FB7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B8F1CD1-1171-4356-9440-0F08548CF601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3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6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4EB83-0CB6-4E8A-BD62-F024F3A15EB7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34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0_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25000"/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46EAFCF-62A9-448E-A69F-44EB1C0D199B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2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9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sp>
        <p:nvSpPr>
          <p:cNvPr id="41" name="Parallelogram 40">
            <a:extLst>
              <a:ext uri="{FF2B5EF4-FFF2-40B4-BE49-F238E27FC236}">
                <a16:creationId xmlns:a16="http://schemas.microsoft.com/office/drawing/2014/main" id="{235462F7-7773-4AC8-8064-DE9AAEC9C875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6B9B6E-B9A8-40A1-A460-0452F1F94C21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01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2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89470"/>
            <a:ext cx="3932237" cy="86793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7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43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solidFill>
            <a:schemeClr val="accent1">
              <a:alpha val="85000"/>
            </a:schemeClr>
          </a:solidFill>
        </p:spPr>
        <p:txBody>
          <a:bodyPr lIns="274320" tIns="274320" rIns="274320" bIns="274320"/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31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76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an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E500D9-CF53-4920-99CA-9E654F42E876}"/>
              </a:ext>
            </a:extLst>
          </p:cNvPr>
          <p:cNvSpPr/>
          <p:nvPr userDrawn="1"/>
        </p:nvSpPr>
        <p:spPr>
          <a:xfrm>
            <a:off x="139304" y="-180462"/>
            <a:ext cx="4094603" cy="4094603"/>
          </a:xfrm>
          <a:prstGeom prst="ellipse">
            <a:avLst/>
          </a:prstGeom>
          <a:noFill/>
          <a:ln w="1905000">
            <a:gradFill>
              <a:gsLst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60000"/>
                  </a:schemeClr>
                </a:gs>
              </a:gsLst>
              <a:lin ang="13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26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ground Only: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0E5126E1-4A6C-403C-B3E7-5CEEA6593AAE}"/>
              </a:ext>
            </a:extLst>
          </p:cNvPr>
          <p:cNvSpPr/>
          <p:nvPr userDrawn="1"/>
        </p:nvSpPr>
        <p:spPr>
          <a:xfrm>
            <a:off x="-222857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2B7EF76-94A6-4AAA-BD5E-5CF9731D4B1A}"/>
              </a:ext>
            </a:extLst>
          </p:cNvPr>
          <p:cNvSpPr/>
          <p:nvPr userDrawn="1"/>
        </p:nvSpPr>
        <p:spPr>
          <a:xfrm rot="10800000">
            <a:off x="8834814" y="2261903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440D6-9A55-4787-B579-8FFD0755C6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14776" y="3239589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499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26E6B51D-CB0A-4E91-9A6C-433229868862}"/>
              </a:ext>
            </a:extLst>
          </p:cNvPr>
          <p:cNvSpPr/>
          <p:nvPr userDrawn="1"/>
        </p:nvSpPr>
        <p:spPr>
          <a:xfrm rot="10800000">
            <a:off x="8921143" y="2302961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E33F1FB-D1DC-40E3-8128-01F1050E365D}"/>
              </a:ext>
            </a:extLst>
          </p:cNvPr>
          <p:cNvSpPr/>
          <p:nvPr userDrawn="1"/>
        </p:nvSpPr>
        <p:spPr>
          <a:xfrm rot="10800000">
            <a:off x="9799931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03504"/>
            <a:ext cx="12192000" cy="384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2C77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DA7CF6-2050-4A6C-BFA8-9DD0EF549C0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2280" y="6595711"/>
            <a:ext cx="914688" cy="17309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0108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80258" y="64871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AFAFAF"/>
                </a:solidFill>
              </a:defRPr>
            </a:lvl1pPr>
          </a:lstStyle>
          <a:p>
            <a:r>
              <a:rPr lang="en-US" dirty="0"/>
              <a:t>Name of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2356" y="6487182"/>
            <a:ext cx="4973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AFAFAF"/>
                </a:solidFill>
              </a:defRPr>
            </a:lvl1pPr>
          </a:lstStyle>
          <a:p>
            <a:fld id="{DD253308-F9C5-4FCB-8415-6DEE77C16A3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C6A3B2-8B52-4A4F-A948-674C40D1293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92746" y="6552811"/>
            <a:ext cx="97287" cy="213183"/>
          </a:xfrm>
          <a:prstGeom prst="line">
            <a:avLst/>
          </a:prstGeom>
          <a:ln w="25400">
            <a:solidFill>
              <a:srgbClr val="C50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03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0" r:id="rId3"/>
    <p:sldLayoutId id="2147483658" r:id="rId4"/>
    <p:sldLayoutId id="2147483668" r:id="rId5"/>
    <p:sldLayoutId id="2147483669" r:id="rId6"/>
    <p:sldLayoutId id="2147483673" r:id="rId7"/>
    <p:sldLayoutId id="2147483672" r:id="rId8"/>
    <p:sldLayoutId id="2147483653" r:id="rId9"/>
    <p:sldLayoutId id="2147483656" r:id="rId10"/>
    <p:sldLayoutId id="2147483654" r:id="rId11"/>
    <p:sldLayoutId id="2147483662" r:id="rId12"/>
    <p:sldLayoutId id="2147483663" r:id="rId13"/>
    <p:sldLayoutId id="2147483655" r:id="rId14"/>
    <p:sldLayoutId id="2147483659" r:id="rId15"/>
    <p:sldLayoutId id="214748366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C509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607040" y="-457200"/>
            <a:ext cx="2377440" cy="7772400"/>
          </a:xfrm>
          <a:prstGeom prst="parallelogram">
            <a:avLst>
              <a:gd name="adj" fmla="val 55000"/>
            </a:avLst>
          </a:prstGeom>
          <a:solidFill>
            <a:srgbClr val="99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harton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3108960" cy="877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598003"/>
            <a:ext cx="105156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400" b="1" i="0" dirty="0">
                <a:solidFill>
                  <a:srgbClr val="FFFFFF"/>
                </a:solidFill>
                <a:latin typeface="Arial"/>
              </a:rPr>
              <a:t>Who Gains More From Sponsorship?</a:t>
            </a:r>
            <a:endParaRPr sz="5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Jose Cervantez  ·  Erika Kirgios  ·  Rosalind Chow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CCD2E0"/>
                </a:solidFill>
                <a:latin typeface="Arial"/>
              </a:rPr>
              <a:t>April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EF9B2-01F8-09E6-9908-0963AA8C10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Goals for this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463040" cy="5486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183112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i="1">
                <a:solidFill>
                  <a:srgbClr val="5B657A"/>
                </a:solidFill>
                <a:latin typeface="Arial"/>
              </a:rPr>
              <a:t>Two things we'd love feedback on today: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164592" cy="1234439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06039"/>
            <a:ext cx="10972800" cy="1508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400" b="1" i="0">
                <a:solidFill>
                  <a:srgbClr val="00143D"/>
                </a:solidFill>
                <a:latin typeface="Arial"/>
              </a:rPr>
              <a:t>Experimental design</a:t>
            </a:r>
          </a:p>
          <a:p>
            <a:pPr>
              <a:spcBef>
                <a:spcPts val="400"/>
              </a:spcBef>
            </a:pPr>
            <a:r>
              <a:rPr sz="2100" b="0" i="0">
                <a:solidFill>
                  <a:srgbClr val="1F2937"/>
                </a:solidFill>
                <a:latin typeface="Arial"/>
              </a:rPr>
              <a:t>anything to flag before we scale up and preregister?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26280"/>
            <a:ext cx="164592" cy="1234439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972800" cy="83612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400" b="1" i="0" dirty="0">
                <a:solidFill>
                  <a:srgbClr val="00143D"/>
                </a:solidFill>
                <a:latin typeface="Arial"/>
              </a:rPr>
              <a:t>Interpretation of </a:t>
            </a:r>
            <a:r>
              <a:rPr lang="en-US" sz="2400" b="1" i="0" dirty="0">
                <a:solidFill>
                  <a:srgbClr val="00143D"/>
                </a:solidFill>
                <a:latin typeface="Arial"/>
              </a:rPr>
              <a:t>our </a:t>
            </a:r>
            <a:r>
              <a:rPr sz="2400" b="1" i="0" dirty="0">
                <a:solidFill>
                  <a:srgbClr val="00143D"/>
                </a:solidFill>
                <a:latin typeface="Arial"/>
              </a:rPr>
              <a:t>pilot</a:t>
            </a:r>
            <a:r>
              <a:rPr lang="en-US" sz="2400" b="1" i="0" dirty="0">
                <a:solidFill>
                  <a:srgbClr val="00143D"/>
                </a:solidFill>
                <a:latin typeface="Arial"/>
              </a:rPr>
              <a:t> data</a:t>
            </a:r>
            <a:endParaRPr sz="2400" b="1" i="0" dirty="0">
              <a:solidFill>
                <a:srgbClr val="00143D"/>
              </a:solidFill>
              <a:latin typeface="Arial"/>
            </a:endParaRPr>
          </a:p>
          <a:p>
            <a:pPr>
              <a:spcBef>
                <a:spcPts val="400"/>
              </a:spcBef>
            </a:pPr>
            <a:r>
              <a:rPr sz="2100" b="0" i="0" dirty="0">
                <a:solidFill>
                  <a:srgbClr val="1F2937"/>
                </a:solidFill>
                <a:latin typeface="Arial"/>
              </a:rPr>
              <a:t>we have a running theory, but alternatives are very welcome.</a:t>
            </a:r>
          </a:p>
        </p:txBody>
      </p:sp>
    </p:spTree>
    <p:extLst>
      <p:ext uri="{BB962C8B-B14F-4D97-AF65-F5344CB8AC3E}">
        <p14:creationId xmlns:p14="http://schemas.microsoft.com/office/powerpoint/2010/main" val="37745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EE579-ACE7-BF23-19A1-3C427898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lide Number Placeholder 3">
            <a:extLst>
              <a:ext uri="{FF2B5EF4-FFF2-40B4-BE49-F238E27FC236}">
                <a16:creationId xmlns:a16="http://schemas.microsoft.com/office/drawing/2014/main" id="{670AA0C5-6E38-4C7E-9F69-E6FF8DE563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10809A-3BFB-4B4E-9031-A9AE0018A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01" name="Rectangle 200"/>
          <p:cNvSpPr/>
          <p:nvPr/>
        </p:nvSpPr>
        <p:spPr>
          <a:xfrm>
            <a:off x="3584448" y="822960"/>
            <a:ext cx="5029200" cy="5669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3584448" y="822960"/>
            <a:ext cx="502920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877056" y="1426463"/>
            <a:ext cx="4443984" cy="32369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F1F1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877056" y="5193792"/>
            <a:ext cx="416966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3877056" y="5303520"/>
            <a:ext cx="4443984" cy="50065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dirty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 dirty="0">
                <a:solidFill>
                  <a:srgbClr val="011F5B"/>
                </a:solidFill>
                <a:latin typeface="Calibri"/>
              </a:rPr>
              <a:t>Robert Keller</a:t>
            </a:r>
          </a:p>
        </p:txBody>
      </p:sp>
    </p:spTree>
    <p:extLst>
      <p:ext uri="{BB962C8B-B14F-4D97-AF65-F5344CB8AC3E}">
        <p14:creationId xmlns:p14="http://schemas.microsoft.com/office/powerpoint/2010/main" val="60930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84448" y="822960"/>
            <a:ext cx="5029200" cy="5669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84448" y="822960"/>
            <a:ext cx="502920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7056" y="1426463"/>
            <a:ext cx="4443984" cy="32369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F1F1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7056" y="5193792"/>
            <a:ext cx="416966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95344" y="5522976"/>
            <a:ext cx="1463040" cy="27432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77056" y="5303520"/>
            <a:ext cx="4443984" cy="50065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dirty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 dirty="0">
                <a:solidFill>
                  <a:srgbClr val="011F5B"/>
                </a:solidFill>
                <a:latin typeface="Calibri"/>
              </a:rPr>
              <a:t>Susan Keller</a:t>
            </a:r>
            <a:endParaRPr lang="en-US" sz="1300" b="1" i="1" dirty="0">
              <a:solidFill>
                <a:srgbClr val="011F5B"/>
              </a:solidFill>
              <a:latin typeface="Calibri"/>
            </a:endParaRPr>
          </a:p>
        </p:txBody>
      </p:sp>
      <p:sp>
        <p:nvSpPr>
          <p:cNvPr id="500" name="Slide Number Placeholder 3">
            <a:extLst>
              <a:ext uri="{FF2B5EF4-FFF2-40B4-BE49-F238E27FC236}">
                <a16:creationId xmlns:a16="http://schemas.microsoft.com/office/drawing/2014/main" id="{6476980E-6401-4B26-BBFB-DE841CAD0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2290F-98C8-47C1-94CB-85B874F7882D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9CA3A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9CA3A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9CA3AF"/>
                </a:solidFill>
                <a:latin typeface="Calibri"/>
              </a:rPr>
              <a:t>Robert Keller</a:t>
            </a:r>
          </a:p>
          <a:p>
            <a:r>
              <a:rPr sz="1050" b="0" i="0">
                <a:solidFill>
                  <a:srgbClr val="9CA3AF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2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I am pleased to recommend Jose Cervantez for admission to your doctoral program in organizational behavior. In my seminar and as a research assistant, Jose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011F5B"/>
                </a:solidFill>
                <a:latin typeface="Calibri"/>
              </a:rPr>
              <a:t>Robert Keller</a:t>
            </a:r>
          </a:p>
          <a:p>
            <a:r>
              <a:rPr sz="1050" b="0" i="0">
                <a:solidFill>
                  <a:srgbClr val="4B5563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60720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r>
              <a:rPr sz="2200" b="1" i="0" dirty="0">
                <a:solidFill>
                  <a:srgbClr val="011F5B"/>
                </a:solidFill>
                <a:latin typeface="Calibri"/>
              </a:rPr>
              <a:t>How do you read the new letter after one successful outcome?</a:t>
            </a:r>
          </a:p>
        </p:txBody>
      </p:sp>
      <p:sp>
        <p:nvSpPr>
          <p:cNvPr id="501" name="Slide Number Placeholder 3">
            <a:extLst>
              <a:ext uri="{FF2B5EF4-FFF2-40B4-BE49-F238E27FC236}">
                <a16:creationId xmlns:a16="http://schemas.microsoft.com/office/drawing/2014/main" id="{E3A33801-F2DB-488D-9785-2E371B473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805426-5748-4DD7-B75D-2DDFAB1BA0F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02" name="Rounded Rectangle 501"/>
          <p:cNvSpPr/>
          <p:nvPr/>
        </p:nvSpPr>
        <p:spPr>
          <a:xfrm>
            <a:off x="1965960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8851392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504" name="Rectangle 503"/>
          <p:cNvSpPr/>
          <p:nvPr/>
        </p:nvSpPr>
        <p:spPr>
          <a:xfrm rot="20940000">
            <a:off x="822959" y="2331720"/>
            <a:ext cx="3657600" cy="1188720"/>
          </a:xfrm>
          <a:prstGeom prst="rect">
            <a:avLst/>
          </a:prstGeom>
          <a:noFill/>
          <a:ln w="508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2800" b="1" i="0" dirty="0">
                <a:solidFill>
                  <a:srgbClr val="15803D"/>
                </a:solidFill>
                <a:latin typeface="Arial"/>
              </a:rPr>
              <a:t>GOOD STUDENT  ✓</a:t>
            </a:r>
          </a:p>
        </p:txBody>
      </p:sp>
      <p:sp>
        <p:nvSpPr>
          <p:cNvPr id="505" name="Rectangle 504"/>
          <p:cNvSpPr/>
          <p:nvPr/>
        </p:nvSpPr>
        <p:spPr>
          <a:xfrm rot="20940000">
            <a:off x="822959" y="354787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300" b="1" i="1">
                <a:solidFill>
                  <a:srgbClr val="15803D"/>
                </a:solidFill>
                <a:latin typeface="Arial"/>
              </a:rPr>
              <a:t>one year later</a:t>
            </a:r>
          </a:p>
        </p:txBody>
      </p:sp>
      <p:sp>
        <p:nvSpPr>
          <p:cNvPr id="506" name="Oval 505"/>
          <p:cNvSpPr/>
          <p:nvPr/>
        </p:nvSpPr>
        <p:spPr>
          <a:xfrm>
            <a:off x="8531352" y="1737360"/>
            <a:ext cx="2011680" cy="2011680"/>
          </a:xfrm>
          <a:prstGeom prst="ellipse">
            <a:avLst/>
          </a:prstGeom>
          <a:noFill/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7200" b="1" i="0">
                <a:solidFill>
                  <a:srgbClr val="B0B7C3"/>
                </a:solidFill>
                <a:latin typeface="Arial"/>
              </a:rPr>
              <a:t>?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8257031" y="3794759"/>
            <a:ext cx="25603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300" b="1" i="1">
                <a:solidFill>
                  <a:srgbClr val="6B7280"/>
                </a:solidFill>
                <a:latin typeface="Arial"/>
              </a:rPr>
              <a:t>how do you read this one?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9CA3A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9CA3A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3816" y="4608576"/>
            <a:ext cx="1463040" cy="27432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9CA3AF"/>
                </a:solidFill>
                <a:latin typeface="Calibri"/>
              </a:rPr>
              <a:t>Susan Keller</a:t>
            </a:r>
          </a:p>
          <a:p>
            <a:r>
              <a:rPr sz="1050" b="0" i="0">
                <a:solidFill>
                  <a:srgbClr val="9CA3AF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8352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88352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I am pleased to recommend Jose Cervantez for admission to your doctoral program in organizational behavior. In my seminar and as a research assistant, Jose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99248" y="4608576"/>
            <a:ext cx="1463040" cy="27432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011F5B"/>
                </a:solidFill>
                <a:latin typeface="Calibri"/>
              </a:rPr>
              <a:t>Susan Keller</a:t>
            </a:r>
          </a:p>
          <a:p>
            <a:r>
              <a:rPr sz="1050" b="0" i="0">
                <a:solidFill>
                  <a:srgbClr val="4B5563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60720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r>
              <a:rPr sz="2200" b="1" i="0" dirty="0">
                <a:solidFill>
                  <a:srgbClr val="011F5B"/>
                </a:solidFill>
                <a:latin typeface="Calibri"/>
              </a:rPr>
              <a:t>Does one success buy Susan the same credibility it bought Robert?</a:t>
            </a:r>
          </a:p>
        </p:txBody>
      </p:sp>
      <p:sp>
        <p:nvSpPr>
          <p:cNvPr id="502" name="Slide Number Placeholder 3">
            <a:extLst>
              <a:ext uri="{FF2B5EF4-FFF2-40B4-BE49-F238E27FC236}">
                <a16:creationId xmlns:a16="http://schemas.microsoft.com/office/drawing/2014/main" id="{9910DD83-63EE-4A67-94DD-9BC741E19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C1727D-8A3F-4222-A3E5-09914707AEC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03" name="Rounded Rectangle 502"/>
          <p:cNvSpPr/>
          <p:nvPr/>
        </p:nvSpPr>
        <p:spPr>
          <a:xfrm>
            <a:off x="1965960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8851392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505" name="Rectangle 504"/>
          <p:cNvSpPr/>
          <p:nvPr/>
        </p:nvSpPr>
        <p:spPr>
          <a:xfrm rot="20940000">
            <a:off x="822959" y="2331720"/>
            <a:ext cx="3657600" cy="1188720"/>
          </a:xfrm>
          <a:prstGeom prst="rect">
            <a:avLst/>
          </a:prstGeom>
          <a:noFill/>
          <a:ln w="508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2800" b="1" i="0">
                <a:solidFill>
                  <a:srgbClr val="15803D"/>
                </a:solidFill>
                <a:latin typeface="Arial"/>
              </a:rPr>
              <a:t>GOOD STUDENT  ✓</a:t>
            </a:r>
          </a:p>
        </p:txBody>
      </p:sp>
      <p:sp>
        <p:nvSpPr>
          <p:cNvPr id="506" name="Rectangle 505"/>
          <p:cNvSpPr/>
          <p:nvPr/>
        </p:nvSpPr>
        <p:spPr>
          <a:xfrm rot="20940000">
            <a:off x="822959" y="354787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300" b="1" i="1">
                <a:solidFill>
                  <a:srgbClr val="15803D"/>
                </a:solidFill>
                <a:latin typeface="Arial"/>
              </a:rPr>
              <a:t>one year later</a:t>
            </a:r>
          </a:p>
        </p:txBody>
      </p:sp>
      <p:sp>
        <p:nvSpPr>
          <p:cNvPr id="507" name="Oval 506"/>
          <p:cNvSpPr/>
          <p:nvPr/>
        </p:nvSpPr>
        <p:spPr>
          <a:xfrm>
            <a:off x="8531352" y="1737360"/>
            <a:ext cx="2011680" cy="2011680"/>
          </a:xfrm>
          <a:prstGeom prst="ellipse">
            <a:avLst/>
          </a:prstGeom>
          <a:noFill/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7200" b="1" i="0">
                <a:solidFill>
                  <a:srgbClr val="B0B7C3"/>
                </a:solidFill>
                <a:latin typeface="Arial"/>
              </a:rPr>
              <a:t>?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8257031" y="3794759"/>
            <a:ext cx="25603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300" b="1" i="1">
                <a:solidFill>
                  <a:srgbClr val="6B7280"/>
                </a:solidFill>
                <a:latin typeface="Arial"/>
              </a:rPr>
              <a:t>how do you read this one?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What is sponsorship?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  <a:latin typeface="Arial"/>
              </a:rPr>
              <a:t>Sponsorship is support provided to influence other people's perceptions of a protégé's skills, abilities, performance, and potential, with the intention of helping the protégé in their career.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91835"/>
            <a:ext cx="10972800" cy="23544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Public advocacy and recommendations</a:t>
            </a:r>
          </a:p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Endorsements to colleagues, clients, hiring committees</a:t>
            </a:r>
          </a:p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Introductions to high-status others</a:t>
            </a:r>
          </a:p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Vouching for skill, judgment, or fit</a:t>
            </a:r>
          </a:p>
        </p:txBody>
      </p:sp>
      <p:sp>
        <p:nvSpPr>
          <p:cNvPr id="201" name="Slide Number Placeholder 3">
            <a:extLst>
              <a:ext uri="{FF2B5EF4-FFF2-40B4-BE49-F238E27FC236}">
                <a16:creationId xmlns:a16="http://schemas.microsoft.com/office/drawing/2014/main" id="{2C1F1100-0B2F-4478-B42E-3A03F4C67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F99A4A-470F-4203-94F7-2F8E64E32661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Sponsorship involves real risk for sponsors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6B7280"/>
                </a:solidFill>
                <a:latin typeface="Arial"/>
              </a:rPr>
              <a:t>When a sponsor stakes their reputation on a protégé: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5212080" cy="33375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200"/>
              </a:spcAft>
            </a:pPr>
            <a:r>
              <a:rPr sz="2200" b="1" i="0" dirty="0">
                <a:solidFill>
                  <a:srgbClr val="011F5B"/>
                </a:solidFill>
                <a:latin typeface="Arial"/>
              </a:rPr>
              <a:t>When the protégé succeeds</a:t>
            </a:r>
          </a:p>
          <a:p>
            <a:pPr algn="l"/>
            <a:r>
              <a:rPr sz="600" b="0" i="0" dirty="0">
                <a:solidFill>
                  <a:srgbClr val="111827"/>
                </a:solidFill>
                <a:latin typeface="Arial"/>
              </a:rPr>
              <a:t> 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Sponsor gains credibility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Reputation lifts with the protégé</a:t>
            </a:r>
          </a:p>
          <a:p>
            <a:pPr algn="ctr"/>
            <a:r>
              <a:rPr sz="1800" b="0" i="0" dirty="0">
                <a:solidFill>
                  <a:srgbClr val="111827"/>
                </a:solidFill>
                <a:latin typeface="Arial"/>
              </a:rPr>
              <a:t>→  Network ties strengthen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48840"/>
            <a:ext cx="5212080" cy="3337560"/>
          </a:xfrm>
          <a:prstGeom prst="roundRect">
            <a:avLst/>
          </a:prstGeom>
          <a:solidFill>
            <a:srgbClr val="FDE2E2"/>
          </a:solidFill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200"/>
              </a:spcAft>
            </a:pPr>
            <a:r>
              <a:rPr sz="2200" b="1" i="0" dirty="0">
                <a:solidFill>
                  <a:srgbClr val="990000"/>
                </a:solidFill>
                <a:latin typeface="Arial"/>
              </a:rPr>
              <a:t>When the protégé fails</a:t>
            </a:r>
          </a:p>
          <a:p>
            <a:pPr algn="l"/>
            <a:r>
              <a:rPr sz="600" b="0" i="0" dirty="0">
                <a:solidFill>
                  <a:srgbClr val="111827"/>
                </a:solidFill>
                <a:latin typeface="Arial"/>
              </a:rPr>
              <a:t> 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Sponsor loses credibility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Future endorsements are discounted</a:t>
            </a:r>
          </a:p>
          <a:p>
            <a:pPr algn="ctr"/>
            <a:r>
              <a:rPr sz="1800" b="0" i="0" dirty="0">
                <a:solidFill>
                  <a:srgbClr val="111827"/>
                </a:solidFill>
                <a:latin typeface="Arial"/>
              </a:rPr>
              <a:t>→  Network ties may weaken</a:t>
            </a:r>
          </a:p>
        </p:txBody>
      </p:sp>
      <p:sp>
        <p:nvSpPr>
          <p:cNvPr id="202" name="Slide Number Placeholder 3">
            <a:extLst>
              <a:ext uri="{FF2B5EF4-FFF2-40B4-BE49-F238E27FC236}">
                <a16:creationId xmlns:a16="http://schemas.microsoft.com/office/drawing/2014/main" id="{C0B996CF-7452-49BF-B277-569111839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F17C1-29F7-4E56-9601-0C8C99D8C01E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Research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1120140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01168" rIns="182880" bIns="164592" rtlCol="0" anchor="ctr"/>
          <a:lstStyle/>
          <a:p>
            <a:r>
              <a:rPr sz="2200" b="1" dirty="0">
                <a:solidFill>
                  <a:srgbClr val="990000"/>
                </a:solidFill>
                <a:latin typeface="Arial"/>
              </a:rPr>
              <a:t>RQ1    </a:t>
            </a:r>
            <a:r>
              <a:rPr lang="en-US" sz="2200" b="1" dirty="0">
                <a:solidFill>
                  <a:srgbClr val="011F5B"/>
                </a:solidFill>
              </a:rPr>
              <a:t>Are male and female sponsors trusted equally before any outcome is observed?</a:t>
            </a:r>
            <a:endParaRPr sz="2200" b="1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71800"/>
            <a:ext cx="1120140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01168" rIns="182880" bIns="164592" rtlCol="0" anchor="ctr"/>
          <a:lstStyle/>
          <a:p>
            <a:r>
              <a:rPr sz="2200" b="1" dirty="0">
                <a:solidFill>
                  <a:srgbClr val="990000"/>
                </a:solidFill>
                <a:latin typeface="Arial"/>
              </a:rPr>
              <a:t>RQ2    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When a sponsor’s protégé succeeds or fails, does the sponsor’s gender shape how audiences react?</a:t>
            </a:r>
            <a:endParaRPr sz="2200" b="1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01168" rIns="182880" bIns="164592" rtlCol="0" anchor="ctr"/>
          <a:lstStyle/>
          <a:p>
            <a:r>
              <a:rPr sz="2200" b="1" dirty="0">
                <a:solidFill>
                  <a:srgbClr val="990000"/>
                </a:solidFill>
                <a:latin typeface="Arial"/>
              </a:rPr>
              <a:t>RQ3    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Does it matter how confident the sponsor was when they made the endorsement?</a:t>
            </a:r>
          </a:p>
        </p:txBody>
      </p:sp>
      <p:sp>
        <p:nvSpPr>
          <p:cNvPr id="203" name="Slide Number Placeholder 3">
            <a:extLst>
              <a:ext uri="{FF2B5EF4-FFF2-40B4-BE49-F238E27FC236}">
                <a16:creationId xmlns:a16="http://schemas.microsoft.com/office/drawing/2014/main" id="{CB360B25-41EB-4CDC-B611-783C980A8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8AD538-F77B-44D6-BAE5-554C63FAB4BA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lide Number Placeholder 3">
            <a:extLst>
              <a:ext uri="{FF2B5EF4-FFF2-40B4-BE49-F238E27FC236}">
                <a16:creationId xmlns:a16="http://schemas.microsoft.com/office/drawing/2014/main" id="{E0E0B616-1893-4626-88F5-27D4B80A4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7DE0CE-2F4B-41B4-9E6F-4E09BD8E348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Three-stage lab experiment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84047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E5EAF3"/>
          </a:solidFill>
          <a:ln w="444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612647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1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12647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00143D"/>
                </a:solidFill>
                <a:latin typeface="Calibri"/>
              </a:rPr>
              <a:t>Protégé performance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12647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Real participants take three performance tasks (Barron et al., 2025). We use the posted scores to build candidate profiles.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288536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4517136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517136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Sponsor endorsements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17136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sponsors view candidate pairs and rate which one will perform better, and how confident they are.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8193024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8421624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421624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Audience evaluation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421624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Evaluators bet on a sponsor's endorsement, see the outcome, then bet on a second endorsement from the same sponsor.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Stage 1:  Where do the candidates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8574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6B7280"/>
                </a:solidFill>
                <a:latin typeface="Arial"/>
              </a:rPr>
              <a:t>Real participants completed three professional-ability tasks (Barron et al., 2025).</a:t>
            </a:r>
          </a:p>
        </p:txBody>
      </p:sp>
      <p:pic>
        <p:nvPicPr>
          <p:cNvPr id="4" name="Picture 3" descr="stage1_tasks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91" y="1192894"/>
            <a:ext cx="8107266" cy="4729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1722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Arial"/>
              </a:rPr>
              <a:t>Word search  ·  General-knowledge quiz  ·  Logical-reasoning (Raven's matrices)</a:t>
            </a:r>
          </a:p>
        </p:txBody>
      </p:sp>
      <p:sp>
        <p:nvSpPr>
          <p:cNvPr id="205" name="Slide Number Placeholder 3">
            <a:extLst>
              <a:ext uri="{FF2B5EF4-FFF2-40B4-BE49-F238E27FC236}">
                <a16:creationId xmlns:a16="http://schemas.microsoft.com/office/drawing/2014/main" id="{E5E9CEA3-2FB5-40FF-8728-CB6B8DBBAF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F7F67-5F11-4B5B-A115-046EA0C21CC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Three-stage lab experiment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7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7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Protégé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participants take three performance tasks (Barron et al., 2025). We use the posted scores to build candidate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E5EAF3"/>
          </a:solidFill>
          <a:ln w="444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136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00143D"/>
                </a:solidFill>
                <a:latin typeface="Calibri"/>
              </a:rPr>
              <a:t>Sponsor endorsements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Real sponsors view candidate pairs and rate which one will perform better, and how confident they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Audience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Evaluators bet on a sponsor's endorsement, see the outcome, then bet on a second endorsement from the same sponsor.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Stage 2:  </a:t>
            </a:r>
            <a:r>
              <a:rPr lang="en-US" sz="3200" b="1" dirty="0">
                <a:solidFill>
                  <a:srgbClr val="011F5B"/>
                </a:solidFill>
                <a:latin typeface="Arial"/>
              </a:rPr>
              <a:t>Sponsors made decisions on two candidates</a:t>
            </a:r>
            <a:endParaRPr sz="3200" b="1" i="0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4572000" cy="29700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111827"/>
                </a:solidFill>
                <a:latin typeface="Arial"/>
              </a:rPr>
              <a:t>•  </a:t>
            </a:r>
            <a:r>
              <a:rPr sz="1800" b="0" dirty="0">
                <a:solidFill>
                  <a:srgbClr val="111827"/>
                </a:solidFill>
                <a:latin typeface="Arial"/>
              </a:rPr>
              <a:t>Each sponsor sees 10 candidate pairs and makes 10 endorsements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111827"/>
                </a:solidFill>
                <a:latin typeface="Arial"/>
              </a:rPr>
              <a:t>•  Sponsor moves a slider to express which candidate they favor and how confident they are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111827"/>
                </a:solidFill>
                <a:latin typeface="Arial"/>
              </a:rPr>
              <a:t>•  Their sliders become the endorsements that Stage 3 evaluators see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111827"/>
                </a:solidFill>
                <a:latin typeface="Arial"/>
              </a:rPr>
              <a:t>•  We </a:t>
            </a:r>
            <a:r>
              <a:rPr lang="en-US" sz="1800" b="0" dirty="0">
                <a:solidFill>
                  <a:srgbClr val="111827"/>
                </a:solidFill>
                <a:latin typeface="Arial"/>
              </a:rPr>
              <a:t>created a lot of comparisons to increase the variance in sponsor decisions</a:t>
            </a:r>
            <a:endParaRPr sz="1800" b="0" dirty="0">
              <a:solidFill>
                <a:srgbClr val="111827"/>
              </a:solidFill>
              <a:latin typeface="Arial"/>
            </a:endParaRPr>
          </a:p>
        </p:txBody>
      </p:sp>
      <p:pic>
        <p:nvPicPr>
          <p:cNvPr id="5" name="Picture 4" descr="stage2_candidate_screen.png"/>
          <p:cNvPicPr>
            <a:picLocks noChangeAspect="1"/>
          </p:cNvPicPr>
          <p:nvPr/>
        </p:nvPicPr>
        <p:blipFill>
          <a:blip r:embed="rId3"/>
          <a:srcRect r="14676"/>
          <a:stretch>
            <a:fillRect/>
          </a:stretch>
        </p:blipFill>
        <p:spPr>
          <a:xfrm>
            <a:off x="5253825" y="1600200"/>
            <a:ext cx="6355079" cy="4580644"/>
          </a:xfrm>
          <a:prstGeom prst="rect">
            <a:avLst/>
          </a:prstGeom>
        </p:spPr>
      </p:pic>
      <p:sp>
        <p:nvSpPr>
          <p:cNvPr id="206" name="Slide Number Placeholder 3">
            <a:extLst>
              <a:ext uri="{FF2B5EF4-FFF2-40B4-BE49-F238E27FC236}">
                <a16:creationId xmlns:a16="http://schemas.microsoft.com/office/drawing/2014/main" id="{E2A5B9A1-29AB-40F9-A389-D33CD2E213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0DC4AF-1C01-4380-8C98-CD7D0FABA51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1CA0-C5D3-9BC4-6332-059F6F43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2A51-5408-42C4-EE93-20EF028FC3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78FF10-2160-4389-9669-EF3A0C6F12B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2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600">
                <a:solidFill>
                  <a:srgbClr val="1F2937"/>
                </a:solidFill>
                <a:latin typeface="Calibri"/>
              </a:rPr>
              <a:t>Each sponsor earns </a:t>
            </a:r>
            <a:r>
              <a:rPr sz="2600" b="1">
                <a:solidFill>
                  <a:srgbClr val="00143D"/>
                </a:solidFill>
                <a:latin typeface="Calibri"/>
              </a:rPr>
              <a:t>$1 flat</a:t>
            </a:r>
            <a:r>
              <a:rPr sz="2600">
                <a:solidFill>
                  <a:srgbClr val="1F2937"/>
                </a:solidFill>
                <a:latin typeface="Calibri"/>
              </a:rPr>
              <a:t> plus up to </a:t>
            </a:r>
            <a:r>
              <a:rPr sz="2600" b="1">
                <a:solidFill>
                  <a:srgbClr val="00143D"/>
                </a:solidFill>
                <a:latin typeface="Calibri"/>
              </a:rPr>
              <a:t>$3 bonus</a:t>
            </a:r>
            <a:r>
              <a:rPr sz="2600">
                <a:solidFill>
                  <a:srgbClr val="1F2937"/>
                </a:solidFill>
                <a:latin typeface="Calibri"/>
              </a:rPr>
              <a:t> per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i="1" dirty="0">
                <a:solidFill>
                  <a:srgbClr val="5B657A"/>
                </a:solidFill>
                <a:latin typeface="Calibri"/>
              </a:rPr>
              <a:t>The bonus is based on ONE randomly selected endorsement, paid only if the endorsed candidate actually scored higher, scaling with how much a downstream evaluator wagered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0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106B45"/>
                </a:solidFill>
                <a:latin typeface="Calibri"/>
              </a:rPr>
              <a:t>right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$3 × evaluator's wager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2304288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B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B12121"/>
                </a:solidFill>
                <a:latin typeface="Calibri"/>
              </a:rPr>
              <a:t>wrong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no bonus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11155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1" dirty="0">
                <a:solidFill>
                  <a:srgbClr val="5B657A"/>
                </a:solidFill>
                <a:latin typeface="Calibri"/>
              </a:rPr>
              <a:t>evaluator wagers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520440"/>
            <a:ext cx="5788152" cy="201168"/>
          </a:xfrm>
          <a:prstGeom prst="rect">
            <a:avLst/>
          </a:prstGeom>
          <a:solidFill>
            <a:srgbClr val="EAF0FB"/>
          </a:solidFill>
          <a:ln w="9525">
            <a:solidFill>
              <a:srgbClr val="9A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3520440"/>
            <a:ext cx="2894076" cy="201168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02452" y="3429000"/>
            <a:ext cx="384048" cy="3840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3813048"/>
            <a:ext cx="6400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0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3813048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3200" b="1" i="0">
                <a:solidFill>
                  <a:srgbClr val="106B45"/>
                </a:solidFill>
                <a:latin typeface="Calibri"/>
              </a:rPr>
              <a:t>right:  $1.50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 dirty="0">
                <a:solidFill>
                  <a:srgbClr val="B12121"/>
                </a:solidFill>
                <a:latin typeface="Calibri"/>
              </a:rPr>
              <a:t>wrong:  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074920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5B657A"/>
                </a:solidFill>
                <a:latin typeface="Calibri"/>
              </a:rPr>
              <a:t>wager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5367528"/>
            <a:ext cx="2331720" cy="658368"/>
          </a:xfrm>
          <a:prstGeom prst="rect">
            <a:avLst/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5385816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106B45"/>
                </a:solidFill>
                <a:latin typeface="Calibri"/>
              </a:rPr>
              <a:t>if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$1.50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$3.00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96712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B12121"/>
                </a:solidFill>
                <a:latin typeface="Calibri"/>
              </a:rPr>
              <a:t>if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011680"/>
            <a:ext cx="1115568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00" b="1" i="1">
                <a:solidFill>
                  <a:srgbClr val="00143D"/>
                </a:solidFill>
                <a:latin typeface="Calibri"/>
              </a:rPr>
              <a:t>n = 200 sponsors  ·  10 endorsements each</a:t>
            </a:r>
          </a:p>
        </p:txBody>
      </p:sp>
    </p:spTree>
    <p:extLst>
      <p:ext uri="{BB962C8B-B14F-4D97-AF65-F5344CB8AC3E}">
        <p14:creationId xmlns:p14="http://schemas.microsoft.com/office/powerpoint/2010/main" val="251645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Three-stage lab experiment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7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7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Protégé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participants take three performance tasks (Barron et al., 2025). We use the posted scores to build candidate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136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Sponsor endorsements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sponsors view candidate pairs and rate which one will perform better, and how confident they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E5EAF3"/>
          </a:solidFill>
          <a:ln w="444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00143D"/>
                </a:solidFill>
                <a:latin typeface="Calibri"/>
              </a:rPr>
              <a:t>Audience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Evaluators bet on a sponsor's endorsement, see the outcome, then bet on a second endorsement from the same sponsor.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88E67-56AB-B864-A4EF-C8F1CE343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7B10F6-D787-491A-A00D-F0F7AA9E449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3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0" i="1" dirty="0">
                <a:solidFill>
                  <a:srgbClr val="5B657A"/>
                </a:solidFill>
                <a:latin typeface="Calibri"/>
              </a:rPr>
              <a:t>n = 403 Prolific evaluators (passed 5/5 comprehension checks</a:t>
            </a:r>
            <a:r>
              <a:rPr lang="en-US" sz="1800" b="0" i="1" dirty="0">
                <a:solidFill>
                  <a:srgbClr val="5B657A"/>
                </a:solidFill>
                <a:latin typeface="Calibri"/>
              </a:rPr>
              <a:t> and gender manipulation check</a:t>
            </a:r>
            <a:r>
              <a:rPr sz="1800" b="0" i="1" dirty="0">
                <a:solidFill>
                  <a:srgbClr val="5B657A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 i="0" dirty="0">
                <a:solidFill>
                  <a:srgbClr val="00143D"/>
                </a:solidFill>
                <a:latin typeface="Calibri"/>
              </a:rPr>
              <a:t>Each evaluator is randomly assigned to ONE sponsor and sees: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the sponsor's name + colored avatar (signals gender)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that sponsor's endorsement of one candidate from a 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72384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how confident the sponsor was on that endorsement (Strong / Weak)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 slider to wager part of a $0.50 bank on the endorser being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96512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i="1">
                <a:solidFill>
                  <a:srgbClr val="5B657A"/>
                </a:solidFill>
                <a:latin typeface="Calibri"/>
              </a:rPr>
              <a:t>Each evaluator sees TWO decisions back-to-back, with the SAME sponsor on different candidate pairs: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461772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2540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2000" b="1" i="0">
                <a:solidFill>
                  <a:srgbClr val="00143D"/>
                </a:solidFill>
                <a:latin typeface="Calibri"/>
              </a:rPr>
              <a:t>First wager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461772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 w="25400">
            <a:solidFill>
              <a:srgbClr val="10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2000" b="1" i="0">
                <a:solidFill>
                  <a:srgbClr val="116B45"/>
                </a:solidFill>
                <a:latin typeface="Calibri"/>
              </a:rPr>
              <a:t>outcome revealed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461772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2540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2000" b="1" i="0">
                <a:solidFill>
                  <a:srgbClr val="00143D"/>
                </a:solidFill>
                <a:latin typeface="Calibri"/>
              </a:rPr>
              <a:t>Second wager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35424" y="4965192"/>
            <a:ext cx="502920" cy="182880"/>
          </a:xfrm>
          <a:prstGeom prst="rightArrow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141464" y="4965192"/>
            <a:ext cx="502920" cy="182880"/>
          </a:xfrm>
          <a:prstGeom prst="rightArrow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650992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800" b="1" i="0">
                <a:solidFill>
                  <a:srgbClr val="00143D"/>
                </a:solidFill>
                <a:latin typeface="Calibri"/>
              </a:rPr>
              <a:t>trust change  =  (Second wager)  −  (First wager)</a:t>
            </a:r>
          </a:p>
        </p:txBody>
      </p:sp>
    </p:spTree>
    <p:extLst>
      <p:ext uri="{BB962C8B-B14F-4D97-AF65-F5344CB8AC3E}">
        <p14:creationId xmlns:p14="http://schemas.microsoft.com/office/powerpoint/2010/main" val="81226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D3016-2531-3594-F5D4-DE68161502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D4DDC8-3CB5-462D-8BA5-B5D26B7390E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3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For each decision, you start with a </a:t>
            </a:r>
            <a:r>
              <a:rPr sz="2600" b="1" i="0">
                <a:solidFill>
                  <a:srgbClr val="00143D"/>
                </a:solidFill>
                <a:latin typeface="Calibri"/>
              </a:rPr>
              <a:t>$0.50 bank.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0" i="1" dirty="0">
                <a:solidFill>
                  <a:srgbClr val="5B657A"/>
                </a:solidFill>
                <a:latin typeface="Calibri"/>
              </a:rPr>
              <a:t>You wager part of your bank on the endorser being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0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106B45"/>
                </a:solidFill>
                <a:latin typeface="Calibri"/>
              </a:rPr>
              <a:t>right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bank </a:t>
            </a:r>
            <a:r>
              <a:rPr sz="2100" b="1" i="0">
                <a:solidFill>
                  <a:srgbClr val="106B45"/>
                </a:solidFill>
                <a:latin typeface="Calibri"/>
              </a:rPr>
              <a:t>+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 your wager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2103120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B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B12121"/>
                </a:solidFill>
                <a:latin typeface="Calibri"/>
              </a:rPr>
              <a:t>wrong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bank </a:t>
            </a:r>
            <a:r>
              <a:rPr sz="2100" b="1" i="0">
                <a:solidFill>
                  <a:srgbClr val="B12121"/>
                </a:solidFill>
                <a:latin typeface="Calibri"/>
              </a:rPr>
              <a:t>−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 your wager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11155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1">
                <a:solidFill>
                  <a:srgbClr val="5B657A"/>
                </a:solidFill>
                <a:latin typeface="Calibri"/>
              </a:rPr>
              <a:t>evaluator wagers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520440"/>
            <a:ext cx="5788152" cy="201168"/>
          </a:xfrm>
          <a:prstGeom prst="rect">
            <a:avLst/>
          </a:prstGeom>
          <a:solidFill>
            <a:srgbClr val="EAF0FB"/>
          </a:solidFill>
          <a:ln w="9525">
            <a:solidFill>
              <a:srgbClr val="9A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3520440"/>
            <a:ext cx="2894076" cy="201168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02452" y="3429000"/>
            <a:ext cx="384048" cy="3840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3813048"/>
            <a:ext cx="6400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0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3813048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3200" b="1" i="0">
                <a:solidFill>
                  <a:srgbClr val="106B45"/>
                </a:solidFill>
                <a:latin typeface="Calibri"/>
              </a:rPr>
              <a:t>right:  $0.75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B12121"/>
                </a:solidFill>
                <a:latin typeface="Calibri"/>
              </a:rPr>
              <a:t>wrong:  $0.25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074920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5B657A"/>
                </a:solidFill>
                <a:latin typeface="Calibri"/>
              </a:rPr>
              <a:t>wager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5367528"/>
            <a:ext cx="2331720" cy="658368"/>
          </a:xfrm>
          <a:prstGeom prst="rect">
            <a:avLst/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5385816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106B45"/>
                </a:solidFill>
                <a:latin typeface="Calibri"/>
              </a:rPr>
              <a:t>if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96712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B12121"/>
                </a:solidFill>
                <a:latin typeface="Calibri"/>
              </a:rPr>
              <a:t>if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99048"/>
            <a:ext cx="111556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Calibri"/>
              </a:rPr>
              <a:t>One randomly selected decision determines the bonus.</a:t>
            </a:r>
          </a:p>
        </p:txBody>
      </p:sp>
    </p:spTree>
    <p:extLst>
      <p:ext uri="{BB962C8B-B14F-4D97-AF65-F5344CB8AC3E}">
        <p14:creationId xmlns:p14="http://schemas.microsoft.com/office/powerpoint/2010/main" val="310367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Stage 3:  </a:t>
            </a:r>
            <a:r>
              <a:rPr lang="en-US" sz="3200" b="1" i="0" dirty="0">
                <a:solidFill>
                  <a:srgbClr val="011F5B"/>
                </a:solidFill>
                <a:latin typeface="Arial"/>
              </a:rPr>
              <a:t>Evaluators wager on sponsorship decisions from the previous stage</a:t>
            </a:r>
            <a:endParaRPr sz="3200" b="1" i="0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47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6B7280"/>
                </a:solidFill>
                <a:latin typeface="Arial"/>
              </a:rPr>
              <a:t>WE VARY THREE THINGS</a:t>
            </a:r>
          </a:p>
        </p:txBody>
      </p:sp>
      <p:sp>
        <p:nvSpPr>
          <p:cNvPr id="207" name="Slide Number Placeholder 3">
            <a:extLst>
              <a:ext uri="{FF2B5EF4-FFF2-40B4-BE49-F238E27FC236}">
                <a16:creationId xmlns:a16="http://schemas.microsoft.com/office/drawing/2014/main" id="{BA6A12A3-B136-4760-90AF-5858779DF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A0BC19-D747-4BF2-BE3E-BA37F6138FD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08" name="Rounded Rectangle 207"/>
          <p:cNvSpPr/>
          <p:nvPr/>
        </p:nvSpPr>
        <p:spPr>
          <a:xfrm>
            <a:off x="393192" y="1783080"/>
            <a:ext cx="37033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9" name="Rounded Rectangle 208"/>
          <p:cNvSpPr/>
          <p:nvPr/>
        </p:nvSpPr>
        <p:spPr>
          <a:xfrm>
            <a:off x="4242816" y="1783080"/>
            <a:ext cx="37033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0" name="Rounded Rectangle 209"/>
          <p:cNvSpPr/>
          <p:nvPr/>
        </p:nvSpPr>
        <p:spPr>
          <a:xfrm>
            <a:off x="8092440" y="1783080"/>
            <a:ext cx="37033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576072" y="1920240"/>
            <a:ext cx="3337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0143D"/>
                </a:solidFill>
                <a:latin typeface="Calibri"/>
              </a:rPr>
              <a:t>1.  Sponsor gender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76072" y="237744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1">
                <a:solidFill>
                  <a:srgbClr val="5B657A"/>
                </a:solidFill>
                <a:latin typeface="Calibri"/>
              </a:rPr>
              <a:t>The sponsor's first name + colored avatar signal their gender.</a:t>
            </a:r>
          </a:p>
        </p:txBody>
      </p:sp>
      <p:sp>
        <p:nvSpPr>
          <p:cNvPr id="213" name="Oval 212"/>
          <p:cNvSpPr/>
          <p:nvPr/>
        </p:nvSpPr>
        <p:spPr>
          <a:xfrm>
            <a:off x="667512" y="2971800"/>
            <a:ext cx="640080" cy="640080"/>
          </a:xfrm>
          <a:prstGeom prst="ellipse">
            <a:avLst/>
          </a:prstGeom>
          <a:solidFill>
            <a:srgbClr val="FCE7F3"/>
          </a:solidFill>
          <a:ln w="508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1472184" y="3063240"/>
            <a:ext cx="1645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Woman</a:t>
            </a:r>
          </a:p>
        </p:txBody>
      </p:sp>
      <p:sp>
        <p:nvSpPr>
          <p:cNvPr id="215" name="Oval 214"/>
          <p:cNvSpPr/>
          <p:nvPr/>
        </p:nvSpPr>
        <p:spPr>
          <a:xfrm>
            <a:off x="667512" y="4114800"/>
            <a:ext cx="640080" cy="640080"/>
          </a:xfrm>
          <a:prstGeom prst="ellipse">
            <a:avLst/>
          </a:prstGeom>
          <a:solidFill>
            <a:srgbClr val="DBEAFE"/>
          </a:solidFill>
          <a:ln w="508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472184" y="4206240"/>
            <a:ext cx="1645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Man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425696" y="1920240"/>
            <a:ext cx="3337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0143D"/>
                </a:solidFill>
                <a:latin typeface="Calibri"/>
              </a:rPr>
              <a:t>2.  Endorsement strength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425696" y="237744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1">
                <a:solidFill>
                  <a:srgbClr val="5B657A"/>
                </a:solidFill>
                <a:latin typeface="Calibri"/>
              </a:rPr>
              <a:t>Sponsors used a 0–100 slider to choose a candidate. Pushed near one end = Strong (very sure), left near the middle = Weak (barely committed).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275319" y="1920240"/>
            <a:ext cx="3337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0143D"/>
                </a:solidFill>
                <a:latin typeface="Calibri"/>
              </a:rPr>
              <a:t>3.  Outcome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275319" y="237744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1">
                <a:solidFill>
                  <a:srgbClr val="5B657A"/>
                </a:solidFill>
                <a:latin typeface="Calibri"/>
              </a:rPr>
              <a:t>An endorsement was right if the endorsed candidate actually outscored the other on logical-reasoning.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9029700" y="3063239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400" b="1" i="0">
                <a:solidFill>
                  <a:srgbClr val="116B45"/>
                </a:solidFill>
                <a:latin typeface="Calibri"/>
              </a:rPr>
              <a:t>CORRECT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275319" y="3611879"/>
            <a:ext cx="3337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Calibri"/>
              </a:rPr>
              <a:t>endorsement was right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029700" y="4206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D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400" b="1" i="0">
                <a:solidFill>
                  <a:srgbClr val="B12121"/>
                </a:solidFill>
                <a:latin typeface="Calibri"/>
              </a:rPr>
              <a:t>WRONG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275319" y="4754879"/>
            <a:ext cx="3337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Calibri"/>
              </a:rPr>
              <a:t>endorsement was wrong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535424" y="3273552"/>
            <a:ext cx="3118104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 i="0">
                <a:solidFill>
                  <a:srgbClr val="5B657A"/>
                </a:solidFill>
                <a:latin typeface="Calibri"/>
              </a:rPr>
              <a:t>ENDORSER CONFIDENCE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4535424" y="3584448"/>
            <a:ext cx="3118104" cy="201168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 w="9525">
            <a:solidFill>
              <a:srgbClr val="9A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5" name="Rounded Rectangle 234"/>
          <p:cNvSpPr/>
          <p:nvPr/>
        </p:nvSpPr>
        <p:spPr>
          <a:xfrm>
            <a:off x="4909596" y="3584448"/>
            <a:ext cx="342991" cy="201168"/>
          </a:xfrm>
          <a:prstGeom prst="roundRect">
            <a:avLst>
              <a:gd name="adj" fmla="val 50000"/>
            </a:avLst>
          </a:prstGeom>
          <a:solidFill>
            <a:srgbClr val="B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Rounded Rectangle 235"/>
          <p:cNvSpPr/>
          <p:nvPr/>
        </p:nvSpPr>
        <p:spPr>
          <a:xfrm>
            <a:off x="6936364" y="3584448"/>
            <a:ext cx="342991" cy="201168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4443984" y="380390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24928" y="380390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100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555312" y="4005072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B12121"/>
                </a:solidFill>
                <a:latin typeface="Calibri"/>
              </a:rPr>
              <a:t>Weak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55312" y="4261104"/>
            <a:ext cx="1051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1">
                <a:solidFill>
                  <a:srgbClr val="5B657A"/>
                </a:solidFill>
                <a:latin typeface="Calibri"/>
              </a:rPr>
              <a:t>12–23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582079" y="4005072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00143D"/>
                </a:solidFill>
                <a:latin typeface="Calibri"/>
              </a:rPr>
              <a:t>Strong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582079" y="4261104"/>
            <a:ext cx="1051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1">
                <a:solidFill>
                  <a:srgbClr val="5B657A"/>
                </a:solidFill>
                <a:latin typeface="Calibri"/>
              </a:rPr>
              <a:t>77–88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11F5B"/>
                </a:solidFill>
                <a:latin typeface="Arial"/>
              </a:rPr>
              <a:t>Step 1:  Initial wager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An evaluator sees one sponsor's confident endorsement and bets a fraction of their $0.50 bank.</a:t>
            </a:r>
          </a:p>
        </p:txBody>
      </p:sp>
      <p:sp>
        <p:nvSpPr>
          <p:cNvPr id="208" name="Slide Number Placeholder 3">
            <a:extLst>
              <a:ext uri="{FF2B5EF4-FFF2-40B4-BE49-F238E27FC236}">
                <a16:creationId xmlns:a16="http://schemas.microsoft.com/office/drawing/2014/main" id="{8D05B4F1-FC0E-4B35-B1ED-C478513F84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039CF3-F676-4ABB-AB5D-181C9A12C2F1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09" name="Picture 208" descr="W_correct_strong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43581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11F5B"/>
                </a:solidFill>
                <a:latin typeface="Arial"/>
              </a:rPr>
              <a:t>Step 2:  Outcome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The endorser was CORRECT. The evaluator's bank goes up.  (We also run a 'wrong' variant.)</a:t>
            </a:r>
          </a:p>
        </p:txBody>
      </p:sp>
      <p:sp>
        <p:nvSpPr>
          <p:cNvPr id="209" name="Slide Number Placeholder 3">
            <a:extLst>
              <a:ext uri="{FF2B5EF4-FFF2-40B4-BE49-F238E27FC236}">
                <a16:creationId xmlns:a16="http://schemas.microsoft.com/office/drawing/2014/main" id="{297B77C9-43B3-46C1-996A-821C66E057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2AE8C2-DFC8-4962-A512-91142A2F63A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10" name="Picture 209" descr="W_correct_strong_d2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11F5B"/>
                </a:solidFill>
                <a:latin typeface="Arial"/>
              </a:rPr>
              <a:t>Step 3:  Second wager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The same sponsor, a different candidate pair.  How much does the evaluator wager now?</a:t>
            </a:r>
          </a:p>
        </p:txBody>
      </p:sp>
      <p:sp>
        <p:nvSpPr>
          <p:cNvPr id="210" name="Slide Number Placeholder 3">
            <a:extLst>
              <a:ext uri="{FF2B5EF4-FFF2-40B4-BE49-F238E27FC236}">
                <a16:creationId xmlns:a16="http://schemas.microsoft.com/office/drawing/2014/main" id="{C53DC1F7-5FD6-425C-9CF0-1889CF282E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D95FE1-4089-45B4-A36C-0256011A0793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11" name="Picture 210" descr="W_correct_strong_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43581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694944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RQ1</a:t>
            </a:r>
            <a:r>
              <a:rPr lang="en-US" sz="2600" b="1" dirty="0">
                <a:solidFill>
                  <a:srgbClr val="011F5B"/>
                </a:solidFill>
                <a:latin typeface="Arial"/>
              </a:rPr>
              <a:t>:</a:t>
            </a:r>
          </a:p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How much did evaluators wager on the first decision?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79815" y="274320"/>
            <a:ext cx="3200400" cy="132588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1F5B"/>
                </a:solidFill>
                <a:latin typeface="Arial"/>
              </a:rPr>
              <a:t>b gender  </a:t>
            </a:r>
            <a:r>
              <a:rPr sz="1700" b="1">
                <a:solidFill>
                  <a:srgbClr val="011F5B"/>
                </a:solidFill>
                <a:latin typeface="Arial"/>
              </a:rPr>
              <a:t>-1.06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p  </a:t>
            </a:r>
            <a:r>
              <a:rPr sz="1700" b="1">
                <a:solidFill>
                  <a:srgbClr val="111827"/>
                </a:solidFill>
                <a:latin typeface="Arial"/>
              </a:rPr>
              <a:t>= .812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</a:t>
            </a:r>
            <a:r>
              <a:rPr sz="1400" b="1">
                <a:solidFill>
                  <a:srgbClr val="6B7280"/>
                </a:solidFill>
                <a:latin typeface="Arial"/>
              </a:rPr>
              <a:t>no gender effect</a:t>
            </a:r>
          </a:p>
        </p:txBody>
      </p:sp>
      <p:sp>
        <p:nvSpPr>
          <p:cNvPr id="214" name="Slide Number Placeholder 3">
            <a:extLst>
              <a:ext uri="{FF2B5EF4-FFF2-40B4-BE49-F238E27FC236}">
                <a16:creationId xmlns:a16="http://schemas.microsoft.com/office/drawing/2014/main" id="{FC142386-DEDB-4088-90EC-5A01284463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52DB2A-018C-4FE0-9B70-C71C0852F31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15" name="Picture 214" descr="rq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4461DB-4C47-456E-19EE-7DBC80297E3B}"/>
              </a:ext>
            </a:extLst>
          </p:cNvPr>
          <p:cNvSpPr/>
          <p:nvPr/>
        </p:nvSpPr>
        <p:spPr>
          <a:xfrm>
            <a:off x="5126636" y="1645920"/>
            <a:ext cx="6913084" cy="46874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4D4AA-5082-AA77-8301-0E45446B466A}"/>
              </a:ext>
            </a:extLst>
          </p:cNvPr>
          <p:cNvSpPr/>
          <p:nvPr/>
        </p:nvSpPr>
        <p:spPr>
          <a:xfrm>
            <a:off x="8027232" y="112425"/>
            <a:ext cx="4012487" cy="36901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694944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RQ2</a:t>
            </a:r>
            <a:r>
              <a:rPr lang="en-US" sz="2600" b="1" i="0" dirty="0">
                <a:solidFill>
                  <a:srgbClr val="011F5B"/>
                </a:solidFill>
                <a:latin typeface="Arial"/>
              </a:rPr>
              <a:t>:</a:t>
            </a:r>
          </a:p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How much did one outcome change evaluator wagers?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79815" y="274320"/>
            <a:ext cx="3200400" cy="132588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1F5B"/>
                </a:solidFill>
                <a:latin typeface="Arial"/>
              </a:rPr>
              <a:t>Δ Male  </a:t>
            </a:r>
            <a:r>
              <a:rPr sz="1700" b="1">
                <a:solidFill>
                  <a:srgbClr val="011F5B"/>
                </a:solidFill>
                <a:latin typeface="Arial"/>
              </a:rPr>
              <a:t>+15.0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Δ Female  </a:t>
            </a:r>
            <a:r>
              <a:rPr sz="1700" b="1">
                <a:solidFill>
                  <a:srgbClr val="990000"/>
                </a:solidFill>
                <a:latin typeface="Arial"/>
              </a:rPr>
              <a:t>+4.3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b  </a:t>
            </a:r>
            <a:r>
              <a:rPr sz="1400" b="1">
                <a:solidFill>
                  <a:srgbClr val="111827"/>
                </a:solidFill>
                <a:latin typeface="Arial"/>
              </a:rPr>
              <a:t>-11.60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p  </a:t>
            </a:r>
            <a:r>
              <a:rPr sz="1400" b="1">
                <a:solidFill>
                  <a:srgbClr val="111827"/>
                </a:solidFill>
                <a:latin typeface="Arial"/>
              </a:rPr>
              <a:t>= .062</a:t>
            </a:r>
          </a:p>
        </p:txBody>
      </p:sp>
      <p:sp>
        <p:nvSpPr>
          <p:cNvPr id="211" name="Slide Number Placeholder 3">
            <a:extLst>
              <a:ext uri="{FF2B5EF4-FFF2-40B4-BE49-F238E27FC236}">
                <a16:creationId xmlns:a16="http://schemas.microsoft.com/office/drawing/2014/main" id="{29F8E95F-F92A-4D2C-BA95-C7E10742A5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AB970C-8672-4988-8838-61247889C57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72ACD-6285-FBFE-44E4-6E94B4992440}"/>
              </a:ext>
            </a:extLst>
          </p:cNvPr>
          <p:cNvSpPr/>
          <p:nvPr/>
        </p:nvSpPr>
        <p:spPr>
          <a:xfrm>
            <a:off x="11542356" y="2378765"/>
            <a:ext cx="497364" cy="39822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2" name="Picture 211" descr="rq1_gender_x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570E96-E54B-5B65-93B9-023303B58143}"/>
              </a:ext>
            </a:extLst>
          </p:cNvPr>
          <p:cNvSpPr/>
          <p:nvPr/>
        </p:nvSpPr>
        <p:spPr>
          <a:xfrm>
            <a:off x="6272299" y="2450891"/>
            <a:ext cx="5536812" cy="29860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E36CA-69EA-93EE-7DED-EE6F60649D93}"/>
              </a:ext>
            </a:extLst>
          </p:cNvPr>
          <p:cNvSpPr/>
          <p:nvPr/>
        </p:nvSpPr>
        <p:spPr>
          <a:xfrm>
            <a:off x="7452359" y="167515"/>
            <a:ext cx="4494801" cy="15394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0015512" y="261068"/>
            <a:ext cx="1775526" cy="128016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011F5B"/>
                </a:solidFill>
                <a:latin typeface="Arial"/>
              </a:rPr>
              <a:t>Δ Male  </a:t>
            </a:r>
            <a:r>
              <a:rPr sz="1500" b="1" dirty="0">
                <a:solidFill>
                  <a:srgbClr val="011F5B"/>
                </a:solidFill>
                <a:latin typeface="Arial"/>
              </a:rPr>
              <a:t>+16.8</a:t>
            </a:r>
          </a:p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Arial"/>
              </a:rPr>
              <a:t>Δ Female  </a:t>
            </a:r>
            <a:r>
              <a:rPr sz="1500" b="1" dirty="0">
                <a:solidFill>
                  <a:srgbClr val="990000"/>
                </a:solidFill>
                <a:latin typeface="Arial"/>
              </a:rPr>
              <a:t>+6.0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b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-13.01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p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= .113</a:t>
            </a:r>
          </a:p>
        </p:txBody>
      </p:sp>
      <p:sp>
        <p:nvSpPr>
          <p:cNvPr id="212" name="Slide Number Placeholder 3">
            <a:extLst>
              <a:ext uri="{FF2B5EF4-FFF2-40B4-BE49-F238E27FC236}">
                <a16:creationId xmlns:a16="http://schemas.microsoft.com/office/drawing/2014/main" id="{85F90AF4-29B7-4FED-BD53-B1D1B7325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36629C-C071-45B7-8387-2682D7526E9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13" name="Picture 212" descr="rq2_strong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FB179C-7B51-1FA0-AC3E-667344EA1151}"/>
              </a:ext>
            </a:extLst>
          </p:cNvPr>
          <p:cNvGrpSpPr/>
          <p:nvPr/>
        </p:nvGrpSpPr>
        <p:grpSpPr>
          <a:xfrm>
            <a:off x="7580694" y="274320"/>
            <a:ext cx="2434818" cy="1280160"/>
            <a:chOff x="7580694" y="274320"/>
            <a:chExt cx="2434818" cy="12801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4842B0D-1563-5F77-5B18-9D0F0FD8C625}"/>
                </a:ext>
              </a:extLst>
            </p:cNvPr>
            <p:cNvGrpSpPr/>
            <p:nvPr/>
          </p:nvGrpSpPr>
          <p:grpSpPr>
            <a:xfrm>
              <a:off x="7580694" y="274320"/>
              <a:ext cx="2434818" cy="1280160"/>
              <a:chOff x="6766560" y="292608"/>
              <a:chExt cx="2434818" cy="1280160"/>
            </a:xfrm>
          </p:grpSpPr>
          <p:sp>
            <p:nvSpPr>
              <p:cNvPr id="214" name="Rounded Rectangle 213"/>
              <p:cNvSpPr/>
              <p:nvPr/>
            </p:nvSpPr>
            <p:spPr>
              <a:xfrm>
                <a:off x="6766560" y="292608"/>
                <a:ext cx="2331720" cy="124358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2700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5" name="TextBox 214"/>
              <p:cNvSpPr txBox="1"/>
              <p:nvPr/>
            </p:nvSpPr>
            <p:spPr>
              <a:xfrm>
                <a:off x="6894576" y="347472"/>
                <a:ext cx="2075687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B657A"/>
                    </a:solidFill>
                    <a:latin typeface="Arial"/>
                  </a:rPr>
                  <a:t>ENDORSER CONFIDENCE</a:t>
                </a:r>
              </a:p>
            </p:txBody>
          </p:sp>
          <p:sp>
            <p:nvSpPr>
              <p:cNvPr id="216" name="Rounded Rectangle 215"/>
              <p:cNvSpPr/>
              <p:nvPr/>
            </p:nvSpPr>
            <p:spPr>
              <a:xfrm>
                <a:off x="6894576" y="640080"/>
                <a:ext cx="2075687" cy="201168"/>
              </a:xfrm>
              <a:prstGeom prst="roundRect">
                <a:avLst>
                  <a:gd name="adj" fmla="val 50000"/>
                </a:avLst>
              </a:prstGeom>
              <a:solidFill>
                <a:srgbClr val="E5EAF3"/>
              </a:solidFill>
              <a:ln w="9525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6803136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0</a:t>
                </a:r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8741663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r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100</a:t>
                </a: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8012658" y="1060704"/>
                <a:ext cx="1188720" cy="29260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400" b="1" i="0" dirty="0">
                    <a:solidFill>
                      <a:srgbClr val="00143D"/>
                    </a:solidFill>
                    <a:latin typeface="Arial"/>
                  </a:rPr>
                  <a:t>Strong</a:t>
                </a: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8012658" y="1335024"/>
                <a:ext cx="1188720" cy="237744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100" b="0" i="1">
                    <a:solidFill>
                      <a:srgbClr val="5B657A"/>
                    </a:solidFill>
                    <a:latin typeface="Arial"/>
                  </a:rPr>
                  <a:t>77–88</a:t>
                </a:r>
              </a:p>
            </p:txBody>
          </p:sp>
        </p:grpSp>
        <p:sp>
          <p:nvSpPr>
            <p:cNvPr id="217" name="Rounded Rectangle 216"/>
            <p:cNvSpPr/>
            <p:nvPr/>
          </p:nvSpPr>
          <p:spPr>
            <a:xfrm>
              <a:off x="9224374" y="635044"/>
              <a:ext cx="228325" cy="201168"/>
            </a:xfrm>
            <a:prstGeom prst="roundRect">
              <a:avLst>
                <a:gd name="adj" fmla="val 50000"/>
              </a:avLst>
            </a:prstGeom>
            <a:solidFill>
              <a:srgbClr val="011F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</p:grpSp>
      <p:sp>
        <p:nvSpPr>
          <p:cNvPr id="222" name="TextBox 221"/>
          <p:cNvSpPr txBox="1"/>
          <p:nvPr/>
        </p:nvSpPr>
        <p:spPr>
          <a:xfrm>
            <a:off x="502920" y="274320"/>
            <a:ext cx="6126480" cy="11079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RQ3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:</a:t>
            </a:r>
            <a:r>
              <a:rPr sz="2200" b="1" dirty="0">
                <a:solidFill>
                  <a:srgbClr val="011F5B"/>
                </a:solidFill>
                <a:latin typeface="Arial"/>
              </a:rPr>
              <a:t> </a:t>
            </a:r>
            <a:endParaRPr lang="en-US" sz="2200" b="1" dirty="0">
              <a:solidFill>
                <a:srgbClr val="011F5B"/>
              </a:solidFill>
              <a:latin typeface="Arial"/>
            </a:endParaRPr>
          </a:p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Strong endorsements:  how did one outcome shift wagers?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0171308" y="274320"/>
            <a:ext cx="1696013" cy="128016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011F5B"/>
                </a:solidFill>
                <a:latin typeface="Arial"/>
              </a:rPr>
              <a:t>Δ Male  </a:t>
            </a:r>
            <a:r>
              <a:rPr sz="1500" b="1" dirty="0">
                <a:solidFill>
                  <a:srgbClr val="011F5B"/>
                </a:solidFill>
                <a:latin typeface="Arial"/>
              </a:rPr>
              <a:t>+12.6</a:t>
            </a:r>
          </a:p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Arial"/>
              </a:rPr>
              <a:t>Δ Female  </a:t>
            </a:r>
            <a:r>
              <a:rPr sz="1500" b="1" dirty="0">
                <a:solidFill>
                  <a:srgbClr val="990000"/>
                </a:solidFill>
                <a:latin typeface="Arial"/>
              </a:rPr>
              <a:t>+3.4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b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-9.50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p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= .322</a:t>
            </a:r>
          </a:p>
        </p:txBody>
      </p:sp>
      <p:sp>
        <p:nvSpPr>
          <p:cNvPr id="213" name="Slide Number Placeholder 3">
            <a:extLst>
              <a:ext uri="{FF2B5EF4-FFF2-40B4-BE49-F238E27FC236}">
                <a16:creationId xmlns:a16="http://schemas.microsoft.com/office/drawing/2014/main" id="{E8F6FB20-2327-4A2A-A726-3AFFD66103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428904-08A1-459C-98CB-C622996A5981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14" name="Picture 213" descr="rq2_weak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146E6D1-13B7-F946-D9F4-EB852BB0D84E}"/>
              </a:ext>
            </a:extLst>
          </p:cNvPr>
          <p:cNvGrpSpPr/>
          <p:nvPr/>
        </p:nvGrpSpPr>
        <p:grpSpPr>
          <a:xfrm>
            <a:off x="7624244" y="274320"/>
            <a:ext cx="2434819" cy="1280160"/>
            <a:chOff x="6663461" y="292608"/>
            <a:chExt cx="2434819" cy="12801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6A38D61-7FDB-212F-A9E7-B35CD01CE104}"/>
                </a:ext>
              </a:extLst>
            </p:cNvPr>
            <p:cNvGrpSpPr/>
            <p:nvPr/>
          </p:nvGrpSpPr>
          <p:grpSpPr>
            <a:xfrm>
              <a:off x="6663461" y="292608"/>
              <a:ext cx="2434819" cy="1280160"/>
              <a:chOff x="6663461" y="292608"/>
              <a:chExt cx="2434819" cy="1280160"/>
            </a:xfrm>
          </p:grpSpPr>
          <p:sp>
            <p:nvSpPr>
              <p:cNvPr id="215" name="Rounded Rectangle 214"/>
              <p:cNvSpPr/>
              <p:nvPr/>
            </p:nvSpPr>
            <p:spPr>
              <a:xfrm>
                <a:off x="6766560" y="292608"/>
                <a:ext cx="2331720" cy="124358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2700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6" name="TextBox 215"/>
              <p:cNvSpPr txBox="1"/>
              <p:nvPr/>
            </p:nvSpPr>
            <p:spPr>
              <a:xfrm>
                <a:off x="6894576" y="347472"/>
                <a:ext cx="2075687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B657A"/>
                    </a:solidFill>
                    <a:latin typeface="Arial"/>
                  </a:rPr>
                  <a:t>ENDORSER CONFIDENCE</a:t>
                </a:r>
              </a:p>
            </p:txBody>
          </p:sp>
          <p:sp>
            <p:nvSpPr>
              <p:cNvPr id="217" name="Rounded Rectangle 216"/>
              <p:cNvSpPr/>
              <p:nvPr/>
            </p:nvSpPr>
            <p:spPr>
              <a:xfrm>
                <a:off x="6894576" y="640080"/>
                <a:ext cx="2075687" cy="201168"/>
              </a:xfrm>
              <a:prstGeom prst="roundRect">
                <a:avLst>
                  <a:gd name="adj" fmla="val 50000"/>
                </a:avLst>
              </a:prstGeom>
              <a:solidFill>
                <a:srgbClr val="E5EAF3"/>
              </a:solidFill>
              <a:ln w="9525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6803136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0</a:t>
                </a: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8741663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r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100</a:t>
                </a: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6663461" y="1060704"/>
                <a:ext cx="1188720" cy="29260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B12121"/>
                    </a:solidFill>
                    <a:latin typeface="Arial"/>
                  </a:rPr>
                  <a:t>Weak</a:t>
                </a: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6663461" y="1335024"/>
                <a:ext cx="1188720" cy="237744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100" b="0" i="1">
                    <a:solidFill>
                      <a:srgbClr val="5B657A"/>
                    </a:solidFill>
                    <a:latin typeface="Arial"/>
                  </a:rPr>
                  <a:t>12–23</a:t>
                </a:r>
              </a:p>
            </p:txBody>
          </p:sp>
        </p:grpSp>
        <p:sp>
          <p:nvSpPr>
            <p:cNvPr id="218" name="Rounded Rectangle 217"/>
            <p:cNvSpPr/>
            <p:nvPr/>
          </p:nvSpPr>
          <p:spPr>
            <a:xfrm>
              <a:off x="7143658" y="640080"/>
              <a:ext cx="228325" cy="201168"/>
            </a:xfrm>
            <a:prstGeom prst="roundRect">
              <a:avLst>
                <a:gd name="adj" fmla="val 50000"/>
              </a:avLst>
            </a:prstGeom>
            <a:solidFill>
              <a:srgbClr val="B1212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</p:grpSp>
      <p:sp>
        <p:nvSpPr>
          <p:cNvPr id="223" name="TextBox 222"/>
          <p:cNvSpPr txBox="1"/>
          <p:nvPr/>
        </p:nvSpPr>
        <p:spPr>
          <a:xfrm>
            <a:off x="502920" y="274320"/>
            <a:ext cx="6126480" cy="11079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RQ3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:</a:t>
            </a:r>
          </a:p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Weak endorsements:  how did one outcome shift wagers?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011F5B"/>
                </a:solidFill>
                <a:latin typeface="Arial"/>
              </a:rPr>
              <a:t>Summary</a:t>
            </a:r>
            <a:endParaRPr sz="3200" b="1" i="0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594203"/>
            <a:ext cx="5074920" cy="403187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rgbClr val="111827"/>
                </a:solidFill>
              </a:rPr>
              <a:t>•  </a:t>
            </a:r>
            <a:r>
              <a:rPr lang="en-US" sz="2400" dirty="0">
                <a:solidFill>
                  <a:srgbClr val="111827"/>
                </a:solidFill>
              </a:rPr>
              <a:t>Male and female sponsors are trusted equally at baseline </a:t>
            </a:r>
            <a:endParaRPr lang="en-US" sz="2400" b="0" dirty="0">
              <a:solidFill>
                <a:srgbClr val="111827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111827"/>
                </a:solidFill>
                <a:latin typeface="Arial"/>
              </a:rPr>
              <a:t>•  Men</a:t>
            </a:r>
            <a:r>
              <a:rPr lang="en-US" sz="2400" dirty="0">
                <a:solidFill>
                  <a:srgbClr val="111827"/>
                </a:solidFill>
                <a:latin typeface="Arial"/>
              </a:rPr>
              <a:t>'</a:t>
            </a:r>
            <a:r>
              <a:rPr sz="2400" b="0" dirty="0">
                <a:solidFill>
                  <a:srgbClr val="111827"/>
                </a:solidFill>
                <a:latin typeface="Arial"/>
              </a:rPr>
              <a:t>s endorsements move trust by Δ = +15.0</a:t>
            </a:r>
          </a:p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111827"/>
                </a:solidFill>
                <a:latin typeface="Arial"/>
              </a:rPr>
              <a:t>•  Women's endorsements move trust by Δ = +4.3</a:t>
            </a:r>
          </a:p>
          <a:p>
            <a:pPr algn="l">
              <a:spcAft>
                <a:spcPts val="1200"/>
              </a:spcAft>
            </a:pPr>
            <a:r>
              <a:rPr lang="en-US" sz="2400" b="0" dirty="0">
                <a:solidFill>
                  <a:srgbClr val="111827"/>
                </a:solidFill>
                <a:latin typeface="Arial"/>
              </a:rPr>
              <a:t>•  Stronger endorsements amplify the asymmetry</a:t>
            </a:r>
          </a:p>
          <a:p>
            <a:pPr algn="l">
              <a:spcAft>
                <a:spcPts val="1200"/>
              </a:spcAft>
            </a:pPr>
            <a:endParaRPr sz="2400" b="0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215" name="Slide Number Placeholder 3">
            <a:extLst>
              <a:ext uri="{FF2B5EF4-FFF2-40B4-BE49-F238E27FC236}">
                <a16:creationId xmlns:a16="http://schemas.microsoft.com/office/drawing/2014/main" id="{E1D2B922-5A84-4186-A4F2-8EDED3FC57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13D87F-5244-47F4-B4B2-87FD3047BE5E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16" name="Picture 215" descr="synthesis_outcom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640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 Placeholder 3">
            <a:extLst>
              <a:ext uri="{FF2B5EF4-FFF2-40B4-BE49-F238E27FC236}">
                <a16:creationId xmlns:a16="http://schemas.microsoft.com/office/drawing/2014/main" id="{D660F081-DFF5-4F81-9684-C53659E3F2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DE2B18-7325-4203-8945-01CBD09AEDA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17" name="TextBox 216"/>
          <p:cNvSpPr txBox="1"/>
          <p:nvPr/>
        </p:nvSpPr>
        <p:spPr>
          <a:xfrm>
            <a:off x="502920" y="274320"/>
            <a:ext cx="1118311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Running story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02920" y="960120"/>
            <a:ext cx="111831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0" i="1">
                <a:solidFill>
                  <a:srgbClr val="5B657A"/>
                </a:solidFill>
                <a:latin typeface="Arial"/>
              </a:rPr>
              <a:t>The prior leaks in once there's an outcome to read.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02920" y="154533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TextBox 219"/>
          <p:cNvSpPr txBox="1"/>
          <p:nvPr/>
        </p:nvSpPr>
        <p:spPr>
          <a:xfrm>
            <a:off x="758952" y="1417320"/>
            <a:ext cx="6327648" cy="109728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>
                <a:solidFill>
                  <a:srgbClr val="00143D"/>
                </a:solidFill>
                <a:latin typeface="Arial"/>
              </a:rPr>
              <a:t>Without a track record, people stay reserved.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1F2937"/>
                </a:solidFill>
                <a:latin typeface="Arial"/>
              </a:rPr>
              <a:t>RQ1 is null (b = -1.06, p = .81). With nothing but a strength label, there's no basis to discriminate yet. Unlike most discrimination findings, the gap leaks in only at the outcome.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2920" y="273405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TextBox 221"/>
          <p:cNvSpPr txBox="1"/>
          <p:nvPr/>
        </p:nvSpPr>
        <p:spPr>
          <a:xfrm>
            <a:off x="758952" y="2606040"/>
            <a:ext cx="6327648" cy="109728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>
                <a:solidFill>
                  <a:srgbClr val="00143D"/>
                </a:solidFill>
                <a:latin typeface="Arial"/>
              </a:rPr>
              <a:t>Women's endorsements are assumed high + narrow.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1F2937"/>
                </a:solidFill>
                <a:latin typeface="Arial"/>
              </a:rPr>
              <a:t>Once the outcome arrives, "she would have said it either way" makes it barely informative, so trust barely moves (consistent with the muted effects in the stronger confidence cells).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02920" y="392277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TextBox 223"/>
          <p:cNvSpPr txBox="1"/>
          <p:nvPr/>
        </p:nvSpPr>
        <p:spPr>
          <a:xfrm>
            <a:off x="758952" y="3794760"/>
            <a:ext cx="6327648" cy="109728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>
                <a:solidFill>
                  <a:srgbClr val="00143D"/>
                </a:solidFill>
                <a:latin typeface="Arial"/>
              </a:rPr>
              <a:t>Men's endorsements are assumed to spread wide.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1F2937"/>
                </a:solidFill>
                <a:latin typeface="Arial"/>
              </a:rPr>
              <a:t>Evaluators read men's confident calls as carrying information that can be both praised or penalized, so trust moves accordingly.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02920" y="511149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TextBox 225"/>
          <p:cNvSpPr txBox="1"/>
          <p:nvPr/>
        </p:nvSpPr>
        <p:spPr>
          <a:xfrm>
            <a:off x="758952" y="4983480"/>
            <a:ext cx="6327648" cy="109728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>
                <a:solidFill>
                  <a:srgbClr val="00143D"/>
                </a:solidFill>
                <a:latin typeface="Arial"/>
              </a:rPr>
              <a:t>Next direction: telegraph their standards.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1F2937"/>
                </a:solidFill>
                <a:latin typeface="Arial"/>
              </a:rPr>
              <a:t>Signaling "I only recommend the top 10%" breaks the assumed clustering, so the outcome can be re-read as informative.</a:t>
            </a:r>
          </a:p>
        </p:txBody>
      </p:sp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4937760" cy="3035808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7178040" y="4471416"/>
            <a:ext cx="4937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Arial"/>
              </a:rPr>
              <a:t>Hypothesized prior distributions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011F5B"/>
                </a:solidFill>
                <a:latin typeface="Arial"/>
              </a:rPr>
              <a:t>Thank you</a:t>
            </a:r>
          </a:p>
        </p:txBody>
      </p:sp>
      <p:sp>
        <p:nvSpPr>
          <p:cNvPr id="217" name="Slide Number Placeholder 3">
            <a:extLst>
              <a:ext uri="{FF2B5EF4-FFF2-40B4-BE49-F238E27FC236}">
                <a16:creationId xmlns:a16="http://schemas.microsoft.com/office/drawing/2014/main" id="{576EA859-4E79-4EBE-9BC9-29E0716921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9FAA71-D419-44AE-8FB2-35FB403C2DE2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0"/>
            <a:ext cx="11183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143D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56616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B657A"/>
                </a:solidFill>
                <a:latin typeface="Calibri"/>
              </a:rPr>
              <a:t>Instruction screens from the Stage 2 &amp; Stage 3 Qualtrics surveys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2  ·  Endorser role</a:t>
            </a:r>
          </a:p>
        </p:txBody>
      </p:sp>
      <p:pic>
        <p:nvPicPr>
          <p:cNvPr id="3" name="Picture 2" descr="stage2_01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56" y="960120"/>
            <a:ext cx="967223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2  ·  Earnings ($1 flat + $3 bonus)</a:t>
            </a:r>
          </a:p>
        </p:txBody>
      </p:sp>
      <p:pic>
        <p:nvPicPr>
          <p:cNvPr id="3" name="Picture 2" descr="stage2_02_e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02" y="960120"/>
            <a:ext cx="663314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2  ·  Task objective + slider</a:t>
            </a:r>
          </a:p>
        </p:txBody>
      </p:sp>
      <p:pic>
        <p:nvPicPr>
          <p:cNvPr id="3" name="Picture 2" descr="stage2_03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575"/>
            <a:ext cx="11183112" cy="40880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Study purpose</a:t>
            </a:r>
          </a:p>
        </p:txBody>
      </p:sp>
      <p:pic>
        <p:nvPicPr>
          <p:cNvPr id="3" name="Picture 2" descr="stage3_01_pur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8052"/>
            <a:ext cx="11183112" cy="26590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What evaluators see</a:t>
            </a:r>
          </a:p>
        </p:txBody>
      </p:sp>
      <p:pic>
        <p:nvPicPr>
          <p:cNvPr id="3" name="Picture 2" descr="stage3_02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680" y="960120"/>
            <a:ext cx="825759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Endorser motivation</a:t>
            </a:r>
          </a:p>
        </p:txBody>
      </p:sp>
      <p:pic>
        <p:nvPicPr>
          <p:cNvPr id="3" name="Picture 2" descr="stage3_03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59443"/>
            <a:ext cx="11183112" cy="479631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Two-decision framing</a:t>
            </a:r>
          </a:p>
        </p:txBody>
      </p:sp>
      <p:pic>
        <p:nvPicPr>
          <p:cNvPr id="3" name="Picture 2" descr="stage3_04_two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8569"/>
            <a:ext cx="11183112" cy="157806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$0.50 bank wager mechanics</a:t>
            </a:r>
          </a:p>
        </p:txBody>
      </p:sp>
      <p:pic>
        <p:nvPicPr>
          <p:cNvPr id="3" name="Picture 2" descr="stage3_05_w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23" y="960120"/>
            <a:ext cx="81195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CQ1  ·  Bank amount</a:t>
            </a:r>
          </a:p>
        </p:txBody>
      </p:sp>
      <p:pic>
        <p:nvPicPr>
          <p:cNvPr id="3" name="Picture 2" descr="stage3_cq1_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4639"/>
            <a:ext cx="11183112" cy="4025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CQ2  ·  Wager calculation</a:t>
            </a:r>
          </a:p>
        </p:txBody>
      </p:sp>
      <p:pic>
        <p:nvPicPr>
          <p:cNvPr id="3" name="Picture 2" descr="stage3_cq2_w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4639"/>
            <a:ext cx="11183112" cy="40259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CQ3  ·  Bonus calculation</a:t>
            </a:r>
          </a:p>
        </p:txBody>
      </p:sp>
      <p:pic>
        <p:nvPicPr>
          <p:cNvPr id="3" name="Picture 2" descr="stage3_cq3_bo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4639"/>
            <a:ext cx="11183112" cy="40259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CQ4  ·  Task question</a:t>
            </a:r>
          </a:p>
        </p:txBody>
      </p:sp>
      <p:pic>
        <p:nvPicPr>
          <p:cNvPr id="3" name="Picture 2" descr="stage3_cq4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04122"/>
            <a:ext cx="11183112" cy="510695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CQ5  ·  Comparison question</a:t>
            </a:r>
          </a:p>
        </p:txBody>
      </p:sp>
      <p:pic>
        <p:nvPicPr>
          <p:cNvPr id="3" name="Picture 2" descr="stage3_cq5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04122"/>
            <a:ext cx="11183112" cy="51069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arton 2016 16:9">
  <a:themeElements>
    <a:clrScheme name="Wharton">
      <a:dk1>
        <a:srgbClr val="2D2C41"/>
      </a:dk1>
      <a:lt1>
        <a:srgbClr val="FFFFFF"/>
      </a:lt1>
      <a:dk2>
        <a:srgbClr val="011F5B"/>
      </a:dk2>
      <a:lt2>
        <a:srgbClr val="EEEDEA"/>
      </a:lt2>
      <a:accent1>
        <a:srgbClr val="011F5B"/>
      </a:accent1>
      <a:accent2>
        <a:srgbClr val="990000"/>
      </a:accent2>
      <a:accent3>
        <a:srgbClr val="026CB5"/>
      </a:accent3>
      <a:accent4>
        <a:srgbClr val="06AAFC"/>
      </a:accent4>
      <a:accent5>
        <a:srgbClr val="96227D"/>
      </a:accent5>
      <a:accent6>
        <a:srgbClr val="D7BC6A"/>
      </a:accent6>
      <a:hlink>
        <a:srgbClr val="06AAFC"/>
      </a:hlink>
      <a:folHlink>
        <a:srgbClr val="06AAFC"/>
      </a:folHlink>
    </a:clrScheme>
    <a:fontScheme name="Wharton 201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Theme_4x3</Template>
  <TotalTime>8314</TotalTime>
  <Words>2073</Words>
  <Application>Microsoft Office PowerPoint</Application>
  <PresentationFormat>Widescreen</PresentationFormat>
  <Paragraphs>304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Garamond</vt:lpstr>
      <vt:lpstr>Georgia</vt:lpstr>
      <vt:lpstr>Wharton 2016 16:9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Byers</dc:creator>
  <cp:lastModifiedBy>josecerv</cp:lastModifiedBy>
  <cp:revision>98</cp:revision>
  <dcterms:created xsi:type="dcterms:W3CDTF">2016-03-10T13:41:29Z</dcterms:created>
  <dcterms:modified xsi:type="dcterms:W3CDTF">2026-04-08T13:47:00Z</dcterms:modified>
</cp:coreProperties>
</file>