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media/image1.svg" ContentType="image/svg+xml"/>
  <Override PartName="/ppt/media/image4.svg" ContentType="image/svg+xml"/>
  <Override PartName="/ppt/media/image5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handoutMasterIdLst>
    <p:handoutMasterId r:id="rId26"/>
  </p:handoutMasterIdLst>
  <p:sldIdLst>
    <p:sldId id="256" r:id="rId2"/>
    <p:sldId id="277" r:id="rId3"/>
    <p:sldId id="284" r:id="rId33"/>
    <p:sldId id="282" r:id="rId31"/>
    <p:sldId id="283" r:id="rId32"/>
    <p:sldId id="258" r:id="rId4"/>
    <p:sldId id="259" r:id="rId5"/>
    <p:sldId id="260" r:id="rId6"/>
    <p:sldId id="261" r:id="rId7"/>
    <p:sldId id="262" r:id="rId8"/>
    <p:sldId id="285" r:id="rId34"/>
    <p:sldId id="263" r:id="rId9"/>
    <p:sldId id="279" r:id="rId10"/>
    <p:sldId id="286" r:id="rId35"/>
    <p:sldId id="278" r:id="rId11"/>
    <p:sldId id="280" r:id="rId12"/>
    <p:sldId id="264" r:id="rId13"/>
    <p:sldId id="265" r:id="rId14"/>
    <p:sldId id="266" r:id="rId15"/>
    <p:sldId id="267" r:id="rId16"/>
    <p:sldId id="271" r:id="rId20"/>
    <p:sldId id="268" r:id="rId17"/>
    <p:sldId id="269" r:id="rId18"/>
    <p:sldId id="270" r:id="rId19"/>
    <p:sldId id="272" r:id="rId21"/>
    <p:sldId id="273" r:id="rId22"/>
    <p:sldId id="275" r:id="rId23"/>
    <p:sldId id="281" r:id="rId24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00" r:id="rId4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CF33541-5E58-43C3-A2D8-8288F878A3DB}">
          <p14:sldIdLst>
            <p14:sldId id="256"/>
            <p14:sldId id="277"/>
            <p14:sldId id="258"/>
            <p14:sldId id="259"/>
            <p14:sldId id="260"/>
            <p14:sldId id="261"/>
            <p14:sldId id="262"/>
            <p14:sldId id="263"/>
            <p14:sldId id="279"/>
            <p14:sldId id="278"/>
            <p14:sldId id="280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5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1F5B"/>
    <a:srgbClr val="000000"/>
    <a:srgbClr val="A8204E"/>
    <a:srgbClr val="C6093B"/>
    <a:srgbClr val="B1B6AF"/>
    <a:srgbClr val="D9D7D0"/>
    <a:srgbClr val="FF9ED3"/>
    <a:srgbClr val="AFAFAF"/>
    <a:srgbClr val="04ABFD"/>
    <a:srgbClr val="C509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3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356" autoAdjust="0"/>
    <p:restoredTop sz="78865" autoAdjust="0"/>
  </p:normalViewPr>
  <p:slideViewPr>
    <p:cSldViewPr snapToGrid="0">
      <p:cViewPr varScale="1">
        <p:scale>
          <a:sx n="115" d="100"/>
          <a:sy n="115" d="100"/>
        </p:scale>
        <p:origin x="67" y="3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5" d="100"/>
          <a:sy n="55" d="100"/>
        </p:scale>
        <p:origin x="2880" y="78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6.xml"/><Relationship Id="rId5" Type="http://schemas.openxmlformats.org/officeDocument/2006/relationships/slide" Target="slides/slide7.xml"/><Relationship Id="rId6" Type="http://schemas.openxmlformats.org/officeDocument/2006/relationships/slide" Target="slides/slide8.xml"/><Relationship Id="rId7" Type="http://schemas.openxmlformats.org/officeDocument/2006/relationships/slide" Target="slides/slide9.xml"/><Relationship Id="rId8" Type="http://schemas.openxmlformats.org/officeDocument/2006/relationships/slide" Target="slides/slide10.xml"/><Relationship Id="rId9" Type="http://schemas.openxmlformats.org/officeDocument/2006/relationships/slide" Target="slides/slide12.xml"/><Relationship Id="rId10" Type="http://schemas.openxmlformats.org/officeDocument/2006/relationships/slide" Target="slides/slide13.xml"/><Relationship Id="rId11" Type="http://schemas.openxmlformats.org/officeDocument/2006/relationships/slide" Target="slides/slide15.xml"/><Relationship Id="rId12" Type="http://schemas.openxmlformats.org/officeDocument/2006/relationships/slide" Target="slides/slide16.xml"/><Relationship Id="rId13" Type="http://schemas.openxmlformats.org/officeDocument/2006/relationships/slide" Target="slides/slide17.xml"/><Relationship Id="rId14" Type="http://schemas.openxmlformats.org/officeDocument/2006/relationships/slide" Target="slides/slide18.xml"/><Relationship Id="rId15" Type="http://schemas.openxmlformats.org/officeDocument/2006/relationships/slide" Target="slides/slide19.xml"/><Relationship Id="rId16" Type="http://schemas.openxmlformats.org/officeDocument/2006/relationships/slide" Target="slides/slide20.xml"/><Relationship Id="rId17" Type="http://schemas.openxmlformats.org/officeDocument/2006/relationships/slide" Target="slides/slide22.xml"/><Relationship Id="rId18" Type="http://schemas.openxmlformats.org/officeDocument/2006/relationships/slide" Target="slides/slide23.xml"/><Relationship Id="rId19" Type="http://schemas.openxmlformats.org/officeDocument/2006/relationships/slide" Target="slides/slide24.xml"/><Relationship Id="rId20" Type="http://schemas.openxmlformats.org/officeDocument/2006/relationships/slide" Target="slides/slide21.xml"/><Relationship Id="rId21" Type="http://schemas.openxmlformats.org/officeDocument/2006/relationships/slide" Target="slides/slide25.xml"/><Relationship Id="rId22" Type="http://schemas.openxmlformats.org/officeDocument/2006/relationships/slide" Target="slides/slide26.xml"/><Relationship Id="rId23" Type="http://schemas.openxmlformats.org/officeDocument/2006/relationships/slide" Target="slides/slide27.xml"/><Relationship Id="rId24" Type="http://schemas.openxmlformats.org/officeDocument/2006/relationships/slide" Target="slides/slide28.xml"/><Relationship Id="rId25" Type="http://schemas.openxmlformats.org/officeDocument/2006/relationships/notesMaster" Target="notesMasters/notesMaster1.xml"/><Relationship Id="rId26" Type="http://schemas.openxmlformats.org/officeDocument/2006/relationships/handoutMaster" Target="handoutMasters/handout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openxmlformats.org/officeDocument/2006/relationships/slide" Target="slides/slide4.xml"/><Relationship Id="rId32" Type="http://schemas.openxmlformats.org/officeDocument/2006/relationships/slide" Target="slides/slide5.xml"/><Relationship Id="rId33" Type="http://schemas.openxmlformats.org/officeDocument/2006/relationships/slide" Target="slides/slide3.xml"/><Relationship Id="rId34" Type="http://schemas.openxmlformats.org/officeDocument/2006/relationships/slide" Target="slides/slide11.xml"/><Relationship Id="rId35" Type="http://schemas.openxmlformats.org/officeDocument/2006/relationships/slide" Target="slides/slide14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FAB296-C70E-40F1-B507-D2D143AD6EBF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9078BF-40EC-41E1-9B62-3081DB120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01587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D2892C-D9C7-4A81-A07C-60131499A005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1A37F7-1A90-4E51-A507-1AEFE7B69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5549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Letter of recommendation example</a:t>
            </a:r>
            <a:br>
              <a:rPr lang="en-US" dirty="0"/>
            </a:br>
            <a:br>
              <a:rPr lang="en-US" dirty="0"/>
            </a:br>
            <a:r>
              <a:rPr lang="en-US" dirty="0" err="1"/>
              <a:t>susan</a:t>
            </a:r>
            <a:r>
              <a:rPr lang="en-US" dirty="0"/>
              <a:t> vs bob – depending on who is writing the letter and then various track records</a:t>
            </a:r>
            <a:br>
              <a:rPr lang="en-US" dirty="0"/>
            </a:br>
            <a:br>
              <a:rPr lang="en-US" dirty="0"/>
            </a:br>
            <a:r>
              <a:rPr lang="en-US" dirty="0"/>
              <a:t>do people weigh the information differently whether it’s from </a:t>
            </a:r>
            <a:r>
              <a:rPr lang="en-US" dirty="0" err="1"/>
              <a:t>susan</a:t>
            </a:r>
            <a:r>
              <a:rPr lang="en-US" dirty="0"/>
              <a:t> vs bob</a:t>
            </a:r>
          </a:p>
          <a:p>
            <a:r>
              <a:rPr lang="en-US" dirty="0"/>
              <a:t>The thing we care about the most is the second letter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9125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RQ3 is chronologically first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28294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Incentive compatible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2027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Provide a little more setup in terms of the decisions that they are making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54721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Flip the axes between male and female</a:t>
            </a:r>
            <a:br>
              <a:rPr lang="en-US" dirty="0"/>
            </a:br>
            <a:br>
              <a:rPr lang="en-US" dirty="0"/>
            </a:br>
            <a:r>
              <a:rPr lang="en-US" dirty="0"/>
              <a:t>manipulation check</a:t>
            </a:r>
            <a:br>
              <a:rPr lang="en-US" dirty="0"/>
            </a:br>
            <a:r>
              <a:rPr lang="en-US" dirty="0"/>
              <a:t>endowed them with money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8992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Male and female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34308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51150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rallelogram 5">
            <a:extLst>
              <a:ext uri="{FF2B5EF4-FFF2-40B4-BE49-F238E27FC236}">
                <a16:creationId xmlns:a16="http://schemas.microsoft.com/office/drawing/2014/main" id="{C79B39E0-BF53-44AA-98FF-1D1B87B7E713}"/>
              </a:ext>
            </a:extLst>
          </p:cNvPr>
          <p:cNvSpPr/>
          <p:nvPr userDrawn="1"/>
        </p:nvSpPr>
        <p:spPr>
          <a:xfrm>
            <a:off x="9712713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</a:schemeClr>
              </a:gs>
              <a:gs pos="100000">
                <a:schemeClr val="accent2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1695DCC8-D73C-40D9-A089-189E7E30D752}"/>
              </a:ext>
            </a:extLst>
          </p:cNvPr>
          <p:cNvSpPr/>
          <p:nvPr userDrawn="1"/>
        </p:nvSpPr>
        <p:spPr>
          <a:xfrm rot="10800000">
            <a:off x="7213298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75671" y="3896000"/>
            <a:ext cx="10135871" cy="646331"/>
          </a:xfrm>
        </p:spPr>
        <p:txBody>
          <a:bodyPr anchor="b"/>
          <a:lstStyle>
            <a:lvl1pPr algn="l">
              <a:defRPr sz="4000" b="1" i="0" cap="none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75672" y="4550000"/>
            <a:ext cx="9144000" cy="544444"/>
          </a:xfrm>
        </p:spPr>
        <p:txBody>
          <a:bodyPr lIns="0" rIns="0">
            <a:spAutoFit/>
          </a:bodyPr>
          <a:lstStyle>
            <a:lvl1pPr marL="0" indent="0" algn="l">
              <a:buNone/>
              <a:defRPr sz="260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2"/>
          </p:nvPr>
        </p:nvSpPr>
        <p:spPr>
          <a:xfrm>
            <a:off x="575672" y="5337129"/>
            <a:ext cx="9144000" cy="509691"/>
          </a:xfrm>
        </p:spPr>
        <p:txBody>
          <a:bodyPr lIns="0" rIns="0">
            <a:spAutoFit/>
          </a:bodyPr>
          <a:lstStyle>
            <a:lvl1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1pPr>
            <a:lvl2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2pPr>
            <a:lvl3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3pPr>
            <a:lvl4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4pPr>
            <a:lvl5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FA7F1E24-66DA-4CF5-9530-9AE8212B0B4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5672" y="533027"/>
            <a:ext cx="3655687" cy="956306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6B5BF14-A6EB-4C48-A237-48EB0CADD5DE}"/>
              </a:ext>
            </a:extLst>
          </p:cNvPr>
          <p:cNvCxnSpPr>
            <a:cxnSpLocks/>
          </p:cNvCxnSpPr>
          <p:nvPr userDrawn="1"/>
        </p:nvCxnSpPr>
        <p:spPr>
          <a:xfrm flipH="1">
            <a:off x="9901646" y="0"/>
            <a:ext cx="1476731" cy="3618411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57281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 with Phot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picture containing building, outdoor, sky, city&#10;&#10;Description automatically generated">
            <a:extLst>
              <a:ext uri="{FF2B5EF4-FFF2-40B4-BE49-F238E27FC236}">
                <a16:creationId xmlns:a16="http://schemas.microsoft.com/office/drawing/2014/main" id="{E2A878F4-D03E-4B25-B3E7-D24416503FA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duotone>
              <a:prstClr val="black"/>
              <a:schemeClr val="accent3">
                <a:tint val="45000"/>
                <a:satMod val="400000"/>
              </a:schemeClr>
            </a:duotone>
            <a:alphaModFix amt="1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" y="-321100"/>
            <a:ext cx="12191999" cy="8127999"/>
          </a:xfrm>
          <a:prstGeom prst="rect">
            <a:avLst/>
          </a:prstGeom>
          <a:effectLst>
            <a:outerShdw blurRad="50800" dist="50800" dir="5400000" algn="ctr" rotWithShape="0">
              <a:srgbClr val="000000"/>
            </a:outerShdw>
          </a:effectLst>
        </p:spPr>
      </p:pic>
      <p:sp>
        <p:nvSpPr>
          <p:cNvPr id="6" name="Parallelogram 5">
            <a:extLst>
              <a:ext uri="{FF2B5EF4-FFF2-40B4-BE49-F238E27FC236}">
                <a16:creationId xmlns:a16="http://schemas.microsoft.com/office/drawing/2014/main" id="{C79B39E0-BF53-44AA-98FF-1D1B87B7E713}"/>
              </a:ext>
            </a:extLst>
          </p:cNvPr>
          <p:cNvSpPr/>
          <p:nvPr userDrawn="1"/>
        </p:nvSpPr>
        <p:spPr>
          <a:xfrm>
            <a:off x="9712713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</a:schemeClr>
              </a:gs>
              <a:gs pos="100000">
                <a:schemeClr val="accent2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1695DCC8-D73C-40D9-A089-189E7E30D752}"/>
              </a:ext>
            </a:extLst>
          </p:cNvPr>
          <p:cNvSpPr/>
          <p:nvPr userDrawn="1"/>
        </p:nvSpPr>
        <p:spPr>
          <a:xfrm rot="10800000">
            <a:off x="7213298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75671" y="3896000"/>
            <a:ext cx="10135871" cy="646331"/>
          </a:xfrm>
        </p:spPr>
        <p:txBody>
          <a:bodyPr anchor="b"/>
          <a:lstStyle>
            <a:lvl1pPr algn="l">
              <a:defRPr sz="4000" b="1" i="0" cap="none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75672" y="4550000"/>
            <a:ext cx="9144000" cy="544444"/>
          </a:xfrm>
        </p:spPr>
        <p:txBody>
          <a:bodyPr lIns="0" rIns="0">
            <a:spAutoFit/>
          </a:bodyPr>
          <a:lstStyle>
            <a:lvl1pPr marL="0" indent="0" algn="l">
              <a:buNone/>
              <a:defRPr sz="260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2"/>
          </p:nvPr>
        </p:nvSpPr>
        <p:spPr>
          <a:xfrm>
            <a:off x="575672" y="5337129"/>
            <a:ext cx="9144000" cy="509691"/>
          </a:xfrm>
        </p:spPr>
        <p:txBody>
          <a:bodyPr lIns="0" rIns="0">
            <a:spAutoFit/>
          </a:bodyPr>
          <a:lstStyle>
            <a:lvl1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1pPr>
            <a:lvl2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2pPr>
            <a:lvl3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3pPr>
            <a:lvl4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4pPr>
            <a:lvl5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FA7F1E24-66DA-4CF5-9530-9AE8212B0B4F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5672" y="533027"/>
            <a:ext cx="3655687" cy="956306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6B5BF14-A6EB-4C48-A237-48EB0CADD5DE}"/>
              </a:ext>
            </a:extLst>
          </p:cNvPr>
          <p:cNvCxnSpPr>
            <a:cxnSpLocks/>
          </p:cNvCxnSpPr>
          <p:nvPr userDrawn="1"/>
        </p:nvCxnSpPr>
        <p:spPr>
          <a:xfrm flipH="1">
            <a:off x="9901646" y="0"/>
            <a:ext cx="1476731" cy="3618411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47109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1604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ontent: Emphasi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B3C0B3D4-45AD-49CB-92C9-1CEAD1196E1A}"/>
              </a:ext>
            </a:extLst>
          </p:cNvPr>
          <p:cNvSpPr/>
          <p:nvPr userDrawn="1"/>
        </p:nvSpPr>
        <p:spPr>
          <a:xfrm>
            <a:off x="0" y="6503504"/>
            <a:ext cx="12192000" cy="38473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dirty="0">
              <a:solidFill>
                <a:srgbClr val="002C77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EB8AF9ED-1340-42AE-98EE-2BF152A03156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52280" y="6595711"/>
            <a:ext cx="914688" cy="173098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9A8C50F-BE59-40AD-99BF-D8A00352B948}"/>
              </a:ext>
            </a:extLst>
          </p:cNvPr>
          <p:cNvCxnSpPr>
            <a:cxnSpLocks/>
          </p:cNvCxnSpPr>
          <p:nvPr userDrawn="1"/>
        </p:nvCxnSpPr>
        <p:spPr>
          <a:xfrm flipV="1">
            <a:off x="11592746" y="6552811"/>
            <a:ext cx="97287" cy="213183"/>
          </a:xfrm>
          <a:prstGeom prst="line">
            <a:avLst/>
          </a:prstGeom>
          <a:ln w="25400">
            <a:solidFill>
              <a:srgbClr val="C5093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5571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5_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FA3A7A-D3AA-4B7E-90CE-EE3526AB70DC}"/>
              </a:ext>
            </a:extLst>
          </p:cNvPr>
          <p:cNvSpPr/>
          <p:nvPr userDrawn="1"/>
        </p:nvSpPr>
        <p:spPr>
          <a:xfrm>
            <a:off x="1023115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61F3CF6A-3971-42FB-8195-ED773BE1B8CF}"/>
              </a:ext>
            </a:extLst>
          </p:cNvPr>
          <p:cNvSpPr/>
          <p:nvPr userDrawn="1"/>
        </p:nvSpPr>
        <p:spPr>
          <a:xfrm rot="10800000">
            <a:off x="-1476300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</a:schemeClr>
              </a:gs>
              <a:gs pos="100000">
                <a:schemeClr val="accent5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BBAB1EB-95BB-4528-96F7-3993F4666FBE}"/>
              </a:ext>
            </a:extLst>
          </p:cNvPr>
          <p:cNvGrpSpPr/>
          <p:nvPr userDrawn="1"/>
        </p:nvGrpSpPr>
        <p:grpSpPr>
          <a:xfrm>
            <a:off x="-924553" y="656444"/>
            <a:ext cx="2777689" cy="73767"/>
            <a:chOff x="828118" y="83421"/>
            <a:chExt cx="2777689" cy="7376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AB40905-A4F8-4242-9DE3-61056F12D5A4}"/>
                </a:ext>
              </a:extLst>
            </p:cNvPr>
            <p:cNvGrpSpPr/>
            <p:nvPr/>
          </p:nvGrpSpPr>
          <p:grpSpPr>
            <a:xfrm rot="13500000">
              <a:off x="828118" y="83427"/>
              <a:ext cx="73761" cy="73761"/>
              <a:chOff x="5762847" y="855527"/>
              <a:chExt cx="182880" cy="182880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85626CC-E4D2-4261-815E-FA09F03FA989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7745C30-65FE-4301-BF33-94D3F3A3F6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4B5484A-3F2C-455F-ADD8-5BAD2F0322D2}"/>
                </a:ext>
              </a:extLst>
            </p:cNvPr>
            <p:cNvGrpSpPr/>
            <p:nvPr/>
          </p:nvGrpSpPr>
          <p:grpSpPr>
            <a:xfrm rot="13500000">
              <a:off x="1166109" y="83426"/>
              <a:ext cx="73761" cy="73761"/>
              <a:chOff x="5762847" y="855527"/>
              <a:chExt cx="182880" cy="182880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E1D04B5-4C19-42F1-8AF4-DF77DFA9E696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33ECFAA-6C73-4422-84C0-4662E9830C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4D8B4D-C8F9-4060-AE12-77D2B2E9A95C}"/>
                </a:ext>
              </a:extLst>
            </p:cNvPr>
            <p:cNvGrpSpPr/>
            <p:nvPr/>
          </p:nvGrpSpPr>
          <p:grpSpPr>
            <a:xfrm rot="13500000">
              <a:off x="1504100" y="83425"/>
              <a:ext cx="73761" cy="73761"/>
              <a:chOff x="5762847" y="855527"/>
              <a:chExt cx="182880" cy="182880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FD70F0B-B853-4441-ABD5-CEA2455FA7CA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14F4EBA-8FF9-4A39-B071-46C46C8052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7652A8B-72EF-4E78-AA4E-0CC2394AAA21}"/>
                </a:ext>
              </a:extLst>
            </p:cNvPr>
            <p:cNvGrpSpPr/>
            <p:nvPr/>
          </p:nvGrpSpPr>
          <p:grpSpPr>
            <a:xfrm rot="13500000">
              <a:off x="1842091" y="83424"/>
              <a:ext cx="73761" cy="73761"/>
              <a:chOff x="5762847" y="855527"/>
              <a:chExt cx="182880" cy="182880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E4AB0-390C-4314-BBBC-DFA40152295E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B6769D0-F275-4F11-9097-0042ADB40B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93944D-A039-4CD5-9AAE-897D4057BC13}"/>
                </a:ext>
              </a:extLst>
            </p:cNvPr>
            <p:cNvGrpSpPr/>
            <p:nvPr/>
          </p:nvGrpSpPr>
          <p:grpSpPr>
            <a:xfrm rot="13500000">
              <a:off x="2180082" y="83423"/>
              <a:ext cx="73761" cy="73761"/>
              <a:chOff x="5762847" y="855527"/>
              <a:chExt cx="182880" cy="182880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B5ADA53-753C-4DE1-B313-308F77F4E56B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904B05C-FFDF-4A5C-BD23-16898BF2E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FEDB6F-A4E2-4FCE-A382-14C5749E3290}"/>
                </a:ext>
              </a:extLst>
            </p:cNvPr>
            <p:cNvGrpSpPr/>
            <p:nvPr/>
          </p:nvGrpSpPr>
          <p:grpSpPr>
            <a:xfrm rot="13500000">
              <a:off x="2518073" y="83422"/>
              <a:ext cx="73761" cy="73761"/>
              <a:chOff x="5762847" y="855527"/>
              <a:chExt cx="182880" cy="182880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3FC0C9B-9496-47E9-A777-E83E7C27EEF3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A665E8C-7D59-4EF3-954C-2D948CFCF1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C01E60-2746-4AA2-A880-0D1F684E6FE3}"/>
                </a:ext>
              </a:extLst>
            </p:cNvPr>
            <p:cNvGrpSpPr/>
            <p:nvPr/>
          </p:nvGrpSpPr>
          <p:grpSpPr>
            <a:xfrm rot="13500000">
              <a:off x="2856064" y="83422"/>
              <a:ext cx="73761" cy="73761"/>
              <a:chOff x="5762847" y="855527"/>
              <a:chExt cx="182880" cy="18288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18FA5CD-8005-4A6D-8D9B-F4048F54A21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EC720DB-D986-4D5A-9503-CB2DCA1A0A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43610E3-6EE0-43FB-9911-A020EBA799F1}"/>
                </a:ext>
              </a:extLst>
            </p:cNvPr>
            <p:cNvGrpSpPr/>
            <p:nvPr/>
          </p:nvGrpSpPr>
          <p:grpSpPr>
            <a:xfrm rot="13500000">
              <a:off x="3194055" y="83421"/>
              <a:ext cx="73761" cy="73761"/>
              <a:chOff x="5762847" y="855527"/>
              <a:chExt cx="182880" cy="182880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951241-06EA-4635-B628-EDF99846FA7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107952F-EB06-401B-85CE-5E106F9B4F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C77E5D5-C6D5-48F0-BAA0-1A07DFCB925F}"/>
                </a:ext>
              </a:extLst>
            </p:cNvPr>
            <p:cNvGrpSpPr/>
            <p:nvPr/>
          </p:nvGrpSpPr>
          <p:grpSpPr>
            <a:xfrm rot="13500000">
              <a:off x="3532046" y="83421"/>
              <a:ext cx="73761" cy="73761"/>
              <a:chOff x="5762847" y="855527"/>
              <a:chExt cx="182880" cy="182880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F6D7969-0451-480A-BE97-04E8DBC3CADC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9F3E26C-819B-4080-888E-DF18167284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082344"/>
            <a:ext cx="10515600" cy="480131"/>
          </a:xfrm>
        </p:spPr>
        <p:txBody>
          <a:bodyPr anchor="b"/>
          <a:lstStyle>
            <a:lvl1pPr>
              <a:defRPr sz="2800" i="1" cap="all" spc="3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917015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pic>
        <p:nvPicPr>
          <p:cNvPr id="42" name="Graphic 41">
            <a:extLst>
              <a:ext uri="{FF2B5EF4-FFF2-40B4-BE49-F238E27FC236}">
                <a16:creationId xmlns:a16="http://schemas.microsoft.com/office/drawing/2014/main" id="{30061091-7521-4125-B5CB-44ACB827FB71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44955" y="2603092"/>
            <a:ext cx="3312277" cy="3793713"/>
          </a:xfrm>
          <a:prstGeom prst="rect">
            <a:avLst/>
          </a:prstGeom>
        </p:spPr>
      </p:pic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BB8F1CD1-1171-4356-9440-0F08548CF601}"/>
              </a:ext>
            </a:extLst>
          </p:cNvPr>
          <p:cNvCxnSpPr>
            <a:cxnSpLocks/>
          </p:cNvCxnSpPr>
          <p:nvPr userDrawn="1"/>
        </p:nvCxnSpPr>
        <p:spPr>
          <a:xfrm flipH="1">
            <a:off x="823962" y="4733825"/>
            <a:ext cx="663644" cy="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01391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6_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FA3A7A-D3AA-4B7E-90CE-EE3526AB70DC}"/>
              </a:ext>
            </a:extLst>
          </p:cNvPr>
          <p:cNvSpPr/>
          <p:nvPr userDrawn="1"/>
        </p:nvSpPr>
        <p:spPr>
          <a:xfrm>
            <a:off x="1023115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61F3CF6A-3971-42FB-8195-ED773BE1B8CF}"/>
              </a:ext>
            </a:extLst>
          </p:cNvPr>
          <p:cNvSpPr/>
          <p:nvPr userDrawn="1"/>
        </p:nvSpPr>
        <p:spPr>
          <a:xfrm rot="10800000">
            <a:off x="-1476300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2">
                  <a:alpha val="0"/>
                </a:schemeClr>
              </a:gs>
              <a:gs pos="100000">
                <a:schemeClr val="accent2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5C2FD72-5224-4845-839C-6BFE7FA72191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44955" y="2603092"/>
            <a:ext cx="3312277" cy="3793713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5BBAB1EB-95BB-4528-96F7-3993F4666FBE}"/>
              </a:ext>
            </a:extLst>
          </p:cNvPr>
          <p:cNvGrpSpPr/>
          <p:nvPr userDrawn="1"/>
        </p:nvGrpSpPr>
        <p:grpSpPr>
          <a:xfrm>
            <a:off x="-924553" y="656444"/>
            <a:ext cx="2777689" cy="73767"/>
            <a:chOff x="828118" y="83421"/>
            <a:chExt cx="2777689" cy="7376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AB40905-A4F8-4242-9DE3-61056F12D5A4}"/>
                </a:ext>
              </a:extLst>
            </p:cNvPr>
            <p:cNvGrpSpPr/>
            <p:nvPr/>
          </p:nvGrpSpPr>
          <p:grpSpPr>
            <a:xfrm rot="13500000">
              <a:off x="828118" y="83427"/>
              <a:ext cx="73761" cy="73761"/>
              <a:chOff x="5762847" y="855527"/>
              <a:chExt cx="182880" cy="182880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85626CC-E4D2-4261-815E-FA09F03FA989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7745C30-65FE-4301-BF33-94D3F3A3F6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4B5484A-3F2C-455F-ADD8-5BAD2F0322D2}"/>
                </a:ext>
              </a:extLst>
            </p:cNvPr>
            <p:cNvGrpSpPr/>
            <p:nvPr/>
          </p:nvGrpSpPr>
          <p:grpSpPr>
            <a:xfrm rot="13500000">
              <a:off x="1166109" y="83426"/>
              <a:ext cx="73761" cy="73761"/>
              <a:chOff x="5762847" y="855527"/>
              <a:chExt cx="182880" cy="182880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E1D04B5-4C19-42F1-8AF4-DF77DFA9E696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33ECFAA-6C73-4422-84C0-4662E9830C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4D8B4D-C8F9-4060-AE12-77D2B2E9A95C}"/>
                </a:ext>
              </a:extLst>
            </p:cNvPr>
            <p:cNvGrpSpPr/>
            <p:nvPr/>
          </p:nvGrpSpPr>
          <p:grpSpPr>
            <a:xfrm rot="13500000">
              <a:off x="1504100" y="83425"/>
              <a:ext cx="73761" cy="73761"/>
              <a:chOff x="5762847" y="855527"/>
              <a:chExt cx="182880" cy="182880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FD70F0B-B853-4441-ABD5-CEA2455FA7CA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14F4EBA-8FF9-4A39-B071-46C46C8052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7652A8B-72EF-4E78-AA4E-0CC2394AAA21}"/>
                </a:ext>
              </a:extLst>
            </p:cNvPr>
            <p:cNvGrpSpPr/>
            <p:nvPr/>
          </p:nvGrpSpPr>
          <p:grpSpPr>
            <a:xfrm rot="13500000">
              <a:off x="1842091" y="83424"/>
              <a:ext cx="73761" cy="73761"/>
              <a:chOff x="5762847" y="855527"/>
              <a:chExt cx="182880" cy="182880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E4AB0-390C-4314-BBBC-DFA40152295E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B6769D0-F275-4F11-9097-0042ADB40B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93944D-A039-4CD5-9AAE-897D4057BC13}"/>
                </a:ext>
              </a:extLst>
            </p:cNvPr>
            <p:cNvGrpSpPr/>
            <p:nvPr/>
          </p:nvGrpSpPr>
          <p:grpSpPr>
            <a:xfrm rot="13500000">
              <a:off x="2180082" y="83423"/>
              <a:ext cx="73761" cy="73761"/>
              <a:chOff x="5762847" y="855527"/>
              <a:chExt cx="182880" cy="182880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B5ADA53-753C-4DE1-B313-308F77F4E56B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904B05C-FFDF-4A5C-BD23-16898BF2E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FEDB6F-A4E2-4FCE-A382-14C5749E3290}"/>
                </a:ext>
              </a:extLst>
            </p:cNvPr>
            <p:cNvGrpSpPr/>
            <p:nvPr/>
          </p:nvGrpSpPr>
          <p:grpSpPr>
            <a:xfrm rot="13500000">
              <a:off x="2518073" y="83422"/>
              <a:ext cx="73761" cy="73761"/>
              <a:chOff x="5762847" y="855527"/>
              <a:chExt cx="182880" cy="182880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3FC0C9B-9496-47E9-A777-E83E7C27EEF3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A665E8C-7D59-4EF3-954C-2D948CFCF1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C01E60-2746-4AA2-A880-0D1F684E6FE3}"/>
                </a:ext>
              </a:extLst>
            </p:cNvPr>
            <p:cNvGrpSpPr/>
            <p:nvPr/>
          </p:nvGrpSpPr>
          <p:grpSpPr>
            <a:xfrm rot="13500000">
              <a:off x="2856064" y="83422"/>
              <a:ext cx="73761" cy="73761"/>
              <a:chOff x="5762847" y="855527"/>
              <a:chExt cx="182880" cy="18288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18FA5CD-8005-4A6D-8D9B-F4048F54A21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EC720DB-D986-4D5A-9503-CB2DCA1A0A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43610E3-6EE0-43FB-9911-A020EBA799F1}"/>
                </a:ext>
              </a:extLst>
            </p:cNvPr>
            <p:cNvGrpSpPr/>
            <p:nvPr/>
          </p:nvGrpSpPr>
          <p:grpSpPr>
            <a:xfrm rot="13500000">
              <a:off x="3194055" y="83421"/>
              <a:ext cx="73761" cy="73761"/>
              <a:chOff x="5762847" y="855527"/>
              <a:chExt cx="182880" cy="182880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951241-06EA-4635-B628-EDF99846FA7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107952F-EB06-401B-85CE-5E106F9B4F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C77E5D5-C6D5-48F0-BAA0-1A07DFCB925F}"/>
                </a:ext>
              </a:extLst>
            </p:cNvPr>
            <p:cNvGrpSpPr/>
            <p:nvPr/>
          </p:nvGrpSpPr>
          <p:grpSpPr>
            <a:xfrm rot="13500000">
              <a:off x="3532046" y="83421"/>
              <a:ext cx="73761" cy="73761"/>
              <a:chOff x="5762847" y="855527"/>
              <a:chExt cx="182880" cy="182880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F6D7969-0451-480A-BE97-04E8DBC3CADC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9F3E26C-819B-4080-888E-DF18167284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082344"/>
            <a:ext cx="10515600" cy="480131"/>
          </a:xfrm>
        </p:spPr>
        <p:txBody>
          <a:bodyPr anchor="b"/>
          <a:lstStyle>
            <a:lvl1pPr>
              <a:defRPr sz="2800" i="1" cap="all" spc="3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917015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E8A4EB83-0CB6-4E8A-BD62-F024F3A15EB7}"/>
              </a:ext>
            </a:extLst>
          </p:cNvPr>
          <p:cNvCxnSpPr>
            <a:cxnSpLocks/>
          </p:cNvCxnSpPr>
          <p:nvPr userDrawn="1"/>
        </p:nvCxnSpPr>
        <p:spPr>
          <a:xfrm flipH="1">
            <a:off x="823962" y="4733825"/>
            <a:ext cx="663644" cy="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03453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10_Section Header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FA3A7A-D3AA-4B7E-90CE-EE3526AB70DC}"/>
              </a:ext>
            </a:extLst>
          </p:cNvPr>
          <p:cNvSpPr/>
          <p:nvPr userDrawn="1"/>
        </p:nvSpPr>
        <p:spPr>
          <a:xfrm>
            <a:off x="1023115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  <a:lumMod val="75000"/>
                </a:schemeClr>
              </a:gs>
              <a:gs pos="100000">
                <a:schemeClr val="accent5">
                  <a:lumMod val="75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61F3CF6A-3971-42FB-8195-ED773BE1B8CF}"/>
              </a:ext>
            </a:extLst>
          </p:cNvPr>
          <p:cNvSpPr/>
          <p:nvPr userDrawn="1"/>
        </p:nvSpPr>
        <p:spPr>
          <a:xfrm rot="10800000">
            <a:off x="-1476300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6">
                  <a:alpha val="0"/>
                </a:schemeClr>
              </a:gs>
              <a:gs pos="100000">
                <a:schemeClr val="accent6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5C2FD72-5224-4845-839C-6BFE7FA72191}"/>
              </a:ext>
            </a:extLst>
          </p:cNvPr>
          <p:cNvPicPr>
            <a:picLocks noChangeAspect="1"/>
          </p:cNvPicPr>
          <p:nvPr userDrawn="1"/>
        </p:nvPicPr>
        <p:blipFill>
          <a:blip>
            <a:lum bright="-25000"/>
            <a:alphaModFix amt="20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44955" y="2603092"/>
            <a:ext cx="3312277" cy="3793713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5BBAB1EB-95BB-4528-96F7-3993F4666FBE}"/>
              </a:ext>
            </a:extLst>
          </p:cNvPr>
          <p:cNvGrpSpPr/>
          <p:nvPr userDrawn="1"/>
        </p:nvGrpSpPr>
        <p:grpSpPr>
          <a:xfrm>
            <a:off x="-924553" y="656444"/>
            <a:ext cx="2777689" cy="73767"/>
            <a:chOff x="828118" y="83421"/>
            <a:chExt cx="2777689" cy="7376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AB40905-A4F8-4242-9DE3-61056F12D5A4}"/>
                </a:ext>
              </a:extLst>
            </p:cNvPr>
            <p:cNvGrpSpPr/>
            <p:nvPr/>
          </p:nvGrpSpPr>
          <p:grpSpPr>
            <a:xfrm rot="13500000">
              <a:off x="828118" y="83427"/>
              <a:ext cx="73761" cy="73761"/>
              <a:chOff x="5762847" y="855527"/>
              <a:chExt cx="182880" cy="182880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85626CC-E4D2-4261-815E-FA09F03FA989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7745C30-65FE-4301-BF33-94D3F3A3F6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4B5484A-3F2C-455F-ADD8-5BAD2F0322D2}"/>
                </a:ext>
              </a:extLst>
            </p:cNvPr>
            <p:cNvGrpSpPr/>
            <p:nvPr/>
          </p:nvGrpSpPr>
          <p:grpSpPr>
            <a:xfrm rot="13500000">
              <a:off x="1166109" y="83426"/>
              <a:ext cx="73761" cy="73761"/>
              <a:chOff x="5762847" y="855527"/>
              <a:chExt cx="182880" cy="182880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E1D04B5-4C19-42F1-8AF4-DF77DFA9E696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33ECFAA-6C73-4422-84C0-4662E9830C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4D8B4D-C8F9-4060-AE12-77D2B2E9A95C}"/>
                </a:ext>
              </a:extLst>
            </p:cNvPr>
            <p:cNvGrpSpPr/>
            <p:nvPr/>
          </p:nvGrpSpPr>
          <p:grpSpPr>
            <a:xfrm rot="13500000">
              <a:off x="1504100" y="83425"/>
              <a:ext cx="73761" cy="73761"/>
              <a:chOff x="5762847" y="855527"/>
              <a:chExt cx="182880" cy="182880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FD70F0B-B853-4441-ABD5-CEA2455FA7CA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14F4EBA-8FF9-4A39-B071-46C46C8052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7652A8B-72EF-4E78-AA4E-0CC2394AAA21}"/>
                </a:ext>
              </a:extLst>
            </p:cNvPr>
            <p:cNvGrpSpPr/>
            <p:nvPr/>
          </p:nvGrpSpPr>
          <p:grpSpPr>
            <a:xfrm rot="13500000">
              <a:off x="1842091" y="83424"/>
              <a:ext cx="73761" cy="73761"/>
              <a:chOff x="5762847" y="855527"/>
              <a:chExt cx="182880" cy="182880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E4AB0-390C-4314-BBBC-DFA40152295E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B6769D0-F275-4F11-9097-0042ADB40B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93944D-A039-4CD5-9AAE-897D4057BC13}"/>
                </a:ext>
              </a:extLst>
            </p:cNvPr>
            <p:cNvGrpSpPr/>
            <p:nvPr/>
          </p:nvGrpSpPr>
          <p:grpSpPr>
            <a:xfrm rot="13500000">
              <a:off x="2180082" y="83423"/>
              <a:ext cx="73761" cy="73761"/>
              <a:chOff x="5762847" y="855527"/>
              <a:chExt cx="182880" cy="182880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B5ADA53-753C-4DE1-B313-308F77F4E56B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904B05C-FFDF-4A5C-BD23-16898BF2E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FEDB6F-A4E2-4FCE-A382-14C5749E3290}"/>
                </a:ext>
              </a:extLst>
            </p:cNvPr>
            <p:cNvGrpSpPr/>
            <p:nvPr/>
          </p:nvGrpSpPr>
          <p:grpSpPr>
            <a:xfrm rot="13500000">
              <a:off x="2518073" y="83422"/>
              <a:ext cx="73761" cy="73761"/>
              <a:chOff x="5762847" y="855527"/>
              <a:chExt cx="182880" cy="182880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3FC0C9B-9496-47E9-A777-E83E7C27EEF3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A665E8C-7D59-4EF3-954C-2D948CFCF1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C01E60-2746-4AA2-A880-0D1F684E6FE3}"/>
                </a:ext>
              </a:extLst>
            </p:cNvPr>
            <p:cNvGrpSpPr/>
            <p:nvPr/>
          </p:nvGrpSpPr>
          <p:grpSpPr>
            <a:xfrm rot="13500000">
              <a:off x="2856064" y="83422"/>
              <a:ext cx="73761" cy="73761"/>
              <a:chOff x="5762847" y="855527"/>
              <a:chExt cx="182880" cy="18288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18FA5CD-8005-4A6D-8D9B-F4048F54A21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EC720DB-D986-4D5A-9503-CB2DCA1A0A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43610E3-6EE0-43FB-9911-A020EBA799F1}"/>
                </a:ext>
              </a:extLst>
            </p:cNvPr>
            <p:cNvGrpSpPr/>
            <p:nvPr/>
          </p:nvGrpSpPr>
          <p:grpSpPr>
            <a:xfrm rot="13500000">
              <a:off x="3194055" y="83421"/>
              <a:ext cx="73761" cy="73761"/>
              <a:chOff x="5762847" y="855527"/>
              <a:chExt cx="182880" cy="182880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951241-06EA-4635-B628-EDF99846FA7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107952F-EB06-401B-85CE-5E106F9B4F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C77E5D5-C6D5-48F0-BAA0-1A07DFCB925F}"/>
                </a:ext>
              </a:extLst>
            </p:cNvPr>
            <p:cNvGrpSpPr/>
            <p:nvPr/>
          </p:nvGrpSpPr>
          <p:grpSpPr>
            <a:xfrm rot="13500000">
              <a:off x="3532046" y="83421"/>
              <a:ext cx="73761" cy="73761"/>
              <a:chOff x="5762847" y="855527"/>
              <a:chExt cx="182880" cy="182880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F6D7969-0451-480A-BE97-04E8DBC3CADC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9F3E26C-819B-4080-888E-DF18167284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082344"/>
            <a:ext cx="10515600" cy="480131"/>
          </a:xfrm>
        </p:spPr>
        <p:txBody>
          <a:bodyPr anchor="b"/>
          <a:lstStyle>
            <a:lvl1pPr>
              <a:defRPr sz="2800" i="1" cap="all" spc="3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917015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46EAFCF-62A9-448E-A69F-44EB1C0D199B}"/>
              </a:ext>
            </a:extLst>
          </p:cNvPr>
          <p:cNvCxnSpPr>
            <a:cxnSpLocks/>
          </p:cNvCxnSpPr>
          <p:nvPr userDrawn="1"/>
        </p:nvCxnSpPr>
        <p:spPr>
          <a:xfrm flipH="1">
            <a:off x="823962" y="4733825"/>
            <a:ext cx="663644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8020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9_Section Heade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FA3A7A-D3AA-4B7E-90CE-EE3526AB70DC}"/>
              </a:ext>
            </a:extLst>
          </p:cNvPr>
          <p:cNvSpPr/>
          <p:nvPr userDrawn="1"/>
        </p:nvSpPr>
        <p:spPr>
          <a:xfrm>
            <a:off x="1023115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alpha val="3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5C2FD72-5224-4845-839C-6BFE7FA72191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44955" y="2603092"/>
            <a:ext cx="3312277" cy="3793713"/>
          </a:xfrm>
          <a:prstGeom prst="rect">
            <a:avLst/>
          </a:prstGeom>
        </p:spPr>
      </p:pic>
      <p:sp>
        <p:nvSpPr>
          <p:cNvPr id="41" name="Parallelogram 40">
            <a:extLst>
              <a:ext uri="{FF2B5EF4-FFF2-40B4-BE49-F238E27FC236}">
                <a16:creationId xmlns:a16="http://schemas.microsoft.com/office/drawing/2014/main" id="{235462F7-7773-4AC8-8064-DE9AAEC9C875}"/>
              </a:ext>
            </a:extLst>
          </p:cNvPr>
          <p:cNvSpPr/>
          <p:nvPr userDrawn="1"/>
        </p:nvSpPr>
        <p:spPr>
          <a:xfrm rot="10800000">
            <a:off x="-1476300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6">
                  <a:alpha val="0"/>
                </a:schemeClr>
              </a:gs>
              <a:gs pos="100000">
                <a:schemeClr val="accent6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BBAB1EB-95BB-4528-96F7-3993F4666FBE}"/>
              </a:ext>
            </a:extLst>
          </p:cNvPr>
          <p:cNvGrpSpPr/>
          <p:nvPr userDrawn="1"/>
        </p:nvGrpSpPr>
        <p:grpSpPr>
          <a:xfrm>
            <a:off x="-924553" y="656444"/>
            <a:ext cx="2777689" cy="73767"/>
            <a:chOff x="828118" y="83421"/>
            <a:chExt cx="2777689" cy="7376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AB40905-A4F8-4242-9DE3-61056F12D5A4}"/>
                </a:ext>
              </a:extLst>
            </p:cNvPr>
            <p:cNvGrpSpPr/>
            <p:nvPr/>
          </p:nvGrpSpPr>
          <p:grpSpPr>
            <a:xfrm rot="13500000">
              <a:off x="828118" y="83427"/>
              <a:ext cx="73761" cy="73761"/>
              <a:chOff x="5762847" y="855527"/>
              <a:chExt cx="182880" cy="182880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85626CC-E4D2-4261-815E-FA09F03FA989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7745C30-65FE-4301-BF33-94D3F3A3F6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4B5484A-3F2C-455F-ADD8-5BAD2F0322D2}"/>
                </a:ext>
              </a:extLst>
            </p:cNvPr>
            <p:cNvGrpSpPr/>
            <p:nvPr/>
          </p:nvGrpSpPr>
          <p:grpSpPr>
            <a:xfrm rot="13500000">
              <a:off x="1166109" y="83426"/>
              <a:ext cx="73761" cy="73761"/>
              <a:chOff x="5762847" y="855527"/>
              <a:chExt cx="182880" cy="182880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E1D04B5-4C19-42F1-8AF4-DF77DFA9E696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33ECFAA-6C73-4422-84C0-4662E9830C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4D8B4D-C8F9-4060-AE12-77D2B2E9A95C}"/>
                </a:ext>
              </a:extLst>
            </p:cNvPr>
            <p:cNvGrpSpPr/>
            <p:nvPr/>
          </p:nvGrpSpPr>
          <p:grpSpPr>
            <a:xfrm rot="13500000">
              <a:off x="1504100" y="83425"/>
              <a:ext cx="73761" cy="73761"/>
              <a:chOff x="5762847" y="855527"/>
              <a:chExt cx="182880" cy="182880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FD70F0B-B853-4441-ABD5-CEA2455FA7CA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14F4EBA-8FF9-4A39-B071-46C46C8052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7652A8B-72EF-4E78-AA4E-0CC2394AAA21}"/>
                </a:ext>
              </a:extLst>
            </p:cNvPr>
            <p:cNvGrpSpPr/>
            <p:nvPr/>
          </p:nvGrpSpPr>
          <p:grpSpPr>
            <a:xfrm rot="13500000">
              <a:off x="1842091" y="83424"/>
              <a:ext cx="73761" cy="73761"/>
              <a:chOff x="5762847" y="855527"/>
              <a:chExt cx="182880" cy="182880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E4AB0-390C-4314-BBBC-DFA40152295E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B6769D0-F275-4F11-9097-0042ADB40B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93944D-A039-4CD5-9AAE-897D4057BC13}"/>
                </a:ext>
              </a:extLst>
            </p:cNvPr>
            <p:cNvGrpSpPr/>
            <p:nvPr/>
          </p:nvGrpSpPr>
          <p:grpSpPr>
            <a:xfrm rot="13500000">
              <a:off x="2180082" y="83423"/>
              <a:ext cx="73761" cy="73761"/>
              <a:chOff x="5762847" y="855527"/>
              <a:chExt cx="182880" cy="182880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B5ADA53-753C-4DE1-B313-308F77F4E56B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904B05C-FFDF-4A5C-BD23-16898BF2E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FEDB6F-A4E2-4FCE-A382-14C5749E3290}"/>
                </a:ext>
              </a:extLst>
            </p:cNvPr>
            <p:cNvGrpSpPr/>
            <p:nvPr/>
          </p:nvGrpSpPr>
          <p:grpSpPr>
            <a:xfrm rot="13500000">
              <a:off x="2518073" y="83422"/>
              <a:ext cx="73761" cy="73761"/>
              <a:chOff x="5762847" y="855527"/>
              <a:chExt cx="182880" cy="182880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3FC0C9B-9496-47E9-A777-E83E7C27EEF3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A665E8C-7D59-4EF3-954C-2D948CFCF1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C01E60-2746-4AA2-A880-0D1F684E6FE3}"/>
                </a:ext>
              </a:extLst>
            </p:cNvPr>
            <p:cNvGrpSpPr/>
            <p:nvPr/>
          </p:nvGrpSpPr>
          <p:grpSpPr>
            <a:xfrm rot="13500000">
              <a:off x="2856064" y="83422"/>
              <a:ext cx="73761" cy="73761"/>
              <a:chOff x="5762847" y="855527"/>
              <a:chExt cx="182880" cy="18288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18FA5CD-8005-4A6D-8D9B-F4048F54A21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EC720DB-D986-4D5A-9503-CB2DCA1A0A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43610E3-6EE0-43FB-9911-A020EBA799F1}"/>
                </a:ext>
              </a:extLst>
            </p:cNvPr>
            <p:cNvGrpSpPr/>
            <p:nvPr/>
          </p:nvGrpSpPr>
          <p:grpSpPr>
            <a:xfrm rot="13500000">
              <a:off x="3194055" y="83421"/>
              <a:ext cx="73761" cy="73761"/>
              <a:chOff x="5762847" y="855527"/>
              <a:chExt cx="182880" cy="182880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951241-06EA-4635-B628-EDF99846FA7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107952F-EB06-401B-85CE-5E106F9B4F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C77E5D5-C6D5-48F0-BAA0-1A07DFCB925F}"/>
                </a:ext>
              </a:extLst>
            </p:cNvPr>
            <p:cNvGrpSpPr/>
            <p:nvPr/>
          </p:nvGrpSpPr>
          <p:grpSpPr>
            <a:xfrm rot="13500000">
              <a:off x="3532046" y="83421"/>
              <a:ext cx="73761" cy="73761"/>
              <a:chOff x="5762847" y="855527"/>
              <a:chExt cx="182880" cy="182880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F6D7969-0451-480A-BE97-04E8DBC3CADC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9F3E26C-819B-4080-888E-DF18167284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917015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082344"/>
            <a:ext cx="10515600" cy="480131"/>
          </a:xfrm>
        </p:spPr>
        <p:txBody>
          <a:bodyPr anchor="b"/>
          <a:lstStyle>
            <a:lvl1pPr>
              <a:defRPr sz="2800" i="1" cap="all" spc="3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A6B9B6E-B9A8-40A1-A460-0452F1F94C21}"/>
              </a:ext>
            </a:extLst>
          </p:cNvPr>
          <p:cNvCxnSpPr>
            <a:cxnSpLocks/>
          </p:cNvCxnSpPr>
          <p:nvPr userDrawn="1"/>
        </p:nvCxnSpPr>
        <p:spPr>
          <a:xfrm flipH="1">
            <a:off x="823962" y="4733825"/>
            <a:ext cx="663644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1015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1400" b="0">
                <a:solidFill>
                  <a:schemeClr val="accent4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1400" b="0">
                <a:solidFill>
                  <a:schemeClr val="accent4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0200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1189470"/>
            <a:ext cx="3932237" cy="867930"/>
          </a:xfrm>
        </p:spPr>
        <p:txBody>
          <a:bodyPr anchor="b"/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22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8240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3172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65125"/>
            <a:ext cx="10515600" cy="4351338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94378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7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solidFill>
            <a:schemeClr val="accent1">
              <a:alpha val="85000"/>
            </a:schemeClr>
          </a:solidFill>
        </p:spPr>
        <p:txBody>
          <a:bodyPr lIns="274320" tIns="274320" rIns="274320" bIns="274320"/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137312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 animBg="1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7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7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ooter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976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ooter and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FE500D9-CF53-4920-99CA-9E654F42E876}"/>
              </a:ext>
            </a:extLst>
          </p:cNvPr>
          <p:cNvSpPr/>
          <p:nvPr userDrawn="1"/>
        </p:nvSpPr>
        <p:spPr>
          <a:xfrm>
            <a:off x="139304" y="-180462"/>
            <a:ext cx="4094603" cy="4094603"/>
          </a:xfrm>
          <a:prstGeom prst="ellipse">
            <a:avLst/>
          </a:prstGeom>
          <a:noFill/>
          <a:ln w="1905000">
            <a:gradFill>
              <a:gsLst>
                <a:gs pos="0">
                  <a:schemeClr val="bg1">
                    <a:lumMod val="85000"/>
                    <a:alpha val="0"/>
                  </a:schemeClr>
                </a:gs>
                <a:gs pos="100000">
                  <a:schemeClr val="bg1">
                    <a:lumMod val="85000"/>
                    <a:alpha val="60000"/>
                  </a:schemeClr>
                </a:gs>
              </a:gsLst>
              <a:lin ang="132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12660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ackground Only: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0E5126E1-4A6C-403C-B3E7-5CEEA6593AAE}"/>
              </a:ext>
            </a:extLst>
          </p:cNvPr>
          <p:cNvSpPr/>
          <p:nvPr userDrawn="1"/>
        </p:nvSpPr>
        <p:spPr>
          <a:xfrm>
            <a:off x="-222857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</a:schemeClr>
              </a:gs>
              <a:gs pos="100000">
                <a:schemeClr val="accent2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32B7EF76-94A6-4AAA-BD5E-5CF9731D4B1A}"/>
              </a:ext>
            </a:extLst>
          </p:cNvPr>
          <p:cNvSpPr/>
          <p:nvPr userDrawn="1"/>
        </p:nvSpPr>
        <p:spPr>
          <a:xfrm rot="10800000">
            <a:off x="8834814" y="2261903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89440D6-9A55-4787-B579-8FFD0755C6D4}"/>
              </a:ext>
            </a:extLst>
          </p:cNvPr>
          <p:cNvCxnSpPr>
            <a:cxnSpLocks/>
          </p:cNvCxnSpPr>
          <p:nvPr userDrawn="1"/>
        </p:nvCxnSpPr>
        <p:spPr>
          <a:xfrm flipH="1">
            <a:off x="10214776" y="3239589"/>
            <a:ext cx="1476731" cy="3618411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954993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Relationship Id="rId18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26E6B51D-CB0A-4E91-9A6C-433229868862}"/>
              </a:ext>
            </a:extLst>
          </p:cNvPr>
          <p:cNvSpPr/>
          <p:nvPr userDrawn="1"/>
        </p:nvSpPr>
        <p:spPr>
          <a:xfrm rot="10800000">
            <a:off x="8921143" y="2302961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bg1">
                  <a:lumMod val="95000"/>
                  <a:alpha val="0"/>
                </a:schemeClr>
              </a:gs>
              <a:gs pos="100000">
                <a:schemeClr val="bg1">
                  <a:lumMod val="95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DE33F1FB-D1DC-40E3-8128-01F1050E365D}"/>
              </a:ext>
            </a:extLst>
          </p:cNvPr>
          <p:cNvSpPr/>
          <p:nvPr userDrawn="1"/>
        </p:nvSpPr>
        <p:spPr>
          <a:xfrm rot="10800000">
            <a:off x="9799931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bg1">
                  <a:lumMod val="85000"/>
                  <a:alpha val="0"/>
                </a:schemeClr>
              </a:gs>
              <a:gs pos="100000">
                <a:schemeClr val="bg1">
                  <a:lumMod val="85000"/>
                  <a:alpha val="5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6503504"/>
            <a:ext cx="12192000" cy="38473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dirty="0">
              <a:solidFill>
                <a:srgbClr val="002C77"/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BFDA7CF6-2050-4A6C-BFA8-9DD0EF549C0D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52280" y="6595711"/>
            <a:ext cx="914688" cy="173098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80131"/>
          </a:xfrm>
          <a:prstGeom prst="rect">
            <a:avLst/>
          </a:prstGeom>
        </p:spPr>
        <p:txBody>
          <a:bodyPr vert="horz" lIns="0" tIns="45720" rIns="0" bIns="45720" rtlCol="0" anchor="t" anchorCtr="0">
            <a:sp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310108"/>
            <a:ext cx="10515600" cy="4351338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380258" y="64871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rgbClr val="AFAFAF"/>
                </a:solidFill>
              </a:defRPr>
            </a:lvl1pPr>
          </a:lstStyle>
          <a:p>
            <a:r>
              <a:rPr lang="en-US" dirty="0"/>
              <a:t>Name of Initiative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542356" y="6487182"/>
            <a:ext cx="4973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>
                <a:solidFill>
                  <a:srgbClr val="AFAFAF"/>
                </a:solidFill>
              </a:defRPr>
            </a:lvl1pPr>
          </a:lstStyle>
          <a:p>
            <a:fld id="{DD253308-F9C5-4FCB-8415-6DEE77C16A3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DC6A3B2-8B52-4A4F-A948-674C40D12939}"/>
              </a:ext>
            </a:extLst>
          </p:cNvPr>
          <p:cNvCxnSpPr>
            <a:cxnSpLocks/>
          </p:cNvCxnSpPr>
          <p:nvPr userDrawn="1"/>
        </p:nvCxnSpPr>
        <p:spPr>
          <a:xfrm flipV="1">
            <a:off x="11592746" y="6552811"/>
            <a:ext cx="97287" cy="213183"/>
          </a:xfrm>
          <a:prstGeom prst="line">
            <a:avLst/>
          </a:prstGeom>
          <a:ln w="25400">
            <a:solidFill>
              <a:srgbClr val="C5093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3037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4" r:id="rId2"/>
    <p:sldLayoutId id="2147483650" r:id="rId3"/>
    <p:sldLayoutId id="2147483658" r:id="rId4"/>
    <p:sldLayoutId id="2147483668" r:id="rId5"/>
    <p:sldLayoutId id="2147483669" r:id="rId6"/>
    <p:sldLayoutId id="2147483673" r:id="rId7"/>
    <p:sldLayoutId id="2147483672" r:id="rId8"/>
    <p:sldLayoutId id="2147483653" r:id="rId9"/>
    <p:sldLayoutId id="2147483656" r:id="rId10"/>
    <p:sldLayoutId id="2147483654" r:id="rId11"/>
    <p:sldLayoutId id="2147483662" r:id="rId12"/>
    <p:sldLayoutId id="2147483663" r:id="rId13"/>
    <p:sldLayoutId id="2147483655" r:id="rId14"/>
    <p:sldLayoutId id="2147483659" r:id="rId15"/>
    <p:sldLayoutId id="2147483661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rgbClr val="C5093B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2200" kern="1200">
          <a:solidFill>
            <a:schemeClr val="tx2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1600" kern="1200">
          <a:solidFill>
            <a:schemeClr val="tx2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1600" kern="1200">
          <a:solidFill>
            <a:schemeClr val="tx2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0.png"/><Relationship Id="rId3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1.png"/><Relationship Id="rId3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2.png"/><Relationship Id="rId3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6.png"/><Relationship Id="rId3" Type="http://schemas.openxmlformats.org/officeDocument/2006/relationships/image" Target="../media/image24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Relationship Id="rId4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Relationship Id="rId4" Type="http://schemas.openxmlformats.org/officeDocument/2006/relationships/image" Target="../media/image2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5.png"/><Relationship Id="rId3" Type="http://schemas.openxmlformats.org/officeDocument/2006/relationships/image" Target="../media/image2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7.png"/><Relationship Id="rId3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0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4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6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7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8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9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1F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10607040" y="-457200"/>
            <a:ext cx="2377440" cy="7772400"/>
          </a:xfrm>
          <a:prstGeom prst="parallelogram">
            <a:avLst>
              <a:gd name="adj" fmla="val 55000"/>
            </a:avLst>
          </a:prstGeom>
          <a:solidFill>
            <a:srgbClr val="99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harton_logo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411480"/>
            <a:ext cx="3108960" cy="8778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2598003"/>
            <a:ext cx="10515600" cy="1661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5400" b="1" i="0" dirty="0">
                <a:solidFill>
                  <a:srgbClr val="FFFFFF"/>
                </a:solidFill>
                <a:latin typeface="Arial"/>
              </a:rPr>
              <a:t>Who Gains More From Sponsorship?</a:t>
            </a:r>
            <a:endParaRPr sz="54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77240" y="45262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Arial"/>
              </a:rPr>
              <a:t>Jose Cervantez  ·  Erika Kirgios  ·  Rosalind Chow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989320"/>
            <a:ext cx="10515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 dirty="0">
                <a:solidFill>
                  <a:srgbClr val="CCD2E0"/>
                </a:solidFill>
                <a:latin typeface="Arial"/>
              </a:rPr>
              <a:t>April 10,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DE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7EE579-ACE7-BF23-19A1-3C427898D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Slide Number Placeholder 3">
            <a:extLst>
              <a:ext uri="{FF2B5EF4-FFF2-40B4-BE49-F238E27FC236}">
                <a16:creationId xmlns:a16="http://schemas.microsoft.com/office/drawing/2014/main" id="{670AA0C5-6E38-4C7E-9F69-E6FF8DE563B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410809A-3BFB-4B4E-9031-A9AE0018AEAD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201" name="Rectangle 200"/>
          <p:cNvSpPr/>
          <p:nvPr/>
        </p:nvSpPr>
        <p:spPr>
          <a:xfrm>
            <a:off x="3584448" y="822960"/>
            <a:ext cx="5029200" cy="5669280"/>
          </a:xfrm>
          <a:prstGeom prst="rect">
            <a:avLst/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2" name="Rectangle 201"/>
          <p:cNvSpPr/>
          <p:nvPr/>
        </p:nvSpPr>
        <p:spPr>
          <a:xfrm>
            <a:off x="3584448" y="822960"/>
            <a:ext cx="5029200" cy="438912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GRAYBRIDGE UNIVERSITY  ·  Department of Behavioral Science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877056" y="1426463"/>
            <a:ext cx="4443984" cy="32369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400" b="0" i="0">
                <a:solidFill>
                  <a:srgbClr val="1F1F1F"/>
                </a:solidFill>
                <a:latin typeface="Calibri"/>
              </a:rPr>
              <a:t>To the Admissions Committee,</a:t>
            </a:r>
          </a:p>
          <a:p>
            <a:pPr>
              <a:lnSpc>
                <a:spcPct val="110000"/>
              </a:lnSpc>
            </a:pPr>
            <a:r>
              <a:rPr sz="1400" b="0" i="0">
                <a:solidFill>
                  <a:srgbClr val="1F1F1F"/>
                </a:solidFill>
                <a:latin typeface="Calibri"/>
              </a:rPr>
              <a:t>I am pleased to recommend Nick Calder for admission to your doctoral program in organizational behavior. In my seminar and as a research assistant, Nick distinguished himself through careful analytical reasoning, dependable follow-through, and a mature willingness to revise his views when the evidence changed. He writes clearly, collaborates well, and consistently raises the quality of the work around him. I recommend him with enthusiasm.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3877056" y="5193792"/>
            <a:ext cx="4169664" cy="16459"/>
          </a:xfrm>
          <a:prstGeom prst="rect">
            <a:avLst/>
          </a:prstGeom>
          <a:solidFill>
            <a:srgbClr val="9AA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5" name="TextBox 204"/>
          <p:cNvSpPr txBox="1"/>
          <p:nvPr/>
        </p:nvSpPr>
        <p:spPr>
          <a:xfrm>
            <a:off x="3877056" y="5303520"/>
            <a:ext cx="4443984" cy="1143000"/>
          </a:xfrm>
          <a:prstGeom prst="rect">
            <a:avLst/>
          </a:prstGeom>
          <a:noFill/>
        </p:spPr>
        <p:txBody>
          <a:bodyPr wrap="square" lIns="45720" tIns="18288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1F1F1F"/>
                </a:solidFill>
                <a:latin typeface="Calibri"/>
              </a:rPr>
              <a:t>Sincerely,</a:t>
            </a:r>
          </a:p>
          <a:p>
            <a:r>
              <a:rPr sz="1300" b="1" i="1">
                <a:solidFill>
                  <a:srgbClr val="011F5B"/>
                </a:solidFill>
                <a:latin typeface="Calibri"/>
              </a:rPr>
              <a:t>Robert Keller</a:t>
            </a:r>
          </a:p>
          <a:p>
            <a:r>
              <a:rPr sz="1050" b="0" i="0">
                <a:solidFill>
                  <a:srgbClr val="4B5563"/>
                </a:solidFill>
                <a:latin typeface="Calibri"/>
              </a:rPr>
              <a:t>Professor, Department of Behavioral Science</a:t>
            </a:r>
          </a:p>
        </p:txBody>
      </p:sp>
    </p:spTree>
    <p:extLst>
      <p:ext uri="{BB962C8B-B14F-4D97-AF65-F5344CB8AC3E}">
        <p14:creationId xmlns:p14="http://schemas.microsoft.com/office/powerpoint/2010/main" val="609301019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84448" y="822960"/>
            <a:ext cx="5029200" cy="5669280"/>
          </a:xfrm>
          <a:prstGeom prst="rect">
            <a:avLst/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3584448" y="822960"/>
            <a:ext cx="5029200" cy="438912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GRAYBRIDGE UNIVERSITY  ·  Department of Behavioral Science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77056" y="1426463"/>
            <a:ext cx="4443984" cy="32369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400" b="0" i="0">
                <a:solidFill>
                  <a:srgbClr val="1F1F1F"/>
                </a:solidFill>
                <a:latin typeface="Calibri"/>
              </a:rPr>
              <a:t>To the Admissions Committee,</a:t>
            </a:r>
          </a:p>
          <a:p>
            <a:pPr>
              <a:lnSpc>
                <a:spcPct val="110000"/>
              </a:lnSpc>
            </a:pPr>
            <a:r>
              <a:rPr sz="1400" b="0" i="0">
                <a:solidFill>
                  <a:srgbClr val="1F1F1F"/>
                </a:solidFill>
                <a:latin typeface="Calibri"/>
              </a:rPr>
              <a:t>I am pleased to recommend Nick Calder for admission to your doctoral program in organizational behavior. In my seminar and as a research assistant, Nick distinguished himself through careful analytical reasoning, dependable follow-through, and a mature willingness to revise his views when the evidence changed. He writes clearly, collaborates well, and consistently raises the quality of the work around him. I recommend him with enthusiasm.</a:t>
            </a:r>
          </a:p>
        </p:txBody>
      </p:sp>
      <p:sp>
        <p:nvSpPr>
          <p:cNvPr id="5" name="Rectangle 4"/>
          <p:cNvSpPr/>
          <p:nvPr/>
        </p:nvSpPr>
        <p:spPr>
          <a:xfrm>
            <a:off x="3877056" y="5193792"/>
            <a:ext cx="4169664" cy="16459"/>
          </a:xfrm>
          <a:prstGeom prst="rect">
            <a:avLst/>
          </a:prstGeom>
          <a:solidFill>
            <a:srgbClr val="9AA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3895344" y="5522976"/>
            <a:ext cx="1463040" cy="274320"/>
          </a:xfrm>
          <a:prstGeom prst="rect">
            <a:avLst/>
          </a:prstGeom>
          <a:solidFill>
            <a:srgbClr val="FCE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877056" y="5303520"/>
            <a:ext cx="4443984" cy="1143000"/>
          </a:xfrm>
          <a:prstGeom prst="rect">
            <a:avLst/>
          </a:prstGeom>
          <a:noFill/>
        </p:spPr>
        <p:txBody>
          <a:bodyPr wrap="square" lIns="45720" tIns="18288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1F1F1F"/>
                </a:solidFill>
                <a:latin typeface="Calibri"/>
              </a:rPr>
              <a:t>Sincerely,</a:t>
            </a:r>
          </a:p>
          <a:p>
            <a:r>
              <a:rPr sz="1300" b="1" i="1">
                <a:solidFill>
                  <a:srgbClr val="011F5B"/>
                </a:solidFill>
                <a:latin typeface="Calibri"/>
              </a:rPr>
              <a:t>Susan Keller</a:t>
            </a:r>
          </a:p>
          <a:p>
            <a:r>
              <a:rPr sz="1050" b="0" i="0">
                <a:solidFill>
                  <a:srgbClr val="4B5563"/>
                </a:solidFill>
                <a:latin typeface="Calibri"/>
              </a:rPr>
              <a:t>Professor, Department of Behavioral Science</a:t>
            </a:r>
          </a:p>
        </p:txBody>
      </p:sp>
      <p:sp>
        <p:nvSpPr>
          <p:cNvPr id="500" name="Slide Number Placeholder 3">
            <a:extLst>
              <a:ext uri="{FF2B5EF4-FFF2-40B4-BE49-F238E27FC236}">
                <a16:creationId xmlns:a16="http://schemas.microsoft.com/office/drawing/2014/main" id="{6476980E-6401-4B26-BBFB-DE841CAD000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862290F-98C8-47C1-94CB-85B874F7882D}" type="slidenum">
              <a:rPr lang="en-US" smtClean="0"/>
              <a:pPr/>
              <a:t>2</a:t>
            </a:fld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4297680" cy="5074920"/>
          </a:xfrm>
          <a:prstGeom prst="rect">
            <a:avLst/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4297680" cy="438912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GRAYBRIDGE UNIVERSITY  ·  Department of Behavioral Science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106424"/>
            <a:ext cx="3712464" cy="264261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1F1F1F"/>
                </a:solidFill>
                <a:latin typeface="Calibri"/>
              </a:rPr>
              <a:t>To the Admissions Committee,</a:t>
            </a:r>
          </a:p>
          <a:p>
            <a:pPr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Calibri"/>
              </a:rPr>
              <a:t>I am pleased to recommend Nick Calder for admission to your doctoral program in organizational behavior. In my seminar and as a research assistant, Nick distinguished himself through careful analytical reasoning, dependable follow-through, and a mature willingness to revise his views when the evidence changed. He writes clearly, collaborates well, and consistently raises the quality of the work around him. I recommend him with enthusiasm.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4279392"/>
            <a:ext cx="3438144" cy="16459"/>
          </a:xfrm>
          <a:prstGeom prst="rect">
            <a:avLst/>
          </a:prstGeom>
          <a:solidFill>
            <a:srgbClr val="9AA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95528" y="4389120"/>
            <a:ext cx="3712464" cy="1143000"/>
          </a:xfrm>
          <a:prstGeom prst="rect">
            <a:avLst/>
          </a:prstGeom>
          <a:noFill/>
        </p:spPr>
        <p:txBody>
          <a:bodyPr wrap="square" lIns="45720" tIns="18288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1F1F1F"/>
                </a:solidFill>
                <a:latin typeface="Calibri"/>
              </a:rPr>
              <a:t>Sincerely,</a:t>
            </a:r>
          </a:p>
          <a:p>
            <a:r>
              <a:rPr sz="1300" b="1" i="1">
                <a:solidFill>
                  <a:srgbClr val="011F5B"/>
                </a:solidFill>
                <a:latin typeface="Calibri"/>
              </a:rPr>
              <a:t>Robert Keller</a:t>
            </a:r>
          </a:p>
          <a:p>
            <a:r>
              <a:rPr sz="1050" b="0" i="0">
                <a:solidFill>
                  <a:srgbClr val="4B5563"/>
                </a:solidFill>
                <a:latin typeface="Calibri"/>
              </a:rPr>
              <a:t>Professor, Department of Behavioral Science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88352" y="502920"/>
            <a:ext cx="4297680" cy="5074920"/>
          </a:xfrm>
          <a:prstGeom prst="rect">
            <a:avLst/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7388352" y="502920"/>
            <a:ext cx="4297680" cy="438912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GRAYBRIDGE UNIVERSITY  ·  Department of Behavioral Science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1106424"/>
            <a:ext cx="3712464" cy="264261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1F1F1F"/>
                </a:solidFill>
                <a:latin typeface="Calibri"/>
              </a:rPr>
              <a:t>To the Admissions Committee,</a:t>
            </a:r>
          </a:p>
          <a:p>
            <a:pPr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Calibri"/>
              </a:rPr>
              <a:t>I am pleased to recommend Jose Cervantez for admission to your doctoral program in organizational behavior. In my seminar and as a research assistant, Jose distinguished himself through careful analytical reasoning, dependable follow-through, and a mature willingness to revise his views when the evidence changed. He writes clearly, collaborates well, and consistently raises the quality of the work around him. I recommend him with enthusiasm.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0" y="4279392"/>
            <a:ext cx="3438144" cy="16459"/>
          </a:xfrm>
          <a:prstGeom prst="rect">
            <a:avLst/>
          </a:prstGeom>
          <a:solidFill>
            <a:srgbClr val="9AA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80960" y="4389120"/>
            <a:ext cx="3712464" cy="1143000"/>
          </a:xfrm>
          <a:prstGeom prst="rect">
            <a:avLst/>
          </a:prstGeom>
          <a:noFill/>
        </p:spPr>
        <p:txBody>
          <a:bodyPr wrap="square" lIns="45720" tIns="18288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1F1F1F"/>
                </a:solidFill>
                <a:latin typeface="Calibri"/>
              </a:rPr>
              <a:t>Sincerely,</a:t>
            </a:r>
          </a:p>
          <a:p>
            <a:r>
              <a:rPr sz="1300" b="1" i="1">
                <a:solidFill>
                  <a:srgbClr val="011F5B"/>
                </a:solidFill>
                <a:latin typeface="Calibri"/>
              </a:rPr>
              <a:t>Robert Keller</a:t>
            </a:r>
          </a:p>
          <a:p>
            <a:r>
              <a:rPr sz="1050" b="0" i="0">
                <a:solidFill>
                  <a:srgbClr val="4B5563"/>
                </a:solidFill>
                <a:latin typeface="Calibri"/>
              </a:rPr>
              <a:t>Professor, Department of Behavioral Science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760720"/>
            <a:ext cx="10698480" cy="548640"/>
          </a:xfrm>
          <a:prstGeom prst="roundRect">
            <a:avLst>
              <a:gd name="adj" fmla="val 50000"/>
            </a:avLst>
          </a:prstGeom>
          <a:solidFill>
            <a:srgbClr val="EA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/>
          <a:lstStyle/>
          <a:p>
            <a:pPr algn="ctr"/>
            <a:r>
              <a:rPr sz="2200" b="1" i="0">
                <a:solidFill>
                  <a:srgbClr val="011F5B"/>
                </a:solidFill>
                <a:latin typeface="Calibri"/>
              </a:rPr>
              <a:t>How do you read the new letter after one successful outcome?</a:t>
            </a:r>
          </a:p>
        </p:txBody>
      </p:sp>
      <p:sp>
        <p:nvSpPr>
          <p:cNvPr id="501" name="Slide Number Placeholder 3">
            <a:extLst>
              <a:ext uri="{FF2B5EF4-FFF2-40B4-BE49-F238E27FC236}">
                <a16:creationId xmlns:a16="http://schemas.microsoft.com/office/drawing/2014/main" id="{E3A33801-F2DB-488D-9785-2E371B473C9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71805426-5748-4DD7-B75D-2DDFAB1BA0F8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502" name="Rounded Rectangle 501"/>
          <p:cNvSpPr/>
          <p:nvPr/>
        </p:nvSpPr>
        <p:spPr>
          <a:xfrm>
            <a:off x="1965960" y="9144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YEAR 1</a:t>
            </a:r>
          </a:p>
        </p:txBody>
      </p:sp>
      <p:sp>
        <p:nvSpPr>
          <p:cNvPr id="503" name="Rounded Rectangle 502"/>
          <p:cNvSpPr/>
          <p:nvPr/>
        </p:nvSpPr>
        <p:spPr>
          <a:xfrm>
            <a:off x="8851392" y="9144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YEAR 2</a:t>
            </a:r>
          </a:p>
        </p:txBody>
      </p:sp>
      <p:sp>
        <p:nvSpPr>
          <p:cNvPr id="504" name="TextBox 503"/>
          <p:cNvSpPr txBox="1"/>
          <p:nvPr/>
        </p:nvSpPr>
        <p:spPr>
          <a:xfrm>
            <a:off x="5001768" y="1993392"/>
            <a:ext cx="2157984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/>
            <a:r>
              <a:rPr sz="1100" b="1" i="0">
                <a:solidFill>
                  <a:srgbClr val="011F5B"/>
                </a:solidFill>
                <a:latin typeface="Calibri"/>
              </a:rPr>
              <a:t>ONE YEAR LATER</a:t>
            </a:r>
          </a:p>
        </p:txBody>
      </p:sp>
      <p:sp>
        <p:nvSpPr>
          <p:cNvPr id="505" name="Right Arrow 504"/>
          <p:cNvSpPr/>
          <p:nvPr/>
        </p:nvSpPr>
        <p:spPr>
          <a:xfrm>
            <a:off x="5138928" y="2331720"/>
            <a:ext cx="1883664" cy="713232"/>
          </a:xfrm>
          <a:prstGeom prst="rightArrow">
            <a:avLst/>
          </a:prstGeom>
          <a:solidFill>
            <a:srgbClr val="EAF0FB"/>
          </a:solidFill>
          <a:ln w="22225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6" name="Rounded Rectangle 505"/>
          <p:cNvSpPr/>
          <p:nvPr/>
        </p:nvSpPr>
        <p:spPr>
          <a:xfrm>
            <a:off x="5138928" y="3246120"/>
            <a:ext cx="1883664" cy="457200"/>
          </a:xfrm>
          <a:prstGeom prst="roundRect">
            <a:avLst>
              <a:gd name="adj" fmla="val 50000"/>
            </a:avLst>
          </a:prstGeom>
          <a:solidFill>
            <a:srgbClr val="DF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 i="0">
                <a:solidFill>
                  <a:srgbClr val="116B45"/>
                </a:solidFill>
                <a:latin typeface="Calibri"/>
              </a:rPr>
              <a:t>SUCCEEDED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4297680" cy="5074920"/>
          </a:xfrm>
          <a:prstGeom prst="rect">
            <a:avLst/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4297680" cy="438912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GRAYBRIDGE UNIVERSITY  ·  Department of Behavioral Science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106424"/>
            <a:ext cx="3712464" cy="264261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1F1F1F"/>
                </a:solidFill>
                <a:latin typeface="Calibri"/>
              </a:rPr>
              <a:t>To the Admissions Committee,</a:t>
            </a:r>
          </a:p>
          <a:p>
            <a:pPr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Calibri"/>
              </a:rPr>
              <a:t>I am pleased to recommend Nick Calder for admission to your doctoral program in organizational behavior. In my seminar and as a research assistant, Nick distinguished himself through careful analytical reasoning, dependable follow-through, and a mature willingness to revise his views when the evidence changed. He writes clearly, collaborates well, and consistently raises the quality of the work around him. I recommend him with enthusiasm.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4279392"/>
            <a:ext cx="3438144" cy="16459"/>
          </a:xfrm>
          <a:prstGeom prst="rect">
            <a:avLst/>
          </a:prstGeom>
          <a:solidFill>
            <a:srgbClr val="9AA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813816" y="4608576"/>
            <a:ext cx="1463040" cy="274320"/>
          </a:xfrm>
          <a:prstGeom prst="rect">
            <a:avLst/>
          </a:prstGeom>
          <a:solidFill>
            <a:srgbClr val="FCE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95528" y="4389120"/>
            <a:ext cx="3712464" cy="1143000"/>
          </a:xfrm>
          <a:prstGeom prst="rect">
            <a:avLst/>
          </a:prstGeom>
          <a:noFill/>
        </p:spPr>
        <p:txBody>
          <a:bodyPr wrap="square" lIns="45720" tIns="18288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1F1F1F"/>
                </a:solidFill>
                <a:latin typeface="Calibri"/>
              </a:rPr>
              <a:t>Sincerely,</a:t>
            </a:r>
          </a:p>
          <a:p>
            <a:r>
              <a:rPr sz="1300" b="1" i="1">
                <a:solidFill>
                  <a:srgbClr val="011F5B"/>
                </a:solidFill>
                <a:latin typeface="Calibri"/>
              </a:rPr>
              <a:t>Susan Keller</a:t>
            </a:r>
          </a:p>
          <a:p>
            <a:r>
              <a:rPr sz="1050" b="0" i="0">
                <a:solidFill>
                  <a:srgbClr val="4B5563"/>
                </a:solidFill>
                <a:latin typeface="Calibri"/>
              </a:rPr>
              <a:t>Professor, Department of Behavioral Science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7388352" y="502920"/>
            <a:ext cx="4297680" cy="5074920"/>
          </a:xfrm>
          <a:prstGeom prst="rect">
            <a:avLst/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388352" y="502920"/>
            <a:ext cx="4297680" cy="438912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GRAYBRIDGE UNIVERSITY  ·  Department of Behavioral Science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1106424"/>
            <a:ext cx="3712464" cy="264261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1F1F1F"/>
                </a:solidFill>
                <a:latin typeface="Calibri"/>
              </a:rPr>
              <a:t>To the Admissions Committee,</a:t>
            </a:r>
          </a:p>
          <a:p>
            <a:pPr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Calibri"/>
              </a:rPr>
              <a:t>I am pleased to recommend Jose Cervantez for admission to your doctoral program in organizational behavior. In my seminar and as a research assistant, Jose distinguished himself through careful analytical reasoning, dependable follow-through, and a mature willingness to revise his views when the evidence changed. He writes clearly, collaborates well, and consistently raises the quality of the work around him. I recommend him with enthusiasm.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4279392"/>
            <a:ext cx="3438144" cy="16459"/>
          </a:xfrm>
          <a:prstGeom prst="rect">
            <a:avLst/>
          </a:prstGeom>
          <a:solidFill>
            <a:srgbClr val="9AA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7699248" y="4608576"/>
            <a:ext cx="1463040" cy="274320"/>
          </a:xfrm>
          <a:prstGeom prst="rect">
            <a:avLst/>
          </a:prstGeom>
          <a:solidFill>
            <a:srgbClr val="FCE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680960" y="4389120"/>
            <a:ext cx="3712464" cy="1143000"/>
          </a:xfrm>
          <a:prstGeom prst="rect">
            <a:avLst/>
          </a:prstGeom>
          <a:noFill/>
        </p:spPr>
        <p:txBody>
          <a:bodyPr wrap="square" lIns="45720" tIns="18288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1F1F1F"/>
                </a:solidFill>
                <a:latin typeface="Calibri"/>
              </a:rPr>
              <a:t>Sincerely,</a:t>
            </a:r>
          </a:p>
          <a:p>
            <a:r>
              <a:rPr sz="1300" b="1" i="1">
                <a:solidFill>
                  <a:srgbClr val="011F5B"/>
                </a:solidFill>
                <a:latin typeface="Calibri"/>
              </a:rPr>
              <a:t>Susan Keller</a:t>
            </a:r>
          </a:p>
          <a:p>
            <a:r>
              <a:rPr sz="1050" b="0" i="0">
                <a:solidFill>
                  <a:srgbClr val="4B5563"/>
                </a:solidFill>
                <a:latin typeface="Calibri"/>
              </a:rPr>
              <a:t>Professor, Department of Behavioral Science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760720"/>
            <a:ext cx="10698480" cy="548640"/>
          </a:xfrm>
          <a:prstGeom prst="roundRect">
            <a:avLst>
              <a:gd name="adj" fmla="val 50000"/>
            </a:avLst>
          </a:prstGeom>
          <a:solidFill>
            <a:srgbClr val="EA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/>
          <a:lstStyle/>
          <a:p>
            <a:pPr algn="ctr"/>
            <a:r>
              <a:rPr sz="2200" b="1" i="0">
                <a:solidFill>
                  <a:srgbClr val="011F5B"/>
                </a:solidFill>
                <a:latin typeface="Calibri"/>
              </a:rPr>
              <a:t>Does one success buy Susan the same credibility it bought Robert?</a:t>
            </a:r>
          </a:p>
        </p:txBody>
      </p:sp>
      <p:sp>
        <p:nvSpPr>
          <p:cNvPr id="502" name="Slide Number Placeholder 3">
            <a:extLst>
              <a:ext uri="{FF2B5EF4-FFF2-40B4-BE49-F238E27FC236}">
                <a16:creationId xmlns:a16="http://schemas.microsoft.com/office/drawing/2014/main" id="{9910DD83-63EE-4A67-94DD-9BC741E19C9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8C1727D-8A3F-4222-A3E5-09914707AEC3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503" name="Rounded Rectangle 502"/>
          <p:cNvSpPr/>
          <p:nvPr/>
        </p:nvSpPr>
        <p:spPr>
          <a:xfrm>
            <a:off x="1965960" y="9144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YEAR 1</a:t>
            </a:r>
          </a:p>
        </p:txBody>
      </p:sp>
      <p:sp>
        <p:nvSpPr>
          <p:cNvPr id="504" name="Rounded Rectangle 503"/>
          <p:cNvSpPr/>
          <p:nvPr/>
        </p:nvSpPr>
        <p:spPr>
          <a:xfrm>
            <a:off x="8851392" y="9144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YEAR 2</a:t>
            </a:r>
          </a:p>
        </p:txBody>
      </p:sp>
      <p:sp>
        <p:nvSpPr>
          <p:cNvPr id="505" name="TextBox 504"/>
          <p:cNvSpPr txBox="1"/>
          <p:nvPr/>
        </p:nvSpPr>
        <p:spPr>
          <a:xfrm>
            <a:off x="5001768" y="1993392"/>
            <a:ext cx="2157984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/>
            <a:r>
              <a:rPr sz="1100" b="1" i="0">
                <a:solidFill>
                  <a:srgbClr val="011F5B"/>
                </a:solidFill>
                <a:latin typeface="Calibri"/>
              </a:rPr>
              <a:t>ONE YEAR LATER</a:t>
            </a:r>
          </a:p>
        </p:txBody>
      </p:sp>
      <p:sp>
        <p:nvSpPr>
          <p:cNvPr id="506" name="Right Arrow 505"/>
          <p:cNvSpPr/>
          <p:nvPr/>
        </p:nvSpPr>
        <p:spPr>
          <a:xfrm>
            <a:off x="5138928" y="2331720"/>
            <a:ext cx="1883664" cy="713232"/>
          </a:xfrm>
          <a:prstGeom prst="rightArrow">
            <a:avLst/>
          </a:prstGeom>
          <a:solidFill>
            <a:srgbClr val="EAF0FB"/>
          </a:solidFill>
          <a:ln w="22225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7" name="Rounded Rectangle 506"/>
          <p:cNvSpPr/>
          <p:nvPr/>
        </p:nvSpPr>
        <p:spPr>
          <a:xfrm>
            <a:off x="5138928" y="3246120"/>
            <a:ext cx="1883664" cy="457200"/>
          </a:xfrm>
          <a:prstGeom prst="roundRect">
            <a:avLst>
              <a:gd name="adj" fmla="val 50000"/>
            </a:avLst>
          </a:prstGeom>
          <a:solidFill>
            <a:srgbClr val="DF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 i="0">
                <a:solidFill>
                  <a:srgbClr val="116B45"/>
                </a:solidFill>
                <a:latin typeface="Calibri"/>
              </a:rPr>
              <a:t>SUCCEEDED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 dirty="0">
                <a:solidFill>
                  <a:srgbClr val="011F5B"/>
                </a:solidFill>
                <a:latin typeface="Arial"/>
              </a:rPr>
              <a:t>What is sponsorship?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471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i="0" dirty="0">
                <a:solidFill>
                  <a:srgbClr val="111827"/>
                </a:solidFill>
                <a:latin typeface="Arial"/>
              </a:rPr>
              <a:t>Sponsorship is support provided to influence other people's perceptions of a protégé's skills, abilities, performance, and potential — with the intention of helping the protégé in their career.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891835"/>
            <a:ext cx="10972800" cy="2354491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200" b="0" dirty="0">
                <a:solidFill>
                  <a:srgbClr val="111827"/>
                </a:solidFill>
                <a:latin typeface="Arial"/>
              </a:rPr>
              <a:t>•  Public advocacy and recommendations</a:t>
            </a:r>
          </a:p>
          <a:p>
            <a:pPr algn="l">
              <a:spcAft>
                <a:spcPts val="1400"/>
              </a:spcAft>
            </a:pPr>
            <a:r>
              <a:rPr sz="2200" b="0" dirty="0">
                <a:solidFill>
                  <a:srgbClr val="111827"/>
                </a:solidFill>
                <a:latin typeface="Arial"/>
              </a:rPr>
              <a:t>•  Endorsements to colleagues, clients, hiring committees</a:t>
            </a:r>
          </a:p>
          <a:p>
            <a:pPr algn="l">
              <a:spcAft>
                <a:spcPts val="1400"/>
              </a:spcAft>
            </a:pPr>
            <a:r>
              <a:rPr sz="2200" b="0" dirty="0">
                <a:solidFill>
                  <a:srgbClr val="111827"/>
                </a:solidFill>
                <a:latin typeface="Arial"/>
              </a:rPr>
              <a:t>•  Introductions to high-status others</a:t>
            </a:r>
          </a:p>
          <a:p>
            <a:pPr algn="l">
              <a:spcAft>
                <a:spcPts val="1400"/>
              </a:spcAft>
            </a:pPr>
            <a:r>
              <a:rPr sz="2200" b="0" dirty="0">
                <a:solidFill>
                  <a:srgbClr val="111827"/>
                </a:solidFill>
                <a:latin typeface="Arial"/>
              </a:rPr>
              <a:t>•  Vouching for skill, judgment, or fit</a:t>
            </a:r>
          </a:p>
        </p:txBody>
      </p:sp>
      <p:sp>
        <p:nvSpPr>
          <p:cNvPr id="201" name="Slide Number Placeholder 3">
            <a:extLst>
              <a:ext uri="{FF2B5EF4-FFF2-40B4-BE49-F238E27FC236}">
                <a16:creationId xmlns:a16="http://schemas.microsoft.com/office/drawing/2014/main" id="{2C1F1100-0B2F-4478-B42E-3A03F4C6745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DF99A4A-470F-4203-94F7-2F8E64E32661}" type="slidenum">
              <a:rPr lang="en-US" smtClean="0"/>
              <a:pPr/>
              <a:t>3</a:t>
            </a:fld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 dirty="0">
                <a:solidFill>
                  <a:srgbClr val="011F5B"/>
                </a:solidFill>
                <a:latin typeface="Arial"/>
              </a:rPr>
              <a:t>Sponsorship involves real risk for sponsors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80160"/>
            <a:ext cx="11247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1">
                <a:solidFill>
                  <a:srgbClr val="6B7280"/>
                </a:solidFill>
                <a:latin typeface="Arial"/>
              </a:rPr>
              <a:t>When a sponsor stakes their reputation on a protégé: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2148840"/>
            <a:ext cx="5212080" cy="3337560"/>
          </a:xfrm>
          <a:prstGeom prst="roundRect">
            <a:avLst/>
          </a:prstGeom>
          <a:solidFill>
            <a:srgbClr val="E0F2FE"/>
          </a:solidFill>
          <a:ln w="1905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64592" rtlCol="0" anchor="ctr"/>
          <a:lstStyle/>
          <a:p>
            <a:pPr algn="ctr">
              <a:spcAft>
                <a:spcPts val="1200"/>
              </a:spcAft>
            </a:pPr>
            <a:r>
              <a:rPr sz="2200" b="1" i="0" dirty="0">
                <a:solidFill>
                  <a:srgbClr val="011F5B"/>
                </a:solidFill>
                <a:latin typeface="Arial"/>
              </a:rPr>
              <a:t>When the protégé succeeds</a:t>
            </a:r>
          </a:p>
          <a:p>
            <a:pPr algn="l"/>
            <a:r>
              <a:rPr sz="600" b="0" i="0" dirty="0">
                <a:solidFill>
                  <a:srgbClr val="111827"/>
                </a:solidFill>
                <a:latin typeface="Arial"/>
              </a:rPr>
              <a:t> </a:t>
            </a:r>
          </a:p>
          <a:p>
            <a:pPr algn="ctr">
              <a:spcAft>
                <a:spcPts val="800"/>
              </a:spcAft>
            </a:pPr>
            <a:r>
              <a:rPr sz="1800" b="0" i="0" dirty="0">
                <a:solidFill>
                  <a:srgbClr val="111827"/>
                </a:solidFill>
                <a:latin typeface="Arial"/>
              </a:rPr>
              <a:t>→  Sponsor gains credibility</a:t>
            </a:r>
          </a:p>
          <a:p>
            <a:pPr algn="ctr">
              <a:spcAft>
                <a:spcPts val="800"/>
              </a:spcAft>
            </a:pPr>
            <a:r>
              <a:rPr sz="1800" b="0" i="0" dirty="0">
                <a:solidFill>
                  <a:srgbClr val="111827"/>
                </a:solidFill>
                <a:latin typeface="Arial"/>
              </a:rPr>
              <a:t>→  Reputation lifts with the protégé</a:t>
            </a:r>
          </a:p>
          <a:p>
            <a:pPr algn="ctr"/>
            <a:r>
              <a:rPr sz="1800" b="0" i="0" dirty="0">
                <a:solidFill>
                  <a:srgbClr val="111827"/>
                </a:solidFill>
                <a:latin typeface="Arial"/>
              </a:rPr>
              <a:t>→  Network ties strengthen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2148840"/>
            <a:ext cx="5212080" cy="3337560"/>
          </a:xfrm>
          <a:prstGeom prst="roundRect">
            <a:avLst/>
          </a:prstGeom>
          <a:solidFill>
            <a:srgbClr val="FDE2E2"/>
          </a:solidFill>
          <a:ln w="19050">
            <a:solidFill>
              <a:srgbClr val="9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64592" rtlCol="0" anchor="ctr"/>
          <a:lstStyle/>
          <a:p>
            <a:pPr algn="ctr">
              <a:spcAft>
                <a:spcPts val="1200"/>
              </a:spcAft>
            </a:pPr>
            <a:r>
              <a:rPr sz="2200" b="1" i="0" dirty="0">
                <a:solidFill>
                  <a:srgbClr val="990000"/>
                </a:solidFill>
                <a:latin typeface="Arial"/>
              </a:rPr>
              <a:t>When the protégé fails</a:t>
            </a:r>
          </a:p>
          <a:p>
            <a:pPr algn="l"/>
            <a:r>
              <a:rPr sz="600" b="0" i="0" dirty="0">
                <a:solidFill>
                  <a:srgbClr val="111827"/>
                </a:solidFill>
                <a:latin typeface="Arial"/>
              </a:rPr>
              <a:t> </a:t>
            </a:r>
          </a:p>
          <a:p>
            <a:pPr algn="ctr">
              <a:spcAft>
                <a:spcPts val="800"/>
              </a:spcAft>
            </a:pPr>
            <a:r>
              <a:rPr sz="1800" b="0" i="0" dirty="0">
                <a:solidFill>
                  <a:srgbClr val="111827"/>
                </a:solidFill>
                <a:latin typeface="Arial"/>
              </a:rPr>
              <a:t>→  Sponsor loses credibility</a:t>
            </a:r>
          </a:p>
          <a:p>
            <a:pPr algn="ctr">
              <a:spcAft>
                <a:spcPts val="800"/>
              </a:spcAft>
            </a:pPr>
            <a:r>
              <a:rPr sz="1800" b="0" i="0" dirty="0">
                <a:solidFill>
                  <a:srgbClr val="111827"/>
                </a:solidFill>
                <a:latin typeface="Arial"/>
              </a:rPr>
              <a:t>→  Future endorsements are discounted</a:t>
            </a:r>
          </a:p>
          <a:p>
            <a:pPr algn="ctr"/>
            <a:r>
              <a:rPr sz="1800" b="0" i="0" dirty="0">
                <a:solidFill>
                  <a:srgbClr val="111827"/>
                </a:solidFill>
                <a:latin typeface="Arial"/>
              </a:rPr>
              <a:t>→  Network ties may weaken</a:t>
            </a:r>
          </a:p>
        </p:txBody>
      </p:sp>
      <p:sp>
        <p:nvSpPr>
          <p:cNvPr id="202" name="Slide Number Placeholder 3">
            <a:extLst>
              <a:ext uri="{FF2B5EF4-FFF2-40B4-BE49-F238E27FC236}">
                <a16:creationId xmlns:a16="http://schemas.microsoft.com/office/drawing/2014/main" id="{C0B996CF-7452-49BF-B277-569111839CD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81F17C1-29F7-4E56-9601-0C8C99D8C01E}" type="slidenum">
              <a:rPr lang="en-US" smtClean="0"/>
              <a:pPr/>
              <a:t>4</a:t>
            </a:fld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Research questions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1120140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201168" rIns="182880" bIns="164592" rtlCol="0" anchor="ctr"/>
          <a:lstStyle/>
          <a:p>
            <a:r>
              <a:rPr sz="2200" b="1" dirty="0">
                <a:solidFill>
                  <a:srgbClr val="990000"/>
                </a:solidFill>
                <a:latin typeface="Arial"/>
              </a:rPr>
              <a:t>RQ1    </a:t>
            </a:r>
            <a:r>
              <a:rPr lang="en-US" sz="2200" b="1" dirty="0">
                <a:solidFill>
                  <a:srgbClr val="011F5B"/>
                </a:solidFill>
              </a:rPr>
              <a:t>Are male and female sponsors trusted equally before any outcome is observed?</a:t>
            </a:r>
            <a:endParaRPr sz="2200" b="1" dirty="0">
              <a:solidFill>
                <a:srgbClr val="011F5B"/>
              </a:solidFill>
              <a:latin typeface="Arial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502920" y="2971800"/>
            <a:ext cx="1120140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201168" rIns="182880" bIns="164592" rtlCol="0" anchor="ctr"/>
          <a:lstStyle/>
          <a:p>
            <a:r>
              <a:rPr sz="2200" b="1" dirty="0">
                <a:solidFill>
                  <a:srgbClr val="990000"/>
                </a:solidFill>
                <a:latin typeface="Arial"/>
              </a:rPr>
              <a:t>RQ2    </a:t>
            </a:r>
            <a:r>
              <a:rPr lang="en-US" sz="2200" b="1" dirty="0">
                <a:solidFill>
                  <a:srgbClr val="011F5B"/>
                </a:solidFill>
                <a:latin typeface="Arial"/>
              </a:rPr>
              <a:t>When a sponsor’s protégé succeeds or fails, does the sponsor’s gender shape how audiences react?</a:t>
            </a:r>
            <a:endParaRPr sz="2200" b="1" dirty="0">
              <a:solidFill>
                <a:srgbClr val="011F5B"/>
              </a:solidFill>
              <a:latin typeface="Arial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02920" y="4572000"/>
            <a:ext cx="1120140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201168" rIns="182880" bIns="164592" rtlCol="0" anchor="ctr"/>
          <a:lstStyle/>
          <a:p>
            <a:r>
              <a:rPr sz="2200" b="1" dirty="0">
                <a:solidFill>
                  <a:srgbClr val="990000"/>
                </a:solidFill>
                <a:latin typeface="Arial"/>
              </a:rPr>
              <a:t>RQ3    </a:t>
            </a:r>
            <a:r>
              <a:rPr lang="en-US" sz="2200" b="1" dirty="0">
                <a:solidFill>
                  <a:srgbClr val="011F5B"/>
                </a:solidFill>
                <a:latin typeface="Arial"/>
              </a:rPr>
              <a:t>Does it matter how confident the sponsor was when they made the endorsement?</a:t>
            </a:r>
          </a:p>
        </p:txBody>
      </p:sp>
      <p:sp>
        <p:nvSpPr>
          <p:cNvPr id="203" name="Slide Number Placeholder 3">
            <a:extLst>
              <a:ext uri="{FF2B5EF4-FFF2-40B4-BE49-F238E27FC236}">
                <a16:creationId xmlns:a16="http://schemas.microsoft.com/office/drawing/2014/main" id="{CB360B25-41EB-4CDC-B611-783C980A8F4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88AD538-F77B-44D6-BAE5-554C63FAB4BA}" type="slidenum">
              <a:rPr lang="en-US" smtClean="0"/>
              <a:pPr/>
              <a:t>5</a:t>
            </a:fld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Slide Number Placeholder 3">
            <a:extLst>
              <a:ext uri="{FF2B5EF4-FFF2-40B4-BE49-F238E27FC236}">
                <a16:creationId xmlns:a16="http://schemas.microsoft.com/office/drawing/2014/main" id="{E0E0B616-1893-4626-88F5-27D4B80A421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A7DE0CE-2F4B-41B4-9E6F-4E09BD8E348F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205" name="TextBox 204"/>
          <p:cNvSpPr txBox="1"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Three-stage lab experiment</a:t>
            </a:r>
          </a:p>
        </p:txBody>
      </p:sp>
      <p:sp>
        <p:nvSpPr>
          <p:cNvPr id="206" name="Rounded Rectangle 205"/>
          <p:cNvSpPr/>
          <p:nvPr/>
        </p:nvSpPr>
        <p:spPr>
          <a:xfrm>
            <a:off x="384047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E5EAF3"/>
          </a:solidFill>
          <a:ln w="4445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7" name="TextBox 206"/>
          <p:cNvSpPr txBox="1"/>
          <p:nvPr/>
        </p:nvSpPr>
        <p:spPr>
          <a:xfrm>
            <a:off x="612647" y="1691640"/>
            <a:ext cx="315468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Stage 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612647" y="2468880"/>
            <a:ext cx="315468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2200" b="1" i="0">
                <a:solidFill>
                  <a:srgbClr val="00143D"/>
                </a:solidFill>
                <a:latin typeface="Calibri"/>
              </a:rPr>
              <a:t>Protégé performance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612647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Real participants take three performance tasks (Barron et al., 2025). We use the posted scores to build candidate profiles.</a:t>
            </a:r>
          </a:p>
        </p:txBody>
      </p:sp>
      <p:sp>
        <p:nvSpPr>
          <p:cNvPr id="210" name="Rounded Rectangle 209"/>
          <p:cNvSpPr/>
          <p:nvPr/>
        </p:nvSpPr>
        <p:spPr>
          <a:xfrm>
            <a:off x="4288536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F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1" name="TextBox 210"/>
          <p:cNvSpPr txBox="1"/>
          <p:nvPr/>
        </p:nvSpPr>
        <p:spPr>
          <a:xfrm>
            <a:off x="4517136" y="1691640"/>
            <a:ext cx="315468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3200" b="1" i="0">
                <a:solidFill>
                  <a:srgbClr val="A0A8B8"/>
                </a:solidFill>
                <a:latin typeface="Calibri"/>
              </a:rPr>
              <a:t>Stage 2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4517136" y="2468880"/>
            <a:ext cx="315468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2200" b="1" i="0">
                <a:solidFill>
                  <a:srgbClr val="5B657A"/>
                </a:solidFill>
                <a:latin typeface="Calibri"/>
              </a:rPr>
              <a:t>Sponsor endorsements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4517136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A0A8B8"/>
                </a:solidFill>
                <a:latin typeface="Calibri"/>
              </a:rPr>
              <a:t>Real sponsors view candidate pairs and rate which one will perform better, and how confident they are.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8193024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F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5" name="TextBox 214"/>
          <p:cNvSpPr txBox="1"/>
          <p:nvPr/>
        </p:nvSpPr>
        <p:spPr>
          <a:xfrm>
            <a:off x="8421624" y="1691640"/>
            <a:ext cx="315468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3200" b="1" i="0">
                <a:solidFill>
                  <a:srgbClr val="A0A8B8"/>
                </a:solidFill>
                <a:latin typeface="Calibri"/>
              </a:rPr>
              <a:t>Stage 3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8421624" y="2468880"/>
            <a:ext cx="315468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2200" b="1" i="0">
                <a:solidFill>
                  <a:srgbClr val="5B657A"/>
                </a:solidFill>
                <a:latin typeface="Calibri"/>
              </a:rPr>
              <a:t>Audience evaluation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8421624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A0A8B8"/>
                </a:solidFill>
                <a:latin typeface="Calibri"/>
              </a:rPr>
              <a:t>Evaluators bet on a sponsor's endorsement, see the outcome, then bet on a second endorsement from the same sponsor.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Stage 1:  Where do the candidates come from?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8574"/>
            <a:ext cx="11247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 dirty="0">
                <a:solidFill>
                  <a:srgbClr val="6B7280"/>
                </a:solidFill>
                <a:latin typeface="Arial"/>
              </a:rPr>
              <a:t>Real participants completed three professional-ability tasks (Barron et al., 2025).</a:t>
            </a:r>
          </a:p>
        </p:txBody>
      </p:sp>
      <p:pic>
        <p:nvPicPr>
          <p:cNvPr id="4" name="Picture 3" descr="stage1_tasks_cropp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0891" y="1192894"/>
            <a:ext cx="8107266" cy="4729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17220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1">
                <a:solidFill>
                  <a:srgbClr val="6B7280"/>
                </a:solidFill>
                <a:latin typeface="Arial"/>
              </a:rPr>
              <a:t>Word search  ·  General-knowledge quiz  ·  Logical-reasoning (Raven's matrices)</a:t>
            </a:r>
          </a:p>
        </p:txBody>
      </p:sp>
      <p:sp>
        <p:nvSpPr>
          <p:cNvPr id="205" name="Slide Number Placeholder 3">
            <a:extLst>
              <a:ext uri="{FF2B5EF4-FFF2-40B4-BE49-F238E27FC236}">
                <a16:creationId xmlns:a16="http://schemas.microsoft.com/office/drawing/2014/main" id="{E5E9CEA3-2FB5-40FF-8728-CB6B8DBBAF2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F7F67-5F11-4B5B-A115-046EA0C21CC5}" type="slidenum">
              <a:rPr lang="en-US" smtClean="0"/>
              <a:pPr/>
              <a:t>7</a:t>
            </a:fld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Three-stage lab experiment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84047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F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2647" y="1691640"/>
            <a:ext cx="315468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3200" b="1" i="0">
                <a:solidFill>
                  <a:srgbClr val="A0A8B8"/>
                </a:solidFill>
                <a:latin typeface="Calibri"/>
              </a:rPr>
              <a:t>Stage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7" y="2468880"/>
            <a:ext cx="315468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2200" b="1" i="0">
                <a:solidFill>
                  <a:srgbClr val="5B657A"/>
                </a:solidFill>
                <a:latin typeface="Calibri"/>
              </a:rPr>
              <a:t>Protégé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7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A0A8B8"/>
                </a:solidFill>
                <a:latin typeface="Calibri"/>
              </a:rPr>
              <a:t>Real participants take three performance tasks (Barron et al., 2025). We use the posted scores to build candidate profiles.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8536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E5EAF3"/>
          </a:solidFill>
          <a:ln w="4445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517136" y="1691640"/>
            <a:ext cx="315468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Stage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17136" y="2468880"/>
            <a:ext cx="315468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2200" b="1" i="0">
                <a:solidFill>
                  <a:srgbClr val="00143D"/>
                </a:solidFill>
                <a:latin typeface="Calibri"/>
              </a:rPr>
              <a:t>Sponsor endorsements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Real sponsors view candidate pairs and rate which one will perform better, and how confident they are.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93024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F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421624" y="1691640"/>
            <a:ext cx="315468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3200" b="1" i="0">
                <a:solidFill>
                  <a:srgbClr val="A0A8B8"/>
                </a:solidFill>
                <a:latin typeface="Calibri"/>
              </a:rPr>
              <a:t>Stage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21624" y="2468880"/>
            <a:ext cx="315468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2200" b="1" i="0">
                <a:solidFill>
                  <a:srgbClr val="5B657A"/>
                </a:solidFill>
                <a:latin typeface="Calibri"/>
              </a:rPr>
              <a:t>Audience evaluation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21624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A0A8B8"/>
                </a:solidFill>
                <a:latin typeface="Calibri"/>
              </a:rPr>
              <a:t>Evaluators bet on a sponsor's endorsement, see the outcome, then bet on a second endorsement from the same sponsor.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Stage 2:  Real sponsors made real endorsements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874519"/>
            <a:ext cx="4572000" cy="2451953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 dirty="0">
                <a:solidFill>
                  <a:srgbClr val="111827"/>
                </a:solidFill>
                <a:latin typeface="Arial"/>
              </a:rPr>
              <a:t>•  Real sponsors  →  real endorsements</a:t>
            </a:r>
          </a:p>
          <a:p>
            <a:pPr algn="l">
              <a:spcAft>
                <a:spcPts val="1000"/>
              </a:spcAft>
            </a:pPr>
            <a:r>
              <a:rPr sz="1800" b="0" dirty="0">
                <a:solidFill>
                  <a:srgbClr val="111827"/>
                </a:solidFill>
                <a:latin typeface="Arial"/>
              </a:rPr>
              <a:t>•  Each sponsor sees 10 candidate pairs and makes 10 endorsements</a:t>
            </a:r>
          </a:p>
          <a:p>
            <a:pPr algn="l">
              <a:spcAft>
                <a:spcPts val="1000"/>
              </a:spcAft>
            </a:pPr>
            <a:r>
              <a:rPr sz="1800" b="0" dirty="0">
                <a:solidFill>
                  <a:srgbClr val="111827"/>
                </a:solidFill>
                <a:latin typeface="Arial"/>
              </a:rPr>
              <a:t>•  Sponsor moves a slider to express which candidate they favor and how confident they are</a:t>
            </a:r>
          </a:p>
          <a:p>
            <a:pPr algn="l">
              <a:spcAft>
                <a:spcPts val="1000"/>
              </a:spcAft>
            </a:pPr>
            <a:r>
              <a:rPr sz="1800" b="0" dirty="0">
                <a:solidFill>
                  <a:srgbClr val="111827"/>
                </a:solidFill>
                <a:latin typeface="Arial"/>
              </a:rPr>
              <a:t>•  Their sliders become the endorsements that Stage 3 evaluators see</a:t>
            </a:r>
          </a:p>
          <a:p>
            <a:pPr algn="l">
              <a:spcAft>
                <a:spcPts val="1000"/>
              </a:spcAft>
            </a:pPr>
            <a:r>
              <a:rPr sz="1800" b="0" dirty="0">
                <a:solidFill>
                  <a:srgbClr val="111827"/>
                </a:solidFill>
                <a:latin typeface="Arial"/>
              </a:rPr>
              <a:t>•  We sample sponsors across gender to populate every Stage 3 cell</a:t>
            </a:r>
          </a:p>
        </p:txBody>
      </p:sp>
      <p:pic>
        <p:nvPicPr>
          <p:cNvPr id="5" name="Picture 4" descr="stage2_candidate_screen.png"/>
          <p:cNvPicPr>
            <a:picLocks noChangeAspect="1"/>
          </p:cNvPicPr>
          <p:nvPr/>
        </p:nvPicPr>
        <p:blipFill>
          <a:blip r:embed="rId3"/>
          <a:srcRect r="14676"/>
          <a:stretch>
            <a:fillRect/>
          </a:stretch>
        </p:blipFill>
        <p:spPr>
          <a:xfrm>
            <a:off x="5253825" y="1600200"/>
            <a:ext cx="6355079" cy="4580644"/>
          </a:xfrm>
          <a:prstGeom prst="rect">
            <a:avLst/>
          </a:prstGeom>
        </p:spPr>
      </p:pic>
      <p:sp>
        <p:nvSpPr>
          <p:cNvPr id="206" name="Slide Number Placeholder 3">
            <a:extLst>
              <a:ext uri="{FF2B5EF4-FFF2-40B4-BE49-F238E27FC236}">
                <a16:creationId xmlns:a16="http://schemas.microsoft.com/office/drawing/2014/main" id="{E2A5B9A1-29AB-40F9-A389-D33CD2E213E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E0DC4AF-1C01-4380-8C98-CD7D0FABA51B}" type="slidenum">
              <a:rPr lang="en-US" smtClean="0"/>
              <a:pPr/>
              <a:t>8</a:t>
            </a:fld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E01CA0-C5D3-9BC4-6332-059F6F430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022A51-5408-42C4-EE93-20EF028FC3F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B78FF10-2160-4389-9669-EF3A0C6F12B1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Stage 2 incentive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78992"/>
            <a:ext cx="11155680" cy="5029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600">
                <a:solidFill>
                  <a:srgbClr val="1F2937"/>
                </a:solidFill>
                <a:latin typeface="Calibri"/>
              </a:rPr>
              <a:t>Each sponsor earns </a:t>
            </a:r>
            <a:r>
              <a:rPr sz="2600" b="1">
                <a:solidFill>
                  <a:srgbClr val="00143D"/>
                </a:solidFill>
                <a:latin typeface="Calibri"/>
              </a:rPr>
              <a:t>$1 flat</a:t>
            </a:r>
            <a:r>
              <a:rPr sz="2600">
                <a:solidFill>
                  <a:srgbClr val="1F2937"/>
                </a:solidFill>
                <a:latin typeface="Calibri"/>
              </a:rPr>
              <a:t> plus up to </a:t>
            </a:r>
            <a:r>
              <a:rPr sz="2600" b="1">
                <a:solidFill>
                  <a:srgbClr val="00143D"/>
                </a:solidFill>
                <a:latin typeface="Calibri"/>
              </a:rPr>
              <a:t>$3 bonus</a:t>
            </a:r>
            <a:r>
              <a:rPr sz="2600">
                <a:solidFill>
                  <a:srgbClr val="1F2937"/>
                </a:solidFill>
                <a:latin typeface="Calibri"/>
              </a:rPr>
              <a:t> per session.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27632"/>
            <a:ext cx="1115568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1500" i="1">
                <a:solidFill>
                  <a:srgbClr val="5B657A"/>
                </a:solidFill>
                <a:latin typeface="Calibri"/>
              </a:rPr>
              <a:t>The bonus is based on ONE randomly selected endorsement — paid only if the endorsed candidate actually scored higher, scaling with how much a downstream evaluator wagered on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304288"/>
            <a:ext cx="5349240" cy="841248"/>
          </a:xfrm>
          <a:prstGeom prst="rect">
            <a:avLst/>
          </a:prstGeom>
          <a:solidFill>
            <a:srgbClr val="FFFFFF"/>
          </a:solidFill>
          <a:ln w="25400">
            <a:solidFill>
              <a:srgbClr val="106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2100" b="0" i="0">
                <a:solidFill>
                  <a:srgbClr val="1F2937"/>
                </a:solidFill>
                <a:latin typeface="Calibri"/>
              </a:rPr>
              <a:t>If </a:t>
            </a:r>
            <a:r>
              <a:rPr sz="2100" b="1" i="0">
                <a:solidFill>
                  <a:srgbClr val="106B45"/>
                </a:solidFill>
                <a:latin typeface="Calibri"/>
              </a:rPr>
              <a:t>right </a:t>
            </a:r>
            <a:r>
              <a:rPr sz="2100" b="0" i="0">
                <a:solidFill>
                  <a:srgbClr val="1F2937"/>
                </a:solidFill>
                <a:latin typeface="Calibri"/>
              </a:rPr>
              <a:t>→  $3 × evaluator's wager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59" y="2304288"/>
            <a:ext cx="5349240" cy="841248"/>
          </a:xfrm>
          <a:prstGeom prst="rect">
            <a:avLst/>
          </a:prstGeom>
          <a:solidFill>
            <a:srgbClr val="FFFFFF"/>
          </a:solidFill>
          <a:ln w="25400">
            <a:solidFill>
              <a:srgbClr val="B121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2100" b="0" i="0">
                <a:solidFill>
                  <a:srgbClr val="1F2937"/>
                </a:solidFill>
                <a:latin typeface="Calibri"/>
              </a:rPr>
              <a:t>If </a:t>
            </a:r>
            <a:r>
              <a:rPr sz="2100" b="1" i="0">
                <a:solidFill>
                  <a:srgbClr val="B12121"/>
                </a:solidFill>
                <a:latin typeface="Calibri"/>
              </a:rPr>
              <a:t>wrong </a:t>
            </a:r>
            <a:r>
              <a:rPr sz="2100" b="0" i="0">
                <a:solidFill>
                  <a:srgbClr val="1F2937"/>
                </a:solidFill>
                <a:latin typeface="Calibri"/>
              </a:rPr>
              <a:t>→  no bonus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154680"/>
            <a:ext cx="1115568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300" b="0" i="1">
                <a:solidFill>
                  <a:srgbClr val="5B657A"/>
                </a:solidFill>
                <a:latin typeface="Calibri"/>
              </a:rPr>
              <a:t>evaluator wagers 50%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3520440"/>
            <a:ext cx="5788152" cy="201168"/>
          </a:xfrm>
          <a:prstGeom prst="rect">
            <a:avLst/>
          </a:prstGeom>
          <a:solidFill>
            <a:srgbClr val="EAF0FB"/>
          </a:solidFill>
          <a:ln w="9525">
            <a:solidFill>
              <a:srgbClr val="9AA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200400" y="3520440"/>
            <a:ext cx="2894076" cy="201168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5902452" y="3429000"/>
            <a:ext cx="384048" cy="384048"/>
          </a:xfrm>
          <a:prstGeom prst="ellipse">
            <a:avLst/>
          </a:prstGeom>
          <a:solidFill>
            <a:srgbClr val="FFFFFF"/>
          </a:solidFill>
          <a:ln w="3175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514600" y="3813048"/>
            <a:ext cx="64008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1200" b="0" i="0">
                <a:solidFill>
                  <a:srgbClr val="5B657A"/>
                </a:solidFill>
                <a:latin typeface="Calibri"/>
              </a:rPr>
              <a:t>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34272" y="3813048"/>
            <a:ext cx="7315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1200" b="0" i="0">
                <a:solidFill>
                  <a:srgbClr val="5B657A"/>
                </a:solidFill>
                <a:latin typeface="Calibri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160520"/>
            <a:ext cx="5349240" cy="7772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3200" b="1" i="0">
                <a:solidFill>
                  <a:srgbClr val="106B45"/>
                </a:solidFill>
                <a:latin typeface="Calibri"/>
              </a:rPr>
              <a:t>right:  $1.50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4160520"/>
            <a:ext cx="5349240" cy="7772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3200" b="1" i="0">
                <a:solidFill>
                  <a:srgbClr val="B12121"/>
                </a:solidFill>
                <a:latin typeface="Calibri"/>
              </a:rPr>
              <a:t>wrong:  $0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5074920"/>
            <a:ext cx="178308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1500" b="1" i="0">
                <a:solidFill>
                  <a:srgbClr val="5B657A"/>
                </a:solidFill>
                <a:latin typeface="Calibri"/>
              </a:rPr>
              <a:t>wager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5074920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1" i="0">
                <a:solidFill>
                  <a:srgbClr val="5B657A"/>
                </a:solidFill>
                <a:latin typeface="Calibri"/>
              </a:rPr>
              <a:t>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5074920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1" i="0">
                <a:solidFill>
                  <a:srgbClr val="5B657A"/>
                </a:solidFill>
                <a:latin typeface="Calibri"/>
              </a:rPr>
              <a:t>50%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5074920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1" i="0">
                <a:solidFill>
                  <a:srgbClr val="5B657A"/>
                </a:solidFill>
                <a:latin typeface="Calibri"/>
              </a:rPr>
              <a:t>100%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59" y="5367528"/>
            <a:ext cx="2331720" cy="658368"/>
          </a:xfrm>
          <a:prstGeom prst="rect">
            <a:avLst/>
          </a:prstGeom>
          <a:solidFill>
            <a:srgbClr val="DBE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2194560" y="5385816"/>
            <a:ext cx="178308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1500" b="1" i="0">
                <a:solidFill>
                  <a:srgbClr val="106B45"/>
                </a:solidFill>
                <a:latin typeface="Calibri"/>
              </a:rPr>
              <a:t>if right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5385816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59" y="5385816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$1.50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1080" y="5385816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$3.00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4560" y="5696712"/>
            <a:ext cx="178308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1500" b="1" i="0">
                <a:solidFill>
                  <a:srgbClr val="B12121"/>
                </a:solidFill>
                <a:latin typeface="Calibri"/>
              </a:rPr>
              <a:t>if wrong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77639" y="5696712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59" y="5696712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41080" y="5696712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2011680"/>
            <a:ext cx="11155680" cy="2560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200" b="1" i="1">
                <a:solidFill>
                  <a:srgbClr val="00143D"/>
                </a:solidFill>
                <a:latin typeface="Calibri"/>
              </a:rPr>
              <a:t>n = 200 sponsors  ·  10 endorsements each</a:t>
            </a:r>
          </a:p>
        </p:txBody>
      </p:sp>
    </p:spTree>
    <p:extLst>
      <p:ext uri="{BB962C8B-B14F-4D97-AF65-F5344CB8AC3E}">
        <p14:creationId xmlns:p14="http://schemas.microsoft.com/office/powerpoint/2010/main" val="2516457603"/>
      </p:ext>
    </p:extLst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Three-stage lab experiment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84047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F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2647" y="1691640"/>
            <a:ext cx="315468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3200" b="1" i="0">
                <a:solidFill>
                  <a:srgbClr val="A0A8B8"/>
                </a:solidFill>
                <a:latin typeface="Calibri"/>
              </a:rPr>
              <a:t>Stage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7" y="2468880"/>
            <a:ext cx="315468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2200" b="1" i="0">
                <a:solidFill>
                  <a:srgbClr val="5B657A"/>
                </a:solidFill>
                <a:latin typeface="Calibri"/>
              </a:rPr>
              <a:t>Protégé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7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A0A8B8"/>
                </a:solidFill>
                <a:latin typeface="Calibri"/>
              </a:rPr>
              <a:t>Real participants take three performance tasks (Barron et al., 2025). We use the posted scores to build candidate profiles.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8536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F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517136" y="1691640"/>
            <a:ext cx="315468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3200" b="1" i="0">
                <a:solidFill>
                  <a:srgbClr val="A0A8B8"/>
                </a:solidFill>
                <a:latin typeface="Calibri"/>
              </a:rPr>
              <a:t>Stage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17136" y="2468880"/>
            <a:ext cx="315468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2200" b="1" i="0">
                <a:solidFill>
                  <a:srgbClr val="5B657A"/>
                </a:solidFill>
                <a:latin typeface="Calibri"/>
              </a:rPr>
              <a:t>Sponsor endorsements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A0A8B8"/>
                </a:solidFill>
                <a:latin typeface="Calibri"/>
              </a:rPr>
              <a:t>Real sponsors view candidate pairs and rate which one will perform better, and how confident they are.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93024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E5EAF3"/>
          </a:solidFill>
          <a:ln w="4445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421624" y="1691640"/>
            <a:ext cx="315468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Stage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21624" y="2468880"/>
            <a:ext cx="315468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2200" b="1" i="0">
                <a:solidFill>
                  <a:srgbClr val="00143D"/>
                </a:solidFill>
                <a:latin typeface="Calibri"/>
              </a:rPr>
              <a:t>Audience evaluation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21624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Evaluators bet on a sponsor's endorsement, see the outcome, then bet on a second endorsement from the same sponsor.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3D3016-2531-3594-F5D4-DE681615029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4D4DDC8-3CB5-462D-8BA5-B5D26B7390EA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Stage 3 incentive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78992"/>
            <a:ext cx="11155680" cy="5029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600" b="0" i="0">
                <a:solidFill>
                  <a:srgbClr val="1F2937"/>
                </a:solidFill>
                <a:latin typeface="Calibri"/>
              </a:rPr>
              <a:t>For each decision, you start with a </a:t>
            </a:r>
            <a:r>
              <a:rPr sz="2600" b="1" i="0">
                <a:solidFill>
                  <a:srgbClr val="00143D"/>
                </a:solidFill>
                <a:latin typeface="Calibri"/>
              </a:rPr>
              <a:t>$0.50 bank.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27632"/>
            <a:ext cx="1115568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1800" b="0" i="1">
                <a:solidFill>
                  <a:srgbClr val="5B657A"/>
                </a:solidFill>
                <a:latin typeface="Calibri"/>
              </a:rPr>
              <a:t>You wager part of your bank on the endorser being right.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103120"/>
            <a:ext cx="5349240" cy="841248"/>
          </a:xfrm>
          <a:prstGeom prst="rect">
            <a:avLst/>
          </a:prstGeom>
          <a:solidFill>
            <a:srgbClr val="FFFFFF"/>
          </a:solidFill>
          <a:ln w="25400">
            <a:solidFill>
              <a:srgbClr val="106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2100" b="0" i="0">
                <a:solidFill>
                  <a:srgbClr val="1F2937"/>
                </a:solidFill>
                <a:latin typeface="Calibri"/>
              </a:rPr>
              <a:t>If </a:t>
            </a:r>
            <a:r>
              <a:rPr sz="2100" b="1" i="0">
                <a:solidFill>
                  <a:srgbClr val="106B45"/>
                </a:solidFill>
                <a:latin typeface="Calibri"/>
              </a:rPr>
              <a:t>right </a:t>
            </a:r>
            <a:r>
              <a:rPr sz="2100" b="0" i="0">
                <a:solidFill>
                  <a:srgbClr val="1F2937"/>
                </a:solidFill>
                <a:latin typeface="Calibri"/>
              </a:rPr>
              <a:t>→  bank </a:t>
            </a:r>
            <a:r>
              <a:rPr sz="2100" b="1" i="0">
                <a:solidFill>
                  <a:srgbClr val="106B45"/>
                </a:solidFill>
                <a:latin typeface="Calibri"/>
              </a:rPr>
              <a:t>+</a:t>
            </a:r>
            <a:r>
              <a:rPr sz="2100" b="0" i="0">
                <a:solidFill>
                  <a:srgbClr val="1F2937"/>
                </a:solidFill>
                <a:latin typeface="Calibri"/>
              </a:rPr>
              <a:t> your wager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59" y="2103120"/>
            <a:ext cx="5349240" cy="841248"/>
          </a:xfrm>
          <a:prstGeom prst="rect">
            <a:avLst/>
          </a:prstGeom>
          <a:solidFill>
            <a:srgbClr val="FFFFFF"/>
          </a:solidFill>
          <a:ln w="25400">
            <a:solidFill>
              <a:srgbClr val="B121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2100" b="0" i="0">
                <a:solidFill>
                  <a:srgbClr val="1F2937"/>
                </a:solidFill>
                <a:latin typeface="Calibri"/>
              </a:rPr>
              <a:t>If </a:t>
            </a:r>
            <a:r>
              <a:rPr sz="2100" b="1" i="0">
                <a:solidFill>
                  <a:srgbClr val="B12121"/>
                </a:solidFill>
                <a:latin typeface="Calibri"/>
              </a:rPr>
              <a:t>wrong </a:t>
            </a:r>
            <a:r>
              <a:rPr sz="2100" b="0" i="0">
                <a:solidFill>
                  <a:srgbClr val="1F2937"/>
                </a:solidFill>
                <a:latin typeface="Calibri"/>
              </a:rPr>
              <a:t>→  bank </a:t>
            </a:r>
            <a:r>
              <a:rPr sz="2100" b="1" i="0">
                <a:solidFill>
                  <a:srgbClr val="B12121"/>
                </a:solidFill>
                <a:latin typeface="Calibri"/>
              </a:rPr>
              <a:t>−</a:t>
            </a:r>
            <a:r>
              <a:rPr sz="2100" b="0" i="0">
                <a:solidFill>
                  <a:srgbClr val="1F2937"/>
                </a:solidFill>
                <a:latin typeface="Calibri"/>
              </a:rPr>
              <a:t> your wager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154680"/>
            <a:ext cx="1115568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300" b="0" i="1">
                <a:solidFill>
                  <a:srgbClr val="5B657A"/>
                </a:solidFill>
                <a:latin typeface="Calibri"/>
              </a:rPr>
              <a:t>evaluator wagers 50%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3520440"/>
            <a:ext cx="5788152" cy="201168"/>
          </a:xfrm>
          <a:prstGeom prst="rect">
            <a:avLst/>
          </a:prstGeom>
          <a:solidFill>
            <a:srgbClr val="EAF0FB"/>
          </a:solidFill>
          <a:ln w="9525">
            <a:solidFill>
              <a:srgbClr val="9AA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200400" y="3520440"/>
            <a:ext cx="2894076" cy="201168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5902452" y="3429000"/>
            <a:ext cx="384048" cy="384048"/>
          </a:xfrm>
          <a:prstGeom prst="ellipse">
            <a:avLst/>
          </a:prstGeom>
          <a:solidFill>
            <a:srgbClr val="FFFFFF"/>
          </a:solidFill>
          <a:ln w="3175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514600" y="3813048"/>
            <a:ext cx="64008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1200" b="0" i="0">
                <a:solidFill>
                  <a:srgbClr val="5B657A"/>
                </a:solidFill>
                <a:latin typeface="Calibri"/>
              </a:rPr>
              <a:t>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34272" y="3813048"/>
            <a:ext cx="7315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1200" b="0" i="0">
                <a:solidFill>
                  <a:srgbClr val="5B657A"/>
                </a:solidFill>
                <a:latin typeface="Calibri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160520"/>
            <a:ext cx="5349240" cy="7772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3200" b="1" i="0">
                <a:solidFill>
                  <a:srgbClr val="106B45"/>
                </a:solidFill>
                <a:latin typeface="Calibri"/>
              </a:rPr>
              <a:t>right:  $0.75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4160520"/>
            <a:ext cx="5349240" cy="7772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3200" b="1" i="0">
                <a:solidFill>
                  <a:srgbClr val="B12121"/>
                </a:solidFill>
                <a:latin typeface="Calibri"/>
              </a:rPr>
              <a:t>wrong:  $0.25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5074920"/>
            <a:ext cx="178308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1500" b="1" i="0">
                <a:solidFill>
                  <a:srgbClr val="5B657A"/>
                </a:solidFill>
                <a:latin typeface="Calibri"/>
              </a:rPr>
              <a:t>wager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5074920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1" i="0">
                <a:solidFill>
                  <a:srgbClr val="5B657A"/>
                </a:solidFill>
                <a:latin typeface="Calibri"/>
              </a:rPr>
              <a:t>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5074920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1" i="0">
                <a:solidFill>
                  <a:srgbClr val="5B657A"/>
                </a:solidFill>
                <a:latin typeface="Calibri"/>
              </a:rPr>
              <a:t>50%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5074920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1" i="0">
                <a:solidFill>
                  <a:srgbClr val="5B657A"/>
                </a:solidFill>
                <a:latin typeface="Calibri"/>
              </a:rPr>
              <a:t>100%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59" y="5367528"/>
            <a:ext cx="2331720" cy="658368"/>
          </a:xfrm>
          <a:prstGeom prst="rect">
            <a:avLst/>
          </a:prstGeom>
          <a:solidFill>
            <a:srgbClr val="DBE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2194560" y="5385816"/>
            <a:ext cx="178308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1500" b="1" i="0">
                <a:solidFill>
                  <a:srgbClr val="106B45"/>
                </a:solidFill>
                <a:latin typeface="Calibri"/>
              </a:rPr>
              <a:t>if right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5385816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$0.50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59" y="5385816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$0.75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1080" y="5385816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$1.00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4560" y="5696712"/>
            <a:ext cx="178308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1500" b="1" i="0">
                <a:solidFill>
                  <a:srgbClr val="B12121"/>
                </a:solidFill>
                <a:latin typeface="Calibri"/>
              </a:rPr>
              <a:t>if wrong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77639" y="5696712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$0.50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59" y="5696712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$0.25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41080" y="5696712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$0.00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099048"/>
            <a:ext cx="1115568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200" b="0" i="1">
                <a:solidFill>
                  <a:srgbClr val="5B657A"/>
                </a:solidFill>
                <a:latin typeface="Calibri"/>
              </a:rPr>
              <a:t>One randomly selected decision determines the bonus.</a:t>
            </a:r>
          </a:p>
        </p:txBody>
      </p:sp>
    </p:spTree>
    <p:extLst>
      <p:ext uri="{BB962C8B-B14F-4D97-AF65-F5344CB8AC3E}">
        <p14:creationId xmlns:p14="http://schemas.microsoft.com/office/powerpoint/2010/main" val="31036757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D88E67-56AB-B864-A4EF-C8F1CE3439E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A7B10F6-D787-491A-A00D-F0F7AA9E4495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Stage 3 setup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115568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1600" b="0" i="1">
                <a:solidFill>
                  <a:srgbClr val="5B657A"/>
                </a:solidFill>
                <a:latin typeface="Calibri"/>
              </a:rPr>
              <a:t>n = 403 Prolific evaluators (passed 5/5 comprehension checks)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17320"/>
            <a:ext cx="1115568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1800" b="1" i="0">
                <a:solidFill>
                  <a:srgbClr val="00143D"/>
                </a:solidFill>
                <a:latin typeface="Calibri"/>
              </a:rPr>
              <a:t>Each evaluator is randomly assigned to ONE sponsor and sees: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874519"/>
            <a:ext cx="10789920" cy="384048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 algn="l"/>
            <a:r>
              <a:rPr sz="1800" b="1" i="0">
                <a:solidFill>
                  <a:srgbClr val="011F5B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F2937"/>
                </a:solidFill>
                <a:latin typeface="Calibri"/>
              </a:rPr>
              <a:t>the sponsor's name + colored avatar (signals gender)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258568"/>
            <a:ext cx="10789920" cy="384048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 algn="l"/>
            <a:r>
              <a:rPr sz="1800" b="1" i="0">
                <a:solidFill>
                  <a:srgbClr val="011F5B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F2937"/>
                </a:solidFill>
                <a:latin typeface="Calibri"/>
              </a:rPr>
              <a:t>that sponsor's endorsement of one candidate from a pair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642615"/>
            <a:ext cx="10789920" cy="384048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 algn="l"/>
            <a:r>
              <a:rPr sz="1800" b="1" i="0">
                <a:solidFill>
                  <a:srgbClr val="011F5B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F2937"/>
                </a:solidFill>
                <a:latin typeface="Calibri"/>
              </a:rPr>
              <a:t>how confident the sponsor was on that endorsement (Strong / Weak)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026663"/>
            <a:ext cx="10789920" cy="384048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 algn="l"/>
            <a:r>
              <a:rPr sz="1800" b="1" i="0">
                <a:solidFill>
                  <a:srgbClr val="011F5B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F2937"/>
                </a:solidFill>
                <a:latin typeface="Calibri"/>
              </a:rPr>
              <a:t>a slider to wager part of a $0.50 bank on the endorser being right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502151"/>
            <a:ext cx="1115568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1500" b="0" i="1">
                <a:solidFill>
                  <a:srgbClr val="5B657A"/>
                </a:solidFill>
                <a:latin typeface="Calibri"/>
              </a:rPr>
              <a:t>Each evaluator sees TWO decisions back-to-back, with the SAME sponsor on different candidate pairs: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19756" y="3959352"/>
            <a:ext cx="1920240" cy="713232"/>
          </a:xfrm>
          <a:prstGeom prst="roundRect">
            <a:avLst>
              <a:gd name="adj" fmla="val 50000"/>
            </a:avLst>
          </a:prstGeom>
          <a:solidFill>
            <a:srgbClr val="EAF0FB"/>
          </a:solidFill>
          <a:ln w="2540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bIns="36576"/>
          <a:lstStyle/>
          <a:p>
            <a:pPr algn="ctr"/>
            <a:r>
              <a:rPr sz="1700" b="1" i="0">
                <a:solidFill>
                  <a:srgbClr val="00143D"/>
                </a:solidFill>
                <a:latin typeface="Calibri"/>
              </a:rPr>
              <a:t>First wager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34356" y="3959352"/>
            <a:ext cx="1920240" cy="713232"/>
          </a:xfrm>
          <a:prstGeom prst="roundRect">
            <a:avLst>
              <a:gd name="adj" fmla="val 50000"/>
            </a:avLst>
          </a:prstGeom>
          <a:solidFill>
            <a:srgbClr val="DFF4E8"/>
          </a:solidFill>
          <a:ln w="25400">
            <a:solidFill>
              <a:srgbClr val="106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bIns="36576"/>
          <a:lstStyle/>
          <a:p>
            <a:pPr algn="ctr"/>
            <a:r>
              <a:rPr sz="1700" b="1" i="0">
                <a:solidFill>
                  <a:srgbClr val="116B45"/>
                </a:solidFill>
                <a:latin typeface="Calibri"/>
              </a:rPr>
              <a:t>outcome revealed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48956" y="3959352"/>
            <a:ext cx="1920240" cy="713232"/>
          </a:xfrm>
          <a:prstGeom prst="roundRect">
            <a:avLst>
              <a:gd name="adj" fmla="val 50000"/>
            </a:avLst>
          </a:prstGeom>
          <a:solidFill>
            <a:srgbClr val="EAF0FB"/>
          </a:solidFill>
          <a:ln w="2540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bIns="36576"/>
          <a:lstStyle/>
          <a:p>
            <a:pPr algn="ctr"/>
            <a:r>
              <a:rPr sz="1700" b="1" i="0">
                <a:solidFill>
                  <a:srgbClr val="00143D"/>
                </a:solidFill>
                <a:latin typeface="Calibri"/>
              </a:rPr>
              <a:t>Second wager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585716" y="4224528"/>
            <a:ext cx="502920" cy="182880"/>
          </a:xfrm>
          <a:prstGeom prst="rightArrow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ight Arrow 16"/>
          <p:cNvSpPr/>
          <p:nvPr/>
        </p:nvSpPr>
        <p:spPr>
          <a:xfrm>
            <a:off x="7100316" y="4224528"/>
            <a:ext cx="502920" cy="182880"/>
          </a:xfrm>
          <a:prstGeom prst="rightArrow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2920" y="4946904"/>
            <a:ext cx="11155680" cy="5029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2400" b="1" i="0">
                <a:solidFill>
                  <a:srgbClr val="00143D"/>
                </a:solidFill>
                <a:latin typeface="Calibri"/>
              </a:rPr>
              <a:t>trust change  =  (Second wager)  −  (First wager)</a:t>
            </a:r>
          </a:p>
        </p:txBody>
      </p:sp>
    </p:spTree>
    <p:extLst>
      <p:ext uri="{BB962C8B-B14F-4D97-AF65-F5344CB8AC3E}">
        <p14:creationId xmlns:p14="http://schemas.microsoft.com/office/powerpoint/2010/main" val="8122630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984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 dirty="0">
                <a:solidFill>
                  <a:srgbClr val="011F5B"/>
                </a:solidFill>
                <a:latin typeface="Arial"/>
              </a:rPr>
              <a:t>Stage 3:  </a:t>
            </a:r>
            <a:r>
              <a:rPr lang="en-US" sz="3200" b="1" i="0" dirty="0">
                <a:solidFill>
                  <a:srgbClr val="011F5B"/>
                </a:solidFill>
                <a:latin typeface="Arial"/>
              </a:rPr>
              <a:t>Evaluators wager on sponsorship decisions from the previous stage</a:t>
            </a:r>
            <a:endParaRPr sz="3200" b="1" i="0" dirty="0">
              <a:solidFill>
                <a:srgbClr val="011F5B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600200"/>
            <a:ext cx="1124712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 dirty="0">
                <a:solidFill>
                  <a:srgbClr val="6B7280"/>
                </a:solidFill>
                <a:latin typeface="Arial"/>
              </a:rPr>
              <a:t>WE VARY THREE THINGS</a:t>
            </a:r>
          </a:p>
        </p:txBody>
      </p:sp>
      <p:sp>
        <p:nvSpPr>
          <p:cNvPr id="207" name="Slide Number Placeholder 3">
            <a:extLst>
              <a:ext uri="{FF2B5EF4-FFF2-40B4-BE49-F238E27FC236}">
                <a16:creationId xmlns:a16="http://schemas.microsoft.com/office/drawing/2014/main" id="{BA6A12A3-B136-4760-90AF-5858779DF38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DA0BC19-D747-4BF2-BE3E-BA37F6138FD8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208" name="Rounded Rectangle 207"/>
          <p:cNvSpPr/>
          <p:nvPr/>
        </p:nvSpPr>
        <p:spPr>
          <a:xfrm>
            <a:off x="393192" y="1783080"/>
            <a:ext cx="370332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9" name="Rounded Rectangle 208"/>
          <p:cNvSpPr/>
          <p:nvPr/>
        </p:nvSpPr>
        <p:spPr>
          <a:xfrm>
            <a:off x="4242816" y="1783080"/>
            <a:ext cx="370332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0" name="Rounded Rectangle 209"/>
          <p:cNvSpPr/>
          <p:nvPr/>
        </p:nvSpPr>
        <p:spPr>
          <a:xfrm>
            <a:off x="8092440" y="1783080"/>
            <a:ext cx="370332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1" name="TextBox 210"/>
          <p:cNvSpPr txBox="1"/>
          <p:nvPr/>
        </p:nvSpPr>
        <p:spPr>
          <a:xfrm>
            <a:off x="576072" y="1920240"/>
            <a:ext cx="333756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1800" b="1" i="0">
                <a:solidFill>
                  <a:srgbClr val="00143D"/>
                </a:solidFill>
                <a:latin typeface="Calibri"/>
              </a:rPr>
              <a:t>1.  Sponsor gender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576072" y="2377440"/>
            <a:ext cx="3337560" cy="9144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1050" b="0" i="1">
                <a:solidFill>
                  <a:srgbClr val="5B657A"/>
                </a:solidFill>
                <a:latin typeface="Calibri"/>
              </a:rPr>
              <a:t>The sponsor's first name + colored avatar signal their gender.</a:t>
            </a:r>
          </a:p>
        </p:txBody>
      </p:sp>
      <p:sp>
        <p:nvSpPr>
          <p:cNvPr id="213" name="Oval 212"/>
          <p:cNvSpPr/>
          <p:nvPr/>
        </p:nvSpPr>
        <p:spPr>
          <a:xfrm>
            <a:off x="667512" y="2971800"/>
            <a:ext cx="640080" cy="640080"/>
          </a:xfrm>
          <a:prstGeom prst="ellipse">
            <a:avLst/>
          </a:prstGeom>
          <a:solidFill>
            <a:srgbClr val="FCE7F3"/>
          </a:solidFill>
          <a:ln w="508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4" name="TextBox 213"/>
          <p:cNvSpPr txBox="1"/>
          <p:nvPr/>
        </p:nvSpPr>
        <p:spPr>
          <a:xfrm>
            <a:off x="1472184" y="3063240"/>
            <a:ext cx="164592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1800" b="1" i="0">
                <a:solidFill>
                  <a:srgbClr val="EC4899"/>
                </a:solidFill>
                <a:latin typeface="Calibri"/>
              </a:rPr>
              <a:t>Woman</a:t>
            </a:r>
          </a:p>
        </p:txBody>
      </p:sp>
      <p:sp>
        <p:nvSpPr>
          <p:cNvPr id="215" name="Oval 214"/>
          <p:cNvSpPr/>
          <p:nvPr/>
        </p:nvSpPr>
        <p:spPr>
          <a:xfrm>
            <a:off x="667512" y="4114800"/>
            <a:ext cx="640080" cy="640080"/>
          </a:xfrm>
          <a:prstGeom prst="ellipse">
            <a:avLst/>
          </a:prstGeom>
          <a:solidFill>
            <a:srgbClr val="DBEAFE"/>
          </a:solidFill>
          <a:ln w="508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6" name="TextBox 215"/>
          <p:cNvSpPr txBox="1"/>
          <p:nvPr/>
        </p:nvSpPr>
        <p:spPr>
          <a:xfrm>
            <a:off x="1472184" y="4206240"/>
            <a:ext cx="164592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1800" b="1" i="0">
                <a:solidFill>
                  <a:srgbClr val="3B82F6"/>
                </a:solidFill>
                <a:latin typeface="Calibri"/>
              </a:rPr>
              <a:t>Man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4425696" y="1920240"/>
            <a:ext cx="333756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1800" b="1" i="0">
                <a:solidFill>
                  <a:srgbClr val="00143D"/>
                </a:solidFill>
                <a:latin typeface="Calibri"/>
              </a:rPr>
              <a:t>2.  Endorsement strength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4425696" y="2377440"/>
            <a:ext cx="3337560" cy="9144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1050" b="0" i="1">
                <a:solidFill>
                  <a:srgbClr val="5B657A"/>
                </a:solidFill>
                <a:latin typeface="Calibri"/>
              </a:rPr>
              <a:t>Sponsors used a 0–100 slider to choose a candidate — pushed near one end = Strong (very sure), left near the middle = Weak (barely committed).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8275319" y="1920240"/>
            <a:ext cx="333756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1800" b="1" i="0">
                <a:solidFill>
                  <a:srgbClr val="00143D"/>
                </a:solidFill>
                <a:latin typeface="Calibri"/>
              </a:rPr>
              <a:t>3.  Outcome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8275319" y="2377440"/>
            <a:ext cx="3337560" cy="9144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1050" b="0" i="1">
                <a:solidFill>
                  <a:srgbClr val="5B657A"/>
                </a:solidFill>
                <a:latin typeface="Calibri"/>
              </a:rPr>
              <a:t>An endorsement was right if the endorsed candidate actually outscored the other on logical-reasoning.</a:t>
            </a:r>
          </a:p>
        </p:txBody>
      </p:sp>
      <p:sp>
        <p:nvSpPr>
          <p:cNvPr id="229" name="Rounded Rectangle 228"/>
          <p:cNvSpPr/>
          <p:nvPr/>
        </p:nvSpPr>
        <p:spPr>
          <a:xfrm>
            <a:off x="9029700" y="3063239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DF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 i="0">
                <a:solidFill>
                  <a:srgbClr val="116B45"/>
                </a:solidFill>
                <a:latin typeface="Calibri"/>
              </a:rPr>
              <a:t>CORRECT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8275319" y="3611879"/>
            <a:ext cx="333756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200" b="0" i="1">
                <a:solidFill>
                  <a:srgbClr val="5B657A"/>
                </a:solidFill>
                <a:latin typeface="Calibri"/>
              </a:rPr>
              <a:t>endorsement was right</a:t>
            </a:r>
          </a:p>
        </p:txBody>
      </p:sp>
      <p:sp>
        <p:nvSpPr>
          <p:cNvPr id="231" name="Rounded Rectangle 230"/>
          <p:cNvSpPr/>
          <p:nvPr/>
        </p:nvSpPr>
        <p:spPr>
          <a:xfrm>
            <a:off x="9029700" y="420624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D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 i="0">
                <a:solidFill>
                  <a:srgbClr val="B12121"/>
                </a:solidFill>
                <a:latin typeface="Calibri"/>
              </a:rPr>
              <a:t>WRONG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8275319" y="4754879"/>
            <a:ext cx="333756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200" b="0" i="1">
                <a:solidFill>
                  <a:srgbClr val="5B657A"/>
                </a:solidFill>
                <a:latin typeface="Calibri"/>
              </a:rPr>
              <a:t>endorsement was wrong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4535424" y="3273552"/>
            <a:ext cx="3118104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100" b="1" i="0">
                <a:solidFill>
                  <a:srgbClr val="5B657A"/>
                </a:solidFill>
                <a:latin typeface="Calibri"/>
              </a:rPr>
              <a:t>ENDORSER CONFIDENCE</a:t>
            </a:r>
          </a:p>
        </p:txBody>
      </p:sp>
      <p:sp>
        <p:nvSpPr>
          <p:cNvPr id="234" name="Rounded Rectangle 233"/>
          <p:cNvSpPr/>
          <p:nvPr/>
        </p:nvSpPr>
        <p:spPr>
          <a:xfrm>
            <a:off x="4535424" y="3584448"/>
            <a:ext cx="3118104" cy="201168"/>
          </a:xfrm>
          <a:prstGeom prst="roundRect">
            <a:avLst>
              <a:gd name="adj" fmla="val 50000"/>
            </a:avLst>
          </a:prstGeom>
          <a:solidFill>
            <a:srgbClr val="E5EAF3"/>
          </a:solidFill>
          <a:ln w="9525">
            <a:solidFill>
              <a:srgbClr val="9AA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5" name="Rounded Rectangle 234"/>
          <p:cNvSpPr/>
          <p:nvPr/>
        </p:nvSpPr>
        <p:spPr>
          <a:xfrm>
            <a:off x="4909596" y="3584448"/>
            <a:ext cx="342991" cy="201168"/>
          </a:xfrm>
          <a:prstGeom prst="roundRect">
            <a:avLst>
              <a:gd name="adj" fmla="val 50000"/>
            </a:avLst>
          </a:prstGeom>
          <a:solidFill>
            <a:srgbClr val="B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6" name="Rounded Rectangle 235"/>
          <p:cNvSpPr/>
          <p:nvPr/>
        </p:nvSpPr>
        <p:spPr>
          <a:xfrm>
            <a:off x="6936364" y="3584448"/>
            <a:ext cx="342991" cy="201168"/>
          </a:xfrm>
          <a:prstGeom prst="roundRect">
            <a:avLst>
              <a:gd name="adj" fmla="val 50000"/>
            </a:avLst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7" name="TextBox 236"/>
          <p:cNvSpPr txBox="1"/>
          <p:nvPr/>
        </p:nvSpPr>
        <p:spPr>
          <a:xfrm>
            <a:off x="4443984" y="3803904"/>
            <a:ext cx="32004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900" b="0" i="0">
                <a:solidFill>
                  <a:srgbClr val="5B657A"/>
                </a:solidFill>
                <a:latin typeface="Calibri"/>
              </a:rPr>
              <a:t>0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424928" y="3803904"/>
            <a:ext cx="32004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900" b="0" i="0">
                <a:solidFill>
                  <a:srgbClr val="5B657A"/>
                </a:solidFill>
                <a:latin typeface="Calibri"/>
              </a:rPr>
              <a:t>100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4555312" y="4005072"/>
            <a:ext cx="105156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1" i="0">
                <a:solidFill>
                  <a:srgbClr val="B12121"/>
                </a:solidFill>
                <a:latin typeface="Calibri"/>
              </a:rPr>
              <a:t>Weak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4555312" y="4261104"/>
            <a:ext cx="1051560" cy="23774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100" b="0" i="1">
                <a:solidFill>
                  <a:srgbClr val="5B657A"/>
                </a:solidFill>
                <a:latin typeface="Calibri"/>
              </a:rPr>
              <a:t>12–23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6582079" y="4005072"/>
            <a:ext cx="105156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1" i="0">
                <a:solidFill>
                  <a:srgbClr val="00143D"/>
                </a:solidFill>
                <a:latin typeface="Calibri"/>
              </a:rPr>
              <a:t>Strong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6582079" y="4261104"/>
            <a:ext cx="1051560" cy="23774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100" b="0" i="1">
                <a:solidFill>
                  <a:srgbClr val="5B657A"/>
                </a:solidFill>
                <a:latin typeface="Calibri"/>
              </a:rPr>
              <a:t>77–88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11F5B"/>
                </a:solidFill>
                <a:latin typeface="Arial"/>
              </a:rPr>
              <a:t>Step 1:  Initial wager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247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Arial"/>
              </a:rPr>
              <a:t>An evaluator sees one sponsor's confident endorsement and bets a fraction of their $0.50 bank.</a:t>
            </a:r>
          </a:p>
        </p:txBody>
      </p:sp>
      <p:sp>
        <p:nvSpPr>
          <p:cNvPr id="208" name="Slide Number Placeholder 3">
            <a:extLst>
              <a:ext uri="{FF2B5EF4-FFF2-40B4-BE49-F238E27FC236}">
                <a16:creationId xmlns:a16="http://schemas.microsoft.com/office/drawing/2014/main" id="{8D05B4F1-FC0E-4B35-B1ED-C478513F849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C039CF3-F676-4ABB-AB5D-181C9A12C2F1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209" name="Picture 208" descr="W_correct_strong_d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127" y="1417320"/>
            <a:ext cx="11521440" cy="4358109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11F5B"/>
                </a:solidFill>
                <a:latin typeface="Arial"/>
              </a:rPr>
              <a:t>Step 2:  Outcome reveal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247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Arial"/>
              </a:rPr>
              <a:t>The endorser was CORRECT — the evaluator's bank goes up.  (We also run a 'wrong' variant.)</a:t>
            </a:r>
          </a:p>
        </p:txBody>
      </p:sp>
      <p:sp>
        <p:nvSpPr>
          <p:cNvPr id="209" name="Slide Number Placeholder 3">
            <a:extLst>
              <a:ext uri="{FF2B5EF4-FFF2-40B4-BE49-F238E27FC236}">
                <a16:creationId xmlns:a16="http://schemas.microsoft.com/office/drawing/2014/main" id="{297B77C9-43B3-46C1-996A-821C66E057C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32AE8C2-DFC8-4962-A512-91142A2F63A4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210" name="Picture 209" descr="W_correct_strong_d2_corr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127" y="1417320"/>
            <a:ext cx="11521440" cy="4416552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11F5B"/>
                </a:solidFill>
                <a:latin typeface="Arial"/>
              </a:rPr>
              <a:t>Step 3:  Second wager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247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Arial"/>
              </a:rPr>
              <a:t>The same sponsor, a different candidate pair.  How much does the evaluator wager now?</a:t>
            </a:r>
          </a:p>
        </p:txBody>
      </p:sp>
      <p:sp>
        <p:nvSpPr>
          <p:cNvPr id="210" name="Slide Number Placeholder 3">
            <a:extLst>
              <a:ext uri="{FF2B5EF4-FFF2-40B4-BE49-F238E27FC236}">
                <a16:creationId xmlns:a16="http://schemas.microsoft.com/office/drawing/2014/main" id="{C53DC1F7-5FD6-425C-9CF0-1889CF282E1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5D95FE1-4089-45B4-A36C-0256011A0793}" type="slidenum">
              <a:rPr lang="en-US" smtClean="0"/>
              <a:pPr/>
              <a:t>15</a:t>
            </a:fld>
            <a:endParaRPr lang="en-US" dirty="0"/>
          </a:p>
        </p:txBody>
      </p:sp>
      <p:pic>
        <p:nvPicPr>
          <p:cNvPr id="211" name="Picture 210" descr="W_correct_strong_d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127" y="1417320"/>
            <a:ext cx="11521440" cy="4358109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69494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 dirty="0">
                <a:solidFill>
                  <a:srgbClr val="011F5B"/>
                </a:solidFill>
                <a:latin typeface="Arial"/>
              </a:rPr>
              <a:t>RQ1  —  How much did evaluators wager on the first decision?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579815" y="274320"/>
            <a:ext cx="3200400" cy="1325880"/>
          </a:xfrm>
          <a:prstGeom prst="roundRect">
            <a:avLst>
              <a:gd name="adj" fmla="val 18000"/>
            </a:avLst>
          </a:prstGeom>
          <a:solidFill>
            <a:srgbClr val="FAFB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182880" bIns="91440" rtlCol="0" anchor="ctr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11F5B"/>
                </a:solidFill>
                <a:latin typeface="Arial"/>
              </a:rPr>
              <a:t>b gender  </a:t>
            </a:r>
            <a:r>
              <a:rPr sz="1700" b="1">
                <a:solidFill>
                  <a:srgbClr val="011F5B"/>
                </a:solidFill>
                <a:latin typeface="Arial"/>
              </a:rPr>
              <a:t>-1.06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111827"/>
                </a:solidFill>
                <a:latin typeface="Arial"/>
              </a:rPr>
              <a:t>p  </a:t>
            </a:r>
            <a:r>
              <a:rPr sz="1700" b="1">
                <a:solidFill>
                  <a:srgbClr val="111827"/>
                </a:solidFill>
                <a:latin typeface="Arial"/>
              </a:rPr>
              <a:t>= .812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6B7280"/>
                </a:solidFill>
                <a:latin typeface="Arial"/>
              </a:rPr>
              <a:t>   </a:t>
            </a:r>
            <a:r>
              <a:rPr sz="1400" b="1">
                <a:solidFill>
                  <a:srgbClr val="6B7280"/>
                </a:solidFill>
                <a:latin typeface="Arial"/>
              </a:rPr>
              <a:t>no gender effect</a:t>
            </a:r>
          </a:p>
        </p:txBody>
      </p:sp>
      <p:sp>
        <p:nvSpPr>
          <p:cNvPr id="214" name="Slide Number Placeholder 3">
            <a:extLst>
              <a:ext uri="{FF2B5EF4-FFF2-40B4-BE49-F238E27FC236}">
                <a16:creationId xmlns:a16="http://schemas.microsoft.com/office/drawing/2014/main" id="{FC142386-DEDB-4088-90EC-5A012844630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152DB2A-018C-4FE0-9B70-C71C0852F319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215" name="TextBox 214"/>
          <p:cNvSpPr txBox="1"/>
          <p:nvPr/>
        </p:nvSpPr>
        <p:spPr>
          <a:xfrm>
            <a:off x="274320" y="1600200"/>
            <a:ext cx="3840480" cy="2560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300" b="1" i="0">
                <a:solidFill>
                  <a:srgbClr val="5B657A"/>
                </a:solidFill>
                <a:latin typeface="Calibri"/>
              </a:rPr>
              <a:t>OVERALL</a:t>
            </a:r>
          </a:p>
        </p:txBody>
      </p:sp>
      <p:pic>
        <p:nvPicPr>
          <p:cNvPr id="216" name="Picture 215" descr="rq1_overal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920240"/>
            <a:ext cx="3474720" cy="4480560"/>
          </a:xfrm>
          <a:prstGeom prst="rect">
            <a:avLst/>
          </a:prstGeom>
        </p:spPr>
      </p:pic>
      <p:sp>
        <p:nvSpPr>
          <p:cNvPr id="217" name="TextBox 216"/>
          <p:cNvSpPr txBox="1"/>
          <p:nvPr/>
        </p:nvSpPr>
        <p:spPr>
          <a:xfrm>
            <a:off x="4389120" y="1600200"/>
            <a:ext cx="7589520" cy="2560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300" b="1" i="0">
                <a:solidFill>
                  <a:srgbClr val="5B657A"/>
                </a:solidFill>
                <a:latin typeface="Calibri"/>
              </a:rPr>
              <a:t>SAME DATA  ·  SPLIT BY SPONSOR GENDER</a:t>
            </a:r>
          </a:p>
        </p:txBody>
      </p:sp>
      <p:pic>
        <p:nvPicPr>
          <p:cNvPr id="218" name="Picture 21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1920240"/>
            <a:ext cx="781812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69494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011F5B"/>
                </a:solidFill>
                <a:latin typeface="Arial"/>
              </a:rPr>
              <a:t>RQ2  —  How much did one outcome change evaluator wagers?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579815" y="274320"/>
            <a:ext cx="3200400" cy="1325880"/>
          </a:xfrm>
          <a:prstGeom prst="roundRect">
            <a:avLst>
              <a:gd name="adj" fmla="val 18000"/>
            </a:avLst>
          </a:prstGeom>
          <a:solidFill>
            <a:srgbClr val="FAFB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182880" bIns="91440" rtlCol="0" anchor="ctr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11F5B"/>
                </a:solidFill>
                <a:latin typeface="Arial"/>
              </a:rPr>
              <a:t>Δ Male  </a:t>
            </a:r>
            <a:r>
              <a:rPr sz="1700" b="1">
                <a:solidFill>
                  <a:srgbClr val="011F5B"/>
                </a:solidFill>
                <a:latin typeface="Arial"/>
              </a:rPr>
              <a:t>+15.0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990000"/>
                </a:solidFill>
                <a:latin typeface="Arial"/>
              </a:rPr>
              <a:t>Δ Female  </a:t>
            </a:r>
            <a:r>
              <a:rPr sz="1700" b="1">
                <a:solidFill>
                  <a:srgbClr val="990000"/>
                </a:solidFill>
                <a:latin typeface="Arial"/>
              </a:rPr>
              <a:t>+4.3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b  </a:t>
            </a:r>
            <a:r>
              <a:rPr sz="1400" b="1">
                <a:solidFill>
                  <a:srgbClr val="111827"/>
                </a:solidFill>
                <a:latin typeface="Arial"/>
              </a:rPr>
              <a:t>-11.60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p  </a:t>
            </a:r>
            <a:r>
              <a:rPr sz="1400" b="1">
                <a:solidFill>
                  <a:srgbClr val="111827"/>
                </a:solidFill>
                <a:latin typeface="Arial"/>
              </a:rPr>
              <a:t>= .062</a:t>
            </a:r>
          </a:p>
        </p:txBody>
      </p:sp>
      <p:sp>
        <p:nvSpPr>
          <p:cNvPr id="211" name="Slide Number Placeholder 3">
            <a:extLst>
              <a:ext uri="{FF2B5EF4-FFF2-40B4-BE49-F238E27FC236}">
                <a16:creationId xmlns:a16="http://schemas.microsoft.com/office/drawing/2014/main" id="{29F8E95F-F92A-4D2C-BA95-C7E10742A51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9AB970C-8672-4988-8838-61247889C57C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F572ACD-6285-FBFE-44E4-6E94B4992440}"/>
              </a:ext>
            </a:extLst>
          </p:cNvPr>
          <p:cNvSpPr/>
          <p:nvPr/>
        </p:nvSpPr>
        <p:spPr>
          <a:xfrm>
            <a:off x="11542356" y="2378765"/>
            <a:ext cx="497364" cy="398227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2" name="Picture 211" descr="rq1_gender_x_outco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" y="1645920"/>
            <a:ext cx="12006072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697480" y="228600"/>
            <a:ext cx="57607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 dirty="0">
                <a:solidFill>
                  <a:srgbClr val="011F5B"/>
                </a:solidFill>
                <a:latin typeface="Arial"/>
              </a:rPr>
              <a:t>RQ3  —  Strong endorsements: how did one outcome shift wagers?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79815" y="274320"/>
            <a:ext cx="3200400" cy="1325880"/>
          </a:xfrm>
          <a:prstGeom prst="roundRect">
            <a:avLst>
              <a:gd name="adj" fmla="val 18000"/>
            </a:avLst>
          </a:prstGeom>
          <a:solidFill>
            <a:srgbClr val="FAFB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182880" bIns="91440" rtlCol="0" anchor="ctr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11F5B"/>
                </a:solidFill>
                <a:latin typeface="Arial"/>
              </a:rPr>
              <a:t>Δ Male  </a:t>
            </a:r>
            <a:r>
              <a:rPr sz="1700" b="1">
                <a:solidFill>
                  <a:srgbClr val="011F5B"/>
                </a:solidFill>
                <a:latin typeface="Arial"/>
              </a:rPr>
              <a:t>+16.8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990000"/>
                </a:solidFill>
                <a:latin typeface="Arial"/>
              </a:rPr>
              <a:t>Δ Female  </a:t>
            </a:r>
            <a:r>
              <a:rPr sz="1700" b="1">
                <a:solidFill>
                  <a:srgbClr val="990000"/>
                </a:solidFill>
                <a:latin typeface="Arial"/>
              </a:rPr>
              <a:t>+6.0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b  </a:t>
            </a:r>
            <a:r>
              <a:rPr sz="1400" b="1">
                <a:solidFill>
                  <a:srgbClr val="111827"/>
                </a:solidFill>
                <a:latin typeface="Arial"/>
              </a:rPr>
              <a:t>-13.01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p  </a:t>
            </a:r>
            <a:r>
              <a:rPr sz="1400" b="1">
                <a:solidFill>
                  <a:srgbClr val="111827"/>
                </a:solidFill>
                <a:latin typeface="Arial"/>
              </a:rPr>
              <a:t>= .113</a:t>
            </a:r>
          </a:p>
        </p:txBody>
      </p:sp>
      <p:sp>
        <p:nvSpPr>
          <p:cNvPr id="212" name="Slide Number Placeholder 3">
            <a:extLst>
              <a:ext uri="{FF2B5EF4-FFF2-40B4-BE49-F238E27FC236}">
                <a16:creationId xmlns:a16="http://schemas.microsoft.com/office/drawing/2014/main" id="{85F90AF4-29B7-4FED-BD53-B1D1B7325F9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36629C-C071-45B7-8387-2682D7526E9A}" type="slidenum">
              <a:rPr lang="en-US" smtClean="0"/>
              <a:pPr/>
              <a:t>17</a:t>
            </a:fld>
            <a:endParaRPr lang="en-US" dirty="0"/>
          </a:p>
        </p:txBody>
      </p:sp>
      <p:pic>
        <p:nvPicPr>
          <p:cNvPr id="213" name="Picture 212" descr="rq2_strong_onl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" y="1645920"/>
            <a:ext cx="12006072" cy="4800600"/>
          </a:xfrm>
          <a:prstGeom prst="rect">
            <a:avLst/>
          </a:prstGeom>
        </p:spPr>
      </p:pic>
      <p:sp>
        <p:nvSpPr>
          <p:cNvPr id="214" name="Rounded Rectangle 213"/>
          <p:cNvSpPr/>
          <p:nvPr/>
        </p:nvSpPr>
        <p:spPr>
          <a:xfrm>
            <a:off x="502920" y="228600"/>
            <a:ext cx="210312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5" name="TextBox 214"/>
          <p:cNvSpPr txBox="1"/>
          <p:nvPr/>
        </p:nvSpPr>
        <p:spPr>
          <a:xfrm>
            <a:off x="612648" y="301752"/>
            <a:ext cx="1883663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900" b="1" i="0">
                <a:solidFill>
                  <a:srgbClr val="5B657A"/>
                </a:solidFill>
                <a:latin typeface="Calibri"/>
              </a:rPr>
              <a:t>ENDORSER CONFIDENCE</a:t>
            </a:r>
          </a:p>
        </p:txBody>
      </p:sp>
      <p:sp>
        <p:nvSpPr>
          <p:cNvPr id="216" name="Rounded Rectangle 215"/>
          <p:cNvSpPr/>
          <p:nvPr/>
        </p:nvSpPr>
        <p:spPr>
          <a:xfrm>
            <a:off x="612648" y="612648"/>
            <a:ext cx="1883663" cy="201168"/>
          </a:xfrm>
          <a:prstGeom prst="roundRect">
            <a:avLst>
              <a:gd name="adj" fmla="val 50000"/>
            </a:avLst>
          </a:prstGeom>
          <a:solidFill>
            <a:srgbClr val="E5EAF3"/>
          </a:solidFill>
          <a:ln w="9525">
            <a:solidFill>
              <a:srgbClr val="9AA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7" name="Rounded Rectangle 216"/>
          <p:cNvSpPr/>
          <p:nvPr/>
        </p:nvSpPr>
        <p:spPr>
          <a:xfrm>
            <a:off x="838687" y="612648"/>
            <a:ext cx="207203" cy="201168"/>
          </a:xfrm>
          <a:prstGeom prst="roundRect">
            <a:avLst>
              <a:gd name="adj" fmla="val 50000"/>
            </a:avLst>
          </a:prstGeom>
          <a:solidFill>
            <a:srgbClr val="B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8" name="Rounded Rectangle 217"/>
          <p:cNvSpPr/>
          <p:nvPr/>
        </p:nvSpPr>
        <p:spPr>
          <a:xfrm>
            <a:off x="2063069" y="612648"/>
            <a:ext cx="207203" cy="201168"/>
          </a:xfrm>
          <a:prstGeom prst="roundRect">
            <a:avLst>
              <a:gd name="adj" fmla="val 50000"/>
            </a:avLst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9" name="TextBox 218"/>
          <p:cNvSpPr txBox="1"/>
          <p:nvPr/>
        </p:nvSpPr>
        <p:spPr>
          <a:xfrm>
            <a:off x="521208" y="832104"/>
            <a:ext cx="32004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900" b="0" i="0">
                <a:solidFill>
                  <a:srgbClr val="5B657A"/>
                </a:solidFill>
                <a:latin typeface="Calibri"/>
              </a:rPr>
              <a:t>0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2267711" y="832104"/>
            <a:ext cx="32004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900" b="0" i="0">
                <a:solidFill>
                  <a:srgbClr val="5B657A"/>
                </a:solidFill>
                <a:latin typeface="Calibri"/>
              </a:rPr>
              <a:t>100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416509" y="1033272"/>
            <a:ext cx="105156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200" b="1" i="0">
                <a:solidFill>
                  <a:srgbClr val="B12121"/>
                </a:solidFill>
                <a:latin typeface="Calibri"/>
              </a:rPr>
              <a:t>Weak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416509" y="1289304"/>
            <a:ext cx="1051560" cy="23774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900" b="0" i="1">
                <a:solidFill>
                  <a:srgbClr val="5B657A"/>
                </a:solidFill>
                <a:latin typeface="Calibri"/>
              </a:rPr>
              <a:t>12–23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1640890" y="1033272"/>
            <a:ext cx="105156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200" b="1" i="0">
                <a:solidFill>
                  <a:srgbClr val="00143D"/>
                </a:solidFill>
                <a:latin typeface="Calibri"/>
              </a:rPr>
              <a:t>Strong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1640890" y="1289304"/>
            <a:ext cx="1051560" cy="23774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900" b="0" i="1">
                <a:solidFill>
                  <a:srgbClr val="5B657A"/>
                </a:solidFill>
                <a:latin typeface="Calibri"/>
              </a:rPr>
              <a:t>77–88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697480" y="228600"/>
            <a:ext cx="57607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011F5B"/>
                </a:solidFill>
                <a:latin typeface="Arial"/>
              </a:rPr>
              <a:t>RQ3  —  Weak endorsements: how did one outcome shift wagers?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79815" y="274320"/>
            <a:ext cx="3200400" cy="1325880"/>
          </a:xfrm>
          <a:prstGeom prst="roundRect">
            <a:avLst>
              <a:gd name="adj" fmla="val 18000"/>
            </a:avLst>
          </a:prstGeom>
          <a:solidFill>
            <a:srgbClr val="FAFB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182880" bIns="91440" rtlCol="0" anchor="ctr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11F5B"/>
                </a:solidFill>
                <a:latin typeface="Arial"/>
              </a:rPr>
              <a:t>Δ Male  </a:t>
            </a:r>
            <a:r>
              <a:rPr sz="1700" b="1">
                <a:solidFill>
                  <a:srgbClr val="011F5B"/>
                </a:solidFill>
                <a:latin typeface="Arial"/>
              </a:rPr>
              <a:t>+12.6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990000"/>
                </a:solidFill>
                <a:latin typeface="Arial"/>
              </a:rPr>
              <a:t>Δ Female  </a:t>
            </a:r>
            <a:r>
              <a:rPr sz="1700" b="1">
                <a:solidFill>
                  <a:srgbClr val="990000"/>
                </a:solidFill>
                <a:latin typeface="Arial"/>
              </a:rPr>
              <a:t>+3.4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b  </a:t>
            </a:r>
            <a:r>
              <a:rPr sz="1400" b="1">
                <a:solidFill>
                  <a:srgbClr val="111827"/>
                </a:solidFill>
                <a:latin typeface="Arial"/>
              </a:rPr>
              <a:t>-9.50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p  </a:t>
            </a:r>
            <a:r>
              <a:rPr sz="1400" b="1">
                <a:solidFill>
                  <a:srgbClr val="111827"/>
                </a:solidFill>
                <a:latin typeface="Arial"/>
              </a:rPr>
              <a:t>= .322</a:t>
            </a:r>
          </a:p>
        </p:txBody>
      </p:sp>
      <p:sp>
        <p:nvSpPr>
          <p:cNvPr id="213" name="Slide Number Placeholder 3">
            <a:extLst>
              <a:ext uri="{FF2B5EF4-FFF2-40B4-BE49-F238E27FC236}">
                <a16:creationId xmlns:a16="http://schemas.microsoft.com/office/drawing/2014/main" id="{E8F6FB20-2327-4A2A-A726-3AFFD661037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0428904-08A1-459C-98CB-C622996A5981}" type="slidenum">
              <a:rPr lang="en-US" smtClean="0"/>
              <a:pPr/>
              <a:t>18</a:t>
            </a:fld>
            <a:endParaRPr lang="en-US" dirty="0"/>
          </a:p>
        </p:txBody>
      </p:sp>
      <p:pic>
        <p:nvPicPr>
          <p:cNvPr id="214" name="Picture 213" descr="rq2_weak_onl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1645920"/>
            <a:ext cx="12006072" cy="4800600"/>
          </a:xfrm>
          <a:prstGeom prst="rect">
            <a:avLst/>
          </a:prstGeom>
        </p:spPr>
      </p:pic>
      <p:sp>
        <p:nvSpPr>
          <p:cNvPr id="215" name="Rounded Rectangle 214"/>
          <p:cNvSpPr/>
          <p:nvPr/>
        </p:nvSpPr>
        <p:spPr>
          <a:xfrm>
            <a:off x="502920" y="228600"/>
            <a:ext cx="210312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6" name="TextBox 215"/>
          <p:cNvSpPr txBox="1"/>
          <p:nvPr/>
        </p:nvSpPr>
        <p:spPr>
          <a:xfrm>
            <a:off x="612648" y="301752"/>
            <a:ext cx="1883663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900" b="1" i="0">
                <a:solidFill>
                  <a:srgbClr val="5B657A"/>
                </a:solidFill>
                <a:latin typeface="Calibri"/>
              </a:rPr>
              <a:t>ENDORSER CONFIDENCE</a:t>
            </a:r>
          </a:p>
        </p:txBody>
      </p:sp>
      <p:sp>
        <p:nvSpPr>
          <p:cNvPr id="217" name="Rounded Rectangle 216"/>
          <p:cNvSpPr/>
          <p:nvPr/>
        </p:nvSpPr>
        <p:spPr>
          <a:xfrm>
            <a:off x="612648" y="612648"/>
            <a:ext cx="1883663" cy="201168"/>
          </a:xfrm>
          <a:prstGeom prst="roundRect">
            <a:avLst>
              <a:gd name="adj" fmla="val 50000"/>
            </a:avLst>
          </a:prstGeom>
          <a:solidFill>
            <a:srgbClr val="E5EAF3"/>
          </a:solidFill>
          <a:ln w="9525">
            <a:solidFill>
              <a:srgbClr val="9AA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8" name="Rounded Rectangle 217"/>
          <p:cNvSpPr/>
          <p:nvPr/>
        </p:nvSpPr>
        <p:spPr>
          <a:xfrm>
            <a:off x="838687" y="612648"/>
            <a:ext cx="207203" cy="201168"/>
          </a:xfrm>
          <a:prstGeom prst="roundRect">
            <a:avLst>
              <a:gd name="adj" fmla="val 50000"/>
            </a:avLst>
          </a:prstGeom>
          <a:solidFill>
            <a:srgbClr val="B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9" name="Rounded Rectangle 218"/>
          <p:cNvSpPr/>
          <p:nvPr/>
        </p:nvSpPr>
        <p:spPr>
          <a:xfrm>
            <a:off x="2063069" y="612648"/>
            <a:ext cx="207203" cy="201168"/>
          </a:xfrm>
          <a:prstGeom prst="roundRect">
            <a:avLst>
              <a:gd name="adj" fmla="val 50000"/>
            </a:avLst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0" name="TextBox 219"/>
          <p:cNvSpPr txBox="1"/>
          <p:nvPr/>
        </p:nvSpPr>
        <p:spPr>
          <a:xfrm>
            <a:off x="521208" y="832104"/>
            <a:ext cx="32004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900" b="0" i="0">
                <a:solidFill>
                  <a:srgbClr val="5B657A"/>
                </a:solidFill>
                <a:latin typeface="Calibri"/>
              </a:rP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2267711" y="832104"/>
            <a:ext cx="32004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900" b="0" i="0">
                <a:solidFill>
                  <a:srgbClr val="5B657A"/>
                </a:solidFill>
                <a:latin typeface="Calibri"/>
              </a:rPr>
              <a:t>100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416509" y="1033272"/>
            <a:ext cx="105156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200" b="1" i="0">
                <a:solidFill>
                  <a:srgbClr val="B12121"/>
                </a:solidFill>
                <a:latin typeface="Calibri"/>
              </a:rPr>
              <a:t>Weak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416509" y="1289304"/>
            <a:ext cx="1051560" cy="23774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900" b="0" i="1">
                <a:solidFill>
                  <a:srgbClr val="5B657A"/>
                </a:solidFill>
                <a:latin typeface="Calibri"/>
              </a:rPr>
              <a:t>12–23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1640890" y="1033272"/>
            <a:ext cx="105156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200" b="1" i="0">
                <a:solidFill>
                  <a:srgbClr val="00143D"/>
                </a:solidFill>
                <a:latin typeface="Calibri"/>
              </a:rPr>
              <a:t>Strong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1640890" y="1289304"/>
            <a:ext cx="1051560" cy="23774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900" b="0" i="1">
                <a:solidFill>
                  <a:srgbClr val="5B657A"/>
                </a:solidFill>
                <a:latin typeface="Calibri"/>
              </a:rPr>
              <a:t>77–88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3200" b="1" i="0" dirty="0">
                <a:solidFill>
                  <a:srgbClr val="011F5B"/>
                </a:solidFill>
                <a:latin typeface="Arial"/>
              </a:rPr>
              <a:t>Summary</a:t>
            </a:r>
            <a:endParaRPr sz="3200" b="1" i="0" dirty="0">
              <a:solidFill>
                <a:srgbClr val="011F5B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594203"/>
            <a:ext cx="5074920" cy="255454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 dirty="0">
                <a:solidFill>
                  <a:srgbClr val="111827"/>
                </a:solidFill>
                <a:latin typeface="Arial"/>
              </a:rPr>
              <a:t>•  Men</a:t>
            </a:r>
            <a:r>
              <a:rPr lang="en-US" sz="2400" b="0" dirty="0">
                <a:solidFill>
                  <a:srgbClr val="111827"/>
                </a:solidFill>
                <a:latin typeface="Arial"/>
              </a:rPr>
              <a:t>'</a:t>
            </a:r>
            <a:r>
              <a:rPr sz="2400" b="0" dirty="0">
                <a:solidFill>
                  <a:srgbClr val="111827"/>
                </a:solidFill>
                <a:latin typeface="Arial"/>
              </a:rPr>
              <a:t>s endorsements move trust by Δ = +15.0</a:t>
            </a:r>
          </a:p>
          <a:p>
            <a:pPr algn="l">
              <a:spcAft>
                <a:spcPts val="1200"/>
              </a:spcAft>
            </a:pPr>
            <a:r>
              <a:rPr sz="2400" b="0" dirty="0">
                <a:solidFill>
                  <a:srgbClr val="111827"/>
                </a:solidFill>
                <a:latin typeface="Arial"/>
              </a:rPr>
              <a:t>•  Women's endorsements move trust by Δ = +4.3</a:t>
            </a:r>
          </a:p>
          <a:p>
            <a:pPr algn="l">
              <a:spcAft>
                <a:spcPts val="1200"/>
              </a:spcAft>
            </a:pPr>
            <a:r>
              <a:rPr sz="2400" b="1" dirty="0">
                <a:solidFill>
                  <a:srgbClr val="111827"/>
                </a:solidFill>
                <a:latin typeface="Arial"/>
              </a:rPr>
              <a:t>•  Pre-outcome trust does NOT differ by gender</a:t>
            </a:r>
          </a:p>
          <a:p>
            <a:pPr algn="l">
              <a:spcAft>
                <a:spcPts val="1200"/>
              </a:spcAft>
            </a:pPr>
            <a:r>
              <a:rPr sz="2400" b="0" dirty="0">
                <a:solidFill>
                  <a:srgbClr val="111827"/>
                </a:solidFill>
                <a:latin typeface="Arial"/>
              </a:rPr>
              <a:t>•  Stronger endorsements amplify the asymmetry</a:t>
            </a:r>
          </a:p>
          <a:p>
            <a:pPr algn="l">
              <a:spcAft>
                <a:spcPts val="1200"/>
              </a:spcAft>
            </a:pPr>
            <a:endParaRPr sz="2400" b="0" dirty="0">
              <a:solidFill>
                <a:srgbClr val="111827"/>
              </a:solidFill>
              <a:latin typeface="Arial"/>
            </a:endParaRPr>
          </a:p>
        </p:txBody>
      </p:sp>
      <p:sp>
        <p:nvSpPr>
          <p:cNvPr id="215" name="Slide Number Placeholder 3">
            <a:extLst>
              <a:ext uri="{FF2B5EF4-FFF2-40B4-BE49-F238E27FC236}">
                <a16:creationId xmlns:a16="http://schemas.microsoft.com/office/drawing/2014/main" id="{E1D2B922-5A84-4186-A4F2-8EDED3FC579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013D87F-5244-47F4-B4B2-87FD3047BE5E}" type="slidenum">
              <a:rPr lang="en-US" smtClean="0"/>
              <a:pPr/>
              <a:t>20</a:t>
            </a:fld>
            <a:endParaRPr lang="en-US" dirty="0"/>
          </a:p>
        </p:txBody>
      </p:sp>
      <p:pic>
        <p:nvPicPr>
          <p:cNvPr id="216" name="Picture 215" descr="synthesis_outcome_sensitiv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325880"/>
            <a:ext cx="64008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3200" b="1" i="0" dirty="0">
                <a:solidFill>
                  <a:srgbClr val="011F5B"/>
                </a:solidFill>
                <a:latin typeface="Arial"/>
              </a:rPr>
              <a:t>Running story</a:t>
            </a:r>
            <a:endParaRPr sz="3200" b="1" i="0" dirty="0">
              <a:solidFill>
                <a:srgbClr val="011F5B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247120" cy="4950073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marL="285750" indent="-285750" algn="l"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827"/>
                </a:solidFill>
                <a:latin typeface="Arial"/>
              </a:rPr>
              <a:t>Running story:</a:t>
            </a:r>
          </a:p>
          <a:p>
            <a:pPr marL="742950" lvl="1" indent="-285750"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rgbClr val="111827"/>
                </a:solidFill>
                <a:latin typeface="Arial"/>
              </a:rPr>
              <a:t>Let’s assume sponsorship is stereotypically “male.”</a:t>
            </a:r>
          </a:p>
          <a:p>
            <a:pPr marL="1200150" lvl="2" indent="-285750"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827"/>
                </a:solidFill>
                <a:latin typeface="Arial"/>
              </a:rPr>
              <a:t>Men are updated in a roughly Bayesian manner. Successes push trust up, failures push it down, by similar magnitudes (it’s quite symmetrical for men). </a:t>
            </a:r>
          </a:p>
          <a:p>
            <a:pPr marL="1200150" lvl="2" indent="-285750"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827"/>
                </a:solidFill>
                <a:latin typeface="Arial"/>
              </a:rPr>
              <a:t>Women, however, are not prototypically seen as sponsors and therefore, we observe signal neglect. O</a:t>
            </a:r>
            <a:r>
              <a:rPr lang="en-US" dirty="0">
                <a:solidFill>
                  <a:srgbClr val="111827"/>
                </a:solidFill>
              </a:rPr>
              <a:t>utcomes barely move evaluator trust in either direction. We propose this is</a:t>
            </a:r>
            <a:r>
              <a:rPr lang="en-US" b="0" dirty="0">
                <a:solidFill>
                  <a:srgbClr val="111827"/>
                </a:solidFill>
                <a:latin typeface="Arial"/>
              </a:rPr>
              <a:t> because audiences lack a rule for translating outcomes into competence about women since they are in a non-prototypical role.</a:t>
            </a:r>
          </a:p>
          <a:p>
            <a:pPr marL="1657350" lvl="3" indent="-285750"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827"/>
                </a:solidFill>
                <a:latin typeface="Arial"/>
              </a:rPr>
              <a:t>Perhaps we would see our effects change as there are more “rounds.”</a:t>
            </a:r>
            <a:endParaRPr lang="en-US" b="0" dirty="0">
              <a:solidFill>
                <a:srgbClr val="111827"/>
              </a:solidFill>
              <a:latin typeface="Arial"/>
            </a:endParaRPr>
          </a:p>
          <a:p>
            <a:pPr marL="742950" lvl="1" indent="-285750"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rgbClr val="111827"/>
                </a:solidFill>
                <a:latin typeface="Arial"/>
              </a:rPr>
              <a:t>Fairly different expectation from a lot of the other literature on double standards.</a:t>
            </a:r>
          </a:p>
          <a:p>
            <a:pPr marL="285750" indent="-285750"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827"/>
                </a:solidFill>
                <a:latin typeface="Arial"/>
              </a:rPr>
              <a:t>Women are just nice so they don’t know what they are doing</a:t>
            </a:r>
          </a:p>
          <a:p>
            <a:pPr marL="742950" lvl="1" indent="-285750"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rgbClr val="111827"/>
                </a:solidFill>
                <a:latin typeface="Arial"/>
              </a:rPr>
              <a:t>Mechanism: Male sponsors have more variance in their endorsements, women have smaller variance – higher average</a:t>
            </a:r>
            <a:endParaRPr b="0" dirty="0">
              <a:solidFill>
                <a:srgbClr val="111827"/>
              </a:solidFill>
              <a:latin typeface="Arial"/>
            </a:endParaRPr>
          </a:p>
        </p:txBody>
      </p:sp>
      <p:sp>
        <p:nvSpPr>
          <p:cNvPr id="216" name="Slide Number Placeholder 3">
            <a:extLst>
              <a:ext uri="{FF2B5EF4-FFF2-40B4-BE49-F238E27FC236}">
                <a16:creationId xmlns:a16="http://schemas.microsoft.com/office/drawing/2014/main" id="{D660F081-DFF5-4F81-9684-C53659E3F2F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BDE2B18-7325-4203-8945-01CBD09AEDA2}" type="slidenum">
              <a:rPr lang="en-US" smtClean="0"/>
              <a:pPr/>
              <a:t>21</a:t>
            </a:fld>
            <a:endParaRPr lang="en-US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D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400" b="1" i="0">
                <a:solidFill>
                  <a:srgbClr val="011F5B"/>
                </a:solidFill>
                <a:latin typeface="Arial"/>
              </a:rPr>
              <a:t>Thank you</a:t>
            </a:r>
          </a:p>
        </p:txBody>
      </p:sp>
      <p:sp>
        <p:nvSpPr>
          <p:cNvPr id="217" name="Slide Number Placeholder 3">
            <a:extLst>
              <a:ext uri="{FF2B5EF4-FFF2-40B4-BE49-F238E27FC236}">
                <a16:creationId xmlns:a16="http://schemas.microsoft.com/office/drawing/2014/main" id="{576EA859-4E79-4EBE-9BC9-29E0716921D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F9FAA71-D419-44AE-8FB2-35FB403C2DE2}" type="slidenum">
              <a:rPr lang="en-US" smtClean="0"/>
              <a:pPr/>
              <a:t>22</a:t>
            </a:fld>
            <a:endParaRPr lang="en-US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AAF2F33-A9B5-8037-3D3C-1A2E4FCF15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Women vs men’s assumed prior sponsorship endorsements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Women are less likely to denigrate a bad candidate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Men are more critical (on average) sponsors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The consequence of this, women’s endorsements are not seen as credible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More rounds can “shut this off.”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But the takeaway is that do women need more time/seniority in order for their credibility to be taken seriously?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Do women have lower standards? 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D3EF193-CB07-3F4F-1779-DB280500FC9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40F67D-B3CA-05DA-DA08-758C9000259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325D5B3-B1D6-4508-A9C2-400BBCDE2E4F}" type="slidenum">
              <a:rPr lang="en-US" smtClean="0"/>
              <a:pPr/>
              <a:t>23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5C3BEE-486B-A19B-DA69-2C302C8345C8}"/>
              </a:ext>
            </a:extLst>
          </p:cNvPr>
          <p:cNvSpPr/>
          <p:nvPr/>
        </p:nvSpPr>
        <p:spPr>
          <a:xfrm>
            <a:off x="1795669" y="4634637"/>
            <a:ext cx="1186070" cy="17890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1C7BE0C-B5ED-CEAC-D0DA-68D88BB40CBE}"/>
              </a:ext>
            </a:extLst>
          </p:cNvPr>
          <p:cNvSpPr/>
          <p:nvPr/>
        </p:nvSpPr>
        <p:spPr>
          <a:xfrm>
            <a:off x="3475382" y="4237072"/>
            <a:ext cx="927652" cy="12920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442596"/>
      </p:ext>
    </p:extLst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0"/>
            <a:ext cx="111831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 i="0">
                <a:solidFill>
                  <a:srgbClr val="00143D"/>
                </a:solidFill>
                <a:latin typeface="Calibri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566160"/>
            <a:ext cx="111831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5B657A"/>
                </a:solidFill>
                <a:latin typeface="Calibri"/>
              </a:rPr>
              <a:t>Instruction screens from the Stage 2 &amp; Stage 3 Qualtrics surveys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Stage 2  ·  Endorser role</a:t>
            </a:r>
          </a:p>
        </p:txBody>
      </p:sp>
      <p:pic>
        <p:nvPicPr>
          <p:cNvPr id="3" name="Picture 2" descr="stage2_01_r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8356" y="960120"/>
            <a:ext cx="9672239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Stage 2  ·  Earnings ($1 flat + $3 bonus)</a:t>
            </a:r>
          </a:p>
        </p:txBody>
      </p:sp>
      <p:pic>
        <p:nvPicPr>
          <p:cNvPr id="3" name="Picture 2" descr="stage2_02_earn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7902" y="960120"/>
            <a:ext cx="6633147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Stage 2  ·  Task objective + slider</a:t>
            </a:r>
          </a:p>
        </p:txBody>
      </p:sp>
      <p:pic>
        <p:nvPicPr>
          <p:cNvPr id="3" name="Picture 2" descr="stage2_03_t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13575"/>
            <a:ext cx="11183112" cy="408804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Stage 3  ·  Study purpose</a:t>
            </a:r>
          </a:p>
        </p:txBody>
      </p:sp>
      <p:pic>
        <p:nvPicPr>
          <p:cNvPr id="3" name="Picture 2" descr="stage3_01_purp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28052"/>
            <a:ext cx="11183112" cy="2659095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Stage 3  ·  What evaluators see</a:t>
            </a:r>
          </a:p>
        </p:txBody>
      </p:sp>
      <p:pic>
        <p:nvPicPr>
          <p:cNvPr id="3" name="Picture 2" descr="stage3_02_set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680" y="960120"/>
            <a:ext cx="8257591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Stage 3  ·  Endorser motivation</a:t>
            </a:r>
          </a:p>
        </p:txBody>
      </p:sp>
      <p:pic>
        <p:nvPicPr>
          <p:cNvPr id="3" name="Picture 2" descr="stage3_03_motiv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59443"/>
            <a:ext cx="11183112" cy="4796312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Stage 3  ·  Two-decision framing</a:t>
            </a:r>
          </a:p>
        </p:txBody>
      </p:sp>
      <p:pic>
        <p:nvPicPr>
          <p:cNvPr id="3" name="Picture 2" descr="stage3_04_two_decis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68569"/>
            <a:ext cx="11183112" cy="1578061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Stage 3  ·  $0.50 bank wager mechanics</a:t>
            </a:r>
          </a:p>
        </p:txBody>
      </p:sp>
      <p:pic>
        <p:nvPicPr>
          <p:cNvPr id="3" name="Picture 2" descr="stage3_05_wa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4723" y="960120"/>
            <a:ext cx="8119505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CQ1  ·  Bank amount</a:t>
            </a:r>
          </a:p>
        </p:txBody>
      </p:sp>
      <p:pic>
        <p:nvPicPr>
          <p:cNvPr id="3" name="Picture 2" descr="stage3_cq1_b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4639"/>
            <a:ext cx="11183112" cy="402592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CQ2  ·  Wager calculation</a:t>
            </a:r>
          </a:p>
        </p:txBody>
      </p:sp>
      <p:pic>
        <p:nvPicPr>
          <p:cNvPr id="3" name="Picture 2" descr="stage3_cq2_wa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4639"/>
            <a:ext cx="11183112" cy="402592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CQ3  ·  Bonus calculation</a:t>
            </a:r>
          </a:p>
        </p:txBody>
      </p:sp>
      <p:pic>
        <p:nvPicPr>
          <p:cNvPr id="3" name="Picture 2" descr="stage3_cq3_bon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4639"/>
            <a:ext cx="11183112" cy="402592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CQ4  ·  Task question</a:t>
            </a:r>
          </a:p>
        </p:txBody>
      </p:sp>
      <p:pic>
        <p:nvPicPr>
          <p:cNvPr id="3" name="Picture 2" descr="stage3_cq4_t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04122"/>
            <a:ext cx="11183112" cy="5106954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CQ5  ·  Comparison question</a:t>
            </a:r>
          </a:p>
        </p:txBody>
      </p:sp>
      <p:pic>
        <p:nvPicPr>
          <p:cNvPr id="3" name="Picture 2" descr="stage3_cq5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04122"/>
            <a:ext cx="11183112" cy="510695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Wharton 2016 16:9">
  <a:themeElements>
    <a:clrScheme name="Wharton">
      <a:dk1>
        <a:srgbClr val="2D2C41"/>
      </a:dk1>
      <a:lt1>
        <a:srgbClr val="FFFFFF"/>
      </a:lt1>
      <a:dk2>
        <a:srgbClr val="011F5B"/>
      </a:dk2>
      <a:lt2>
        <a:srgbClr val="EEEDEA"/>
      </a:lt2>
      <a:accent1>
        <a:srgbClr val="011F5B"/>
      </a:accent1>
      <a:accent2>
        <a:srgbClr val="990000"/>
      </a:accent2>
      <a:accent3>
        <a:srgbClr val="026CB5"/>
      </a:accent3>
      <a:accent4>
        <a:srgbClr val="06AAFC"/>
      </a:accent4>
      <a:accent5>
        <a:srgbClr val="96227D"/>
      </a:accent5>
      <a:accent6>
        <a:srgbClr val="D7BC6A"/>
      </a:accent6>
      <a:hlink>
        <a:srgbClr val="06AAFC"/>
      </a:hlink>
      <a:folHlink>
        <a:srgbClr val="06AAFC"/>
      </a:folHlink>
    </a:clrScheme>
    <a:fontScheme name="Wharton 2016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Theme_4x3</Template>
  <TotalTime>8257</TotalTime>
  <Words>1099</Words>
  <Application>Microsoft Office PowerPoint</Application>
  <PresentationFormat>Widescreen</PresentationFormat>
  <Paragraphs>182</Paragraphs>
  <Slides>23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Arial</vt:lpstr>
      <vt:lpstr>Calibri</vt:lpstr>
      <vt:lpstr>Garamond</vt:lpstr>
      <vt:lpstr>Georgia</vt:lpstr>
      <vt:lpstr>Wharton 2016 16:9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Matthew Byers</dc:creator>
  <cp:lastModifiedBy>josecerv</cp:lastModifiedBy>
  <cp:revision>92</cp:revision>
  <dcterms:created xsi:type="dcterms:W3CDTF">2016-03-10T13:41:29Z</dcterms:created>
  <dcterms:modified xsi:type="dcterms:W3CDTF">2026-04-07T22:06:24Z</dcterms:modified>
</cp:coreProperties>
</file>