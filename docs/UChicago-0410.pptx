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8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277"/>
            <p14:sldId id="258"/>
            <p14:sldId id="259"/>
            <p14:sldId id="260"/>
            <p14:sldId id="261"/>
            <p14:sldId id="262"/>
            <p14:sldId id="263"/>
            <p14:sldId id="264"/>
            <p14:sldId id="278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6" autoAdjust="0"/>
    <p:restoredTop sz="96283"/>
  </p:normalViewPr>
  <p:slideViewPr>
    <p:cSldViewPr snapToGrid="0">
      <p:cViewPr varScale="1">
        <p:scale>
          <a:sx n="115" d="100"/>
          <a:sy n="115" d="100"/>
        </p:scale>
        <p:origin x="67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C6BC92A-AEC1-70AE-A193-9C42C583FB03}"/>
              </a:ext>
            </a:extLst>
          </p:cNvPr>
          <p:cNvSpPr/>
          <p:nvPr/>
        </p:nvSpPr>
        <p:spPr>
          <a:xfrm>
            <a:off x="76946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4DC7079-C758-2375-4F60-07B037124CF4}"/>
              </a:ext>
            </a:extLst>
          </p:cNvPr>
          <p:cNvSpPr/>
          <p:nvPr/>
        </p:nvSpPr>
        <p:spPr>
          <a:xfrm>
            <a:off x="2826867" y="1234440"/>
            <a:ext cx="960120" cy="9601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3800" b="1" dirty="0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3D6397-20F7-3BA8-A32E-5575EEE1BD14}"/>
              </a:ext>
            </a:extLst>
          </p:cNvPr>
          <p:cNvSpPr txBox="1"/>
          <p:nvPr/>
        </p:nvSpPr>
        <p:spPr>
          <a:xfrm>
            <a:off x="769467" y="2286000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111827"/>
                </a:solidFill>
                <a:latin typeface="Arial"/>
              </a:rPr>
              <a:t>Mark Davies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89C76-EACC-61ED-7338-1E51C7289494}"/>
              </a:ext>
            </a:extLst>
          </p:cNvPr>
          <p:cNvSpPr txBox="1"/>
          <p:nvPr/>
        </p:nvSpPr>
        <p:spPr>
          <a:xfrm>
            <a:off x="769467" y="269748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 dirty="0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46DBB1-A285-AADD-830F-AEA496311BBF}"/>
              </a:ext>
            </a:extLst>
          </p:cNvPr>
          <p:cNvSpPr/>
          <p:nvPr/>
        </p:nvSpPr>
        <p:spPr>
          <a:xfrm>
            <a:off x="127238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4E00C-BCBD-09A9-E3ED-BD988DE0966A}"/>
              </a:ext>
            </a:extLst>
          </p:cNvPr>
          <p:cNvSpPr txBox="1"/>
          <p:nvPr/>
        </p:nvSpPr>
        <p:spPr>
          <a:xfrm>
            <a:off x="1226667" y="329184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dirty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07F396-7CAC-DD5B-BECC-B62EF0C692FD}"/>
              </a:ext>
            </a:extLst>
          </p:cNvPr>
          <p:cNvSpPr txBox="1"/>
          <p:nvPr/>
        </p:nvSpPr>
        <p:spPr>
          <a:xfrm>
            <a:off x="1226667" y="3584448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 dirty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3D2E64-D960-E69E-0A08-07D690F49C8F}"/>
              </a:ext>
            </a:extLst>
          </p:cNvPr>
          <p:cNvSpPr txBox="1"/>
          <p:nvPr/>
        </p:nvSpPr>
        <p:spPr>
          <a:xfrm>
            <a:off x="1089813" y="3954780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047A4B"/>
                </a:solidFill>
                <a:latin typeface="Arial"/>
              </a:rPr>
              <a:t>✓  </a:t>
            </a:r>
            <a:r>
              <a:rPr sz="1500" dirty="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A746F9-7741-B077-32CE-0C5F503A700F}"/>
              </a:ext>
            </a:extLst>
          </p:cNvPr>
          <p:cNvSpPr txBox="1"/>
          <p:nvPr/>
        </p:nvSpPr>
        <p:spPr>
          <a:xfrm>
            <a:off x="3306621" y="3897630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C81E1E"/>
                </a:solidFill>
                <a:latin typeface="Arial"/>
              </a:rPr>
              <a:t>✗  </a:t>
            </a:r>
            <a:r>
              <a:rPr sz="1500" dirty="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3073A4C-4026-FCE6-237B-A73CC89D64F5}"/>
              </a:ext>
            </a:extLst>
          </p:cNvPr>
          <p:cNvSpPr/>
          <p:nvPr/>
        </p:nvSpPr>
        <p:spPr>
          <a:xfrm>
            <a:off x="634730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56C073E-B275-A044-A60C-50177868D8E3}"/>
              </a:ext>
            </a:extLst>
          </p:cNvPr>
          <p:cNvSpPr/>
          <p:nvPr/>
        </p:nvSpPr>
        <p:spPr>
          <a:xfrm>
            <a:off x="8404707" y="1234440"/>
            <a:ext cx="960120" cy="9601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38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84D6CF-8C15-74BB-ACE4-E699420F412E}"/>
              </a:ext>
            </a:extLst>
          </p:cNvPr>
          <p:cNvSpPr txBox="1"/>
          <p:nvPr/>
        </p:nvSpPr>
        <p:spPr>
          <a:xfrm>
            <a:off x="6347307" y="2286000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Arial"/>
              </a:rPr>
              <a:t>Sarah Lin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3BD6D-3F32-F346-F95E-427763D358EA}"/>
              </a:ext>
            </a:extLst>
          </p:cNvPr>
          <p:cNvSpPr txBox="1"/>
          <p:nvPr/>
        </p:nvSpPr>
        <p:spPr>
          <a:xfrm>
            <a:off x="6347307" y="269748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221F54-7AB5-49F6-98A4-DD1DB55A8A12}"/>
              </a:ext>
            </a:extLst>
          </p:cNvPr>
          <p:cNvSpPr/>
          <p:nvPr/>
        </p:nvSpPr>
        <p:spPr>
          <a:xfrm>
            <a:off x="685022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C70B4D-CFBC-477F-9173-E950BEF283DF}"/>
              </a:ext>
            </a:extLst>
          </p:cNvPr>
          <p:cNvSpPr txBox="1"/>
          <p:nvPr/>
        </p:nvSpPr>
        <p:spPr>
          <a:xfrm>
            <a:off x="6804507" y="329184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E73EA-2C43-99BA-8DA5-C45F84E671A1}"/>
              </a:ext>
            </a:extLst>
          </p:cNvPr>
          <p:cNvSpPr txBox="1"/>
          <p:nvPr/>
        </p:nvSpPr>
        <p:spPr>
          <a:xfrm>
            <a:off x="6804507" y="3584448"/>
            <a:ext cx="4160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18199A-141C-7877-3A26-7CD10F2FE9D2}"/>
              </a:ext>
            </a:extLst>
          </p:cNvPr>
          <p:cNvSpPr txBox="1"/>
          <p:nvPr/>
        </p:nvSpPr>
        <p:spPr>
          <a:xfrm>
            <a:off x="6667347" y="3904488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047A4B"/>
                </a:solidFill>
                <a:latin typeface="Arial"/>
              </a:rPr>
              <a:t>✓  </a:t>
            </a:r>
            <a:r>
              <a:rPr sz="1500" dirty="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AC98DE-3348-0019-BF68-0618D5717019}"/>
              </a:ext>
            </a:extLst>
          </p:cNvPr>
          <p:cNvSpPr txBox="1"/>
          <p:nvPr/>
        </p:nvSpPr>
        <p:spPr>
          <a:xfrm>
            <a:off x="8884767" y="3947491"/>
            <a:ext cx="221742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000" b="1" dirty="0">
                <a:solidFill>
                  <a:srgbClr val="C81E1E"/>
                </a:solidFill>
                <a:latin typeface="Arial"/>
              </a:rPr>
              <a:t>✗  </a:t>
            </a:r>
            <a:r>
              <a:rPr sz="1500" dirty="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 dirty="0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085330-23A1-2E31-9F3B-78A39ACA7EFB}"/>
              </a:ext>
            </a:extLst>
          </p:cNvPr>
          <p:cNvSpPr txBox="1"/>
          <p:nvPr/>
        </p:nvSpPr>
        <p:spPr>
          <a:xfrm>
            <a:off x="502920" y="5303520"/>
            <a:ext cx="11247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1" i="0" dirty="0">
                <a:solidFill>
                  <a:srgbClr val="011F5B"/>
                </a:solidFill>
                <a:latin typeface="Arial"/>
              </a:rPr>
              <a:t>How do you weigh each one?</a:t>
            </a:r>
          </a:p>
        </p:txBody>
      </p:sp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7" grpId="0"/>
      <p:bldP spid="18" grpId="0"/>
      <p:bldP spid="19" grpId="0"/>
      <p:bldP spid="20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8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                        the endorsement? 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Are male and female sponsors trusted equally before any outcome is observed?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5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Three</a:t>
            </a:r>
            <a:r>
              <a:rPr sz="3200" b="1" i="0" dirty="0">
                <a:solidFill>
                  <a:srgbClr val="011F5B"/>
                </a:solidFill>
                <a:latin typeface="Arial"/>
              </a:rPr>
              <a:t>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5419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1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Protégé performance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participants take three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performance tasks (Barron et al., 2025).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We use the 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posted</a:t>
            </a:r>
            <a:r>
              <a:rPr sz="1500" dirty="0">
                <a:solidFill>
                  <a:srgbClr val="111827"/>
                </a:solidFill>
                <a:latin typeface="Arial"/>
              </a:rPr>
              <a:t> scores to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build candidate profiles.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9907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2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Sponsor endorsements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Real sponsors view candidate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pairs and rate which one will</a:t>
            </a:r>
          </a:p>
          <a:p>
            <a:pPr algn="l">
              <a:spcBef>
                <a:spcPts val="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perform better, and how confident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they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4395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74320" rIns="256032" bIns="164592" rtlCol="0" anchor="ctr"/>
          <a:lstStyle/>
          <a:p>
            <a:pPr algn="ctr"/>
            <a:r>
              <a:rPr sz="3200" b="1" dirty="0">
                <a:solidFill>
                  <a:srgbClr val="990000"/>
                </a:solidFill>
                <a:latin typeface="Arial"/>
              </a:rPr>
              <a:t>Stage 3</a:t>
            </a:r>
          </a:p>
          <a:p>
            <a:pPr algn="ctr">
              <a:spcBef>
                <a:spcPts val="400"/>
              </a:spcBef>
            </a:pPr>
            <a:r>
              <a:rPr sz="2200" b="1" dirty="0">
                <a:solidFill>
                  <a:srgbClr val="011F5B"/>
                </a:solidFill>
                <a:latin typeface="Arial"/>
              </a:rPr>
              <a:t>Audience evaluation</a:t>
            </a:r>
          </a:p>
          <a:p>
            <a:pPr algn="l">
              <a:spcBef>
                <a:spcPts val="1800"/>
              </a:spcBef>
            </a:pPr>
            <a:r>
              <a:rPr sz="1500" dirty="0">
                <a:solidFill>
                  <a:srgbClr val="111827"/>
                </a:solidFill>
                <a:latin typeface="Arial"/>
              </a:rPr>
              <a:t>Evaluators bet on a sponsor's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endorsement, see the outcome,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then bet on a second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endorsement</a:t>
            </a:r>
            <a:r>
              <a:rPr lang="en-US" sz="1500" dirty="0">
                <a:solidFill>
                  <a:srgbClr val="111827"/>
                </a:solidFill>
                <a:latin typeface="Arial"/>
              </a:rPr>
              <a:t> </a:t>
            </a:r>
            <a:r>
              <a:rPr sz="1500" dirty="0">
                <a:solidFill>
                  <a:srgbClr val="111827"/>
                </a:solidFill>
                <a:latin typeface="Arial"/>
              </a:rPr>
              <a:t>from the same sponsor.</a:t>
            </a:r>
          </a:p>
        </p:txBody>
      </p:sp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6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45195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dirty="0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Each sponsor sees one candidate pair from Stage 1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2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4563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1.  Sponsor gender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11F5B"/>
                </a:solidFill>
                <a:latin typeface="Arial"/>
              </a:rPr>
              <a:t>•  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990000"/>
                </a:solidFill>
                <a:latin typeface="Arial"/>
              </a:rPr>
              <a:t>•  Woman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4187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 dirty="0">
                <a:solidFill>
                  <a:srgbClr val="011F5B"/>
                </a:solidFill>
                <a:latin typeface="Arial"/>
              </a:rPr>
              <a:t>2.  Endorsement strength</a:t>
            </a:r>
          </a:p>
          <a:p>
            <a:pPr algn="l">
              <a:spcBef>
                <a:spcPts val="1000"/>
              </a:spcBef>
            </a:pPr>
            <a:r>
              <a:rPr sz="1600" b="1" dirty="0">
                <a:solidFill>
                  <a:srgbClr val="111827"/>
                </a:solidFill>
                <a:latin typeface="Arial"/>
              </a:rPr>
              <a:t>•  Strong  (very confident)</a:t>
            </a:r>
          </a:p>
          <a:p>
            <a:pPr algn="l">
              <a:spcBef>
                <a:spcPts val="400"/>
              </a:spcBef>
            </a:pPr>
            <a:r>
              <a:rPr sz="1600" b="1" dirty="0">
                <a:solidFill>
                  <a:srgbClr val="111827"/>
                </a:solidFill>
                <a:latin typeface="Arial"/>
              </a:rPr>
              <a:t>•  Weak  (</a:t>
            </a:r>
            <a:r>
              <a:rPr lang="en-US" sz="1600" b="1" dirty="0">
                <a:solidFill>
                  <a:srgbClr val="111827"/>
                </a:solidFill>
                <a:latin typeface="Arial"/>
              </a:rPr>
              <a:t>low confidence</a:t>
            </a:r>
            <a:r>
              <a:rPr sz="1600" b="1" dirty="0">
                <a:solidFill>
                  <a:srgbClr val="111827"/>
                </a:solidFill>
                <a:latin typeface="Arial"/>
              </a:rPr>
              <a:t> / unsure)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3811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3.  Outcome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47A4B"/>
                </a:solidFill>
                <a:latin typeface="Arial"/>
              </a:rPr>
              <a:t>•  Endorser was correct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C81E1E"/>
                </a:solidFill>
                <a:latin typeface="Arial"/>
              </a:rPr>
              <a:t>•  Endorser was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977639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WHAT EACH EVALUATOR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74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1    </a:t>
            </a:r>
            <a:r>
              <a:rPr sz="2000" b="1">
                <a:solidFill>
                  <a:srgbClr val="011F5B"/>
                </a:solidFill>
                <a:latin typeface="Arial"/>
              </a:rPr>
              <a:t>Initial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sponsor's first endorsement; bets a fraction of a $0.50 bank that the sponsor is correct.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1558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72787" y="4343400"/>
            <a:ext cx="3246120" cy="1691640"/>
          </a:xfrm>
          <a:prstGeom prst="roundRect">
            <a:avLst/>
          </a:prstGeom>
          <a:solidFill>
            <a:srgbClr val="FDF1CC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2    </a:t>
            </a:r>
            <a:r>
              <a:rPr sz="2000" b="1">
                <a:solidFill>
                  <a:srgbClr val="011F5B"/>
                </a:solidFill>
                <a:latin typeface="Arial"/>
              </a:rPr>
              <a:t>Outcome reveal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Learns whether the sponsor was correct. The bank is updated.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6462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182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Ins="182880" bIns="164592" rtlCol="0" anchor="ctr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3    </a:t>
            </a:r>
            <a:r>
              <a:rPr sz="2000" b="1">
                <a:solidFill>
                  <a:srgbClr val="011F5B"/>
                </a:solidFill>
                <a:latin typeface="Arial"/>
              </a:rPr>
              <a:t>Second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SAME sponsor's second endorsement (different candidate pair); bets again.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1" dirty="0">
                <a:solidFill>
                  <a:srgbClr val="011F5B"/>
                </a:solidFill>
                <a:latin typeface="Arial"/>
              </a:rPr>
              <a:t>Outcome variable:  Trust change  =  (second wager)  −  (initial wager)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B7D611-69F5-047F-59A9-8FC84A0C8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Incentive slides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3787A9-5ECF-A0ED-92CD-14F6768201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pic>
        <p:nvPicPr>
          <p:cNvPr id="4" name="Picture 3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pic>
        <p:nvPicPr>
          <p:cNvPr id="4" name="Picture 3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pic>
        <p:nvPicPr>
          <p:cNvPr id="4" name="Picture 3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13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RQ1 — Gender × outcome on trust update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— Strong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1585569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Strong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Arial"/>
              </a:rPr>
              <a:t>very confident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 — Weak endorsers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97196" y="274320"/>
            <a:ext cx="219456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161788" y="365760"/>
            <a:ext cx="18653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Arial"/>
              </a:rPr>
              <a:t>ENDORSER CONFIDENCE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61788" y="777240"/>
            <a:ext cx="1865376" cy="18288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61788" y="777240"/>
            <a:ext cx="410382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61788" y="1060704"/>
            <a:ext cx="186537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11F5B"/>
                </a:solidFill>
                <a:latin typeface="Arial"/>
              </a:rPr>
              <a:t>Weak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1788" y="1353312"/>
            <a:ext cx="18653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Arial"/>
              </a:rPr>
              <a:t>hedged / unsure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583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 — Pre-outcome trust by gender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15" name="Picture 214" descr="rq3_initial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255454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b="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2400" b="1" dirty="0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Running story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376000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85750" indent="-285750" algn="l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Running story:</a:t>
            </a: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Let’s assume sponsorship is stereotypically “male.”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Men are updated in a roughly Bayesian manner. Successes push trust up, failures push it down, by similar magnitudes (it’s quite symmetrical for men). </a:t>
            </a:r>
          </a:p>
          <a:p>
            <a:pPr marL="1200150" lvl="2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Women, however, are not prototypically seen as sponsors and therefore, we observe signal neglect. O</a:t>
            </a:r>
            <a:r>
              <a:rPr lang="en-US" dirty="0">
                <a:solidFill>
                  <a:srgbClr val="111827"/>
                </a:solidFill>
              </a:rPr>
              <a:t>utcomes barely move evaluator trust in either direction. We propose this is</a:t>
            </a:r>
            <a:r>
              <a:rPr lang="en-US" b="0" dirty="0">
                <a:solidFill>
                  <a:srgbClr val="111827"/>
                </a:solidFill>
                <a:latin typeface="Arial"/>
              </a:rPr>
              <a:t> because audiences lack a rule for translating outcomes into competence about women since they are in a non-prototypical role.</a:t>
            </a:r>
          </a:p>
          <a:p>
            <a:pPr marL="1657350" lvl="3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827"/>
                </a:solidFill>
                <a:latin typeface="Arial"/>
              </a:rPr>
              <a:t>Perhaps we would see our effects change as there are more “rounds.”</a:t>
            </a:r>
            <a:endParaRPr lang="en-US" b="0" dirty="0">
              <a:solidFill>
                <a:srgbClr val="111827"/>
              </a:solidFill>
              <a:latin typeface="Arial"/>
            </a:endParaRPr>
          </a:p>
          <a:p>
            <a:pPr marL="742950" lvl="1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111827"/>
                </a:solidFill>
                <a:latin typeface="Arial"/>
              </a:rPr>
              <a:t>Fairly different expectation from a lot of the other literature on double standards.</a:t>
            </a:r>
            <a:endParaRPr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8182</TotalTime>
  <Words>881</Words>
  <Application>Microsoft Office PowerPoint</Application>
  <PresentationFormat>Widescreen</PresentationFormat>
  <Paragraphs>152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91</cp:revision>
  <dcterms:created xsi:type="dcterms:W3CDTF">2016-03-10T13:41:29Z</dcterms:created>
  <dcterms:modified xsi:type="dcterms:W3CDTF">2026-04-07T01:37:05Z</dcterms:modified>
</cp:coreProperties>
</file>