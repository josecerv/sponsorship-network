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2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1"/>
  </p:notesMasterIdLst>
  <p:handoutMasterIdLst>
    <p:handoutMasterId r:id="rId42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CF33541-5E58-43C3-A2D8-8288F878A3DB}">
          <p14:sldIdLst>
            <p14:sldId id="256"/>
            <p14:sldId id="319"/>
            <p14:sldId id="320"/>
            <p14:sldId id="322"/>
            <p14:sldId id="323"/>
            <p14:sldId id="324"/>
            <p14:sldId id="325"/>
            <p14:sldId id="328"/>
            <p14:sldId id="326"/>
            <p14:sldId id="347"/>
            <p14:sldId id="329"/>
            <p14:sldId id="332"/>
            <p14:sldId id="333"/>
            <p14:sldId id="335"/>
            <p14:sldId id="336"/>
            <p14:sldId id="337"/>
            <p14:sldId id="339"/>
            <p14:sldId id="340"/>
            <p14:sldId id="341"/>
            <p14:sldId id="342"/>
            <p14:sldId id="343"/>
            <p14:sldId id="346"/>
            <p14:sldId id="344"/>
            <p14:sldId id="345"/>
            <p14:sldId id="327"/>
            <p14:sldId id="348"/>
            <p14:sldId id="349"/>
            <p14:sldId id="350"/>
            <p14:sldId id="352"/>
            <p14:sldId id="353"/>
            <p14:sldId id="354"/>
            <p14:sldId id="356"/>
            <p14:sldId id="357"/>
            <p14:sldId id="358"/>
            <p14:sldId id="359"/>
            <p14:sldId id="360"/>
            <p14:sldId id="361"/>
            <p14:sldId id="3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F5B"/>
    <a:srgbClr val="000000"/>
    <a:srgbClr val="A8204E"/>
    <a:srgbClr val="C6093B"/>
    <a:srgbClr val="B1B6AF"/>
    <a:srgbClr val="D9D7D0"/>
    <a:srgbClr val="FF9ED3"/>
    <a:srgbClr val="AFAFAF"/>
    <a:srgbClr val="04ABFD"/>
    <a:srgbClr val="C509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356" autoAdjust="0"/>
    <p:restoredTop sz="96283"/>
  </p:normalViewPr>
  <p:slideViewPr>
    <p:cSldViewPr snapToGrid="0">
      <p:cViewPr varScale="1">
        <p:scale>
          <a:sx n="96" d="100"/>
          <a:sy n="96" d="100"/>
        </p:scale>
        <p:origin x="58" y="1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5" d="100"/>
          <a:sy n="55" d="100"/>
        </p:scale>
        <p:origin x="2880" y="7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41" Type="http://schemas.openxmlformats.org/officeDocument/2006/relationships/notesMaster" Target="notesMasters/notesMaster1.xml"/><Relationship Id="rId42" Type="http://schemas.openxmlformats.org/officeDocument/2006/relationships/handoutMaster" Target="handoutMasters/handout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FAB296-C70E-40F1-B507-D2D143AD6EBF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9078BF-40EC-41E1-9B62-3081DB120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90158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D2892C-D9C7-4A81-A07C-60131499A005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1A37F7-1A90-4E51-A507-1AEFE7B69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554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sv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5728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 with Phot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icture containing building, outdoor, sky, city&#10;&#10;Description automatically generated">
            <a:extLst>
              <a:ext uri="{FF2B5EF4-FFF2-40B4-BE49-F238E27FC236}">
                <a16:creationId xmlns:a16="http://schemas.microsoft.com/office/drawing/2014/main" id="{E2A878F4-D03E-4B25-B3E7-D24416503FA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duotone>
              <a:prstClr val="black"/>
              <a:schemeClr val="accent3">
                <a:tint val="45000"/>
                <a:satMod val="400000"/>
              </a:schemeClr>
            </a:duotone>
            <a:alphaModFix amt="1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" y="-321100"/>
            <a:ext cx="12191999" cy="8127999"/>
          </a:xfrm>
          <a:prstGeom prst="rect">
            <a:avLst/>
          </a:prstGeom>
          <a:effectLst>
            <a:outerShdw blurRad="50800" dist="50800" dir="5400000" algn="ctr" rotWithShape="0">
              <a:srgbClr val="000000"/>
            </a:outerShdw>
          </a:effectLst>
        </p:spPr>
      </p:pic>
      <p:sp>
        <p:nvSpPr>
          <p:cNvPr id="6" name="Parallelogram 5">
            <a:extLst>
              <a:ext uri="{FF2B5EF4-FFF2-40B4-BE49-F238E27FC236}">
                <a16:creationId xmlns:a16="http://schemas.microsoft.com/office/drawing/2014/main" id="{C79B39E0-BF53-44AA-98FF-1D1B87B7E713}"/>
              </a:ext>
            </a:extLst>
          </p:cNvPr>
          <p:cNvSpPr/>
          <p:nvPr userDrawn="1"/>
        </p:nvSpPr>
        <p:spPr>
          <a:xfrm>
            <a:off x="9712713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arallelogram 6">
            <a:extLst>
              <a:ext uri="{FF2B5EF4-FFF2-40B4-BE49-F238E27FC236}">
                <a16:creationId xmlns:a16="http://schemas.microsoft.com/office/drawing/2014/main" id="{1695DCC8-D73C-40D9-A089-189E7E30D752}"/>
              </a:ext>
            </a:extLst>
          </p:cNvPr>
          <p:cNvSpPr/>
          <p:nvPr userDrawn="1"/>
        </p:nvSpPr>
        <p:spPr>
          <a:xfrm rot="10800000">
            <a:off x="7213298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5671" y="3896000"/>
            <a:ext cx="10135871" cy="646331"/>
          </a:xfrm>
        </p:spPr>
        <p:txBody>
          <a:bodyPr anchor="b"/>
          <a:lstStyle>
            <a:lvl1pPr algn="l">
              <a:defRPr sz="4000" b="1" i="0" cap="none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75672" y="4550000"/>
            <a:ext cx="9144000" cy="544444"/>
          </a:xfrm>
        </p:spPr>
        <p:txBody>
          <a:bodyPr lIns="0" rIns="0">
            <a:spAutoFit/>
          </a:bodyPr>
          <a:lstStyle>
            <a:lvl1pPr marL="0" indent="0" algn="l">
              <a:buNone/>
              <a:defRPr sz="2600">
                <a:solidFill>
                  <a:schemeClr val="bg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2"/>
          </p:nvPr>
        </p:nvSpPr>
        <p:spPr>
          <a:xfrm>
            <a:off x="575672" y="5337129"/>
            <a:ext cx="9144000" cy="509691"/>
          </a:xfrm>
        </p:spPr>
        <p:txBody>
          <a:bodyPr lIns="0" rIns="0">
            <a:spAutoFit/>
          </a:bodyPr>
          <a:lstStyle>
            <a:lvl1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1pPr>
            <a:lvl2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2pPr>
            <a:lvl3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3pPr>
            <a:lvl4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4pPr>
            <a:lvl5pPr>
              <a:defRPr>
                <a:solidFill>
                  <a:schemeClr val="accent4"/>
                </a:solidFill>
                <a:latin typeface="Garamond" panose="02020404030301010803" pitchFamily="18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5" name="Picture 4" descr="Logo&#10;&#10;Description automatically generated">
            <a:extLst>
              <a:ext uri="{FF2B5EF4-FFF2-40B4-BE49-F238E27FC236}">
                <a16:creationId xmlns:a16="http://schemas.microsoft.com/office/drawing/2014/main" id="{FA7F1E24-66DA-4CF5-9530-9AE8212B0B4F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5672" y="533027"/>
            <a:ext cx="3655687" cy="956306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6B5BF14-A6EB-4C48-A237-48EB0CADD5DE}"/>
              </a:ext>
            </a:extLst>
          </p:cNvPr>
          <p:cNvCxnSpPr>
            <a:cxnSpLocks/>
          </p:cNvCxnSpPr>
          <p:nvPr userDrawn="1"/>
        </p:nvCxnSpPr>
        <p:spPr>
          <a:xfrm flipH="1">
            <a:off x="9901646" y="0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47109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160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Content: Emphas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B3C0B3D4-45AD-49CB-92C9-1CEAD1196E1A}"/>
              </a:ext>
            </a:extLst>
          </p:cNvPr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EB8AF9ED-1340-42AE-98EE-2BF152A0315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9A8C50F-BE59-40AD-99BF-D8A00352B948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5571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5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5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30061091-7521-4125-B5CB-44ACB827FB7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B8F1CD1-1171-4356-9440-0F08548CF60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01391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6_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2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4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E8A4EB83-0CB6-4E8A-BD62-F024F3A15EB7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0345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0_Section Header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  <a:lumMod val="75000"/>
                </a:schemeClr>
              </a:gs>
              <a:gs pos="100000">
                <a:schemeClr val="accent5">
                  <a:lumMod val="7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rallelogram 10">
            <a:extLst>
              <a:ext uri="{FF2B5EF4-FFF2-40B4-BE49-F238E27FC236}">
                <a16:creationId xmlns:a16="http://schemas.microsoft.com/office/drawing/2014/main" id="{61F3CF6A-3971-42FB-8195-ED773BE1B8CF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lum bright="-25000"/>
            <a:alphaModFix amt="2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46EAFCF-62A9-448E-A69F-44EB1C0D199B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8020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9_Section Hea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DFFA3A7A-D3AA-4B7E-90CE-EE3526AB70DC}"/>
              </a:ext>
            </a:extLst>
          </p:cNvPr>
          <p:cNvSpPr/>
          <p:nvPr userDrawn="1"/>
        </p:nvSpPr>
        <p:spPr>
          <a:xfrm>
            <a:off x="1023115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alpha val="3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95C2FD72-5224-4845-839C-6BFE7FA721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744955" y="2603092"/>
            <a:ext cx="3312277" cy="3793713"/>
          </a:xfrm>
          <a:prstGeom prst="rect">
            <a:avLst/>
          </a:prstGeom>
        </p:spPr>
      </p:pic>
      <p:sp>
        <p:nvSpPr>
          <p:cNvPr id="41" name="Parallelogram 40">
            <a:extLst>
              <a:ext uri="{FF2B5EF4-FFF2-40B4-BE49-F238E27FC236}">
                <a16:creationId xmlns:a16="http://schemas.microsoft.com/office/drawing/2014/main" id="{235462F7-7773-4AC8-8064-DE9AAEC9C875}"/>
              </a:ext>
            </a:extLst>
          </p:cNvPr>
          <p:cNvSpPr/>
          <p:nvPr userDrawn="1"/>
        </p:nvSpPr>
        <p:spPr>
          <a:xfrm rot="10800000">
            <a:off x="-1476300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6">
                  <a:alpha val="0"/>
                </a:schemeClr>
              </a:gs>
              <a:gs pos="100000">
                <a:schemeClr val="accent6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5BBAB1EB-95BB-4528-96F7-3993F4666FBE}"/>
              </a:ext>
            </a:extLst>
          </p:cNvPr>
          <p:cNvGrpSpPr/>
          <p:nvPr userDrawn="1"/>
        </p:nvGrpSpPr>
        <p:grpSpPr>
          <a:xfrm>
            <a:off x="-924553" y="656444"/>
            <a:ext cx="2777689" cy="73767"/>
            <a:chOff x="828118" y="83421"/>
            <a:chExt cx="2777689" cy="73767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AB40905-A4F8-4242-9DE3-61056F12D5A4}"/>
                </a:ext>
              </a:extLst>
            </p:cNvPr>
            <p:cNvGrpSpPr/>
            <p:nvPr/>
          </p:nvGrpSpPr>
          <p:grpSpPr>
            <a:xfrm rot="13500000">
              <a:off x="828118" y="83427"/>
              <a:ext cx="73761" cy="73761"/>
              <a:chOff x="5762847" y="855527"/>
              <a:chExt cx="182880" cy="182880"/>
            </a:xfrm>
          </p:grpSpPr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185626CC-E4D2-4261-815E-FA09F03FA989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37745C30-65FE-4301-BF33-94D3F3A3F6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4B5484A-3F2C-455F-ADD8-5BAD2F0322D2}"/>
                </a:ext>
              </a:extLst>
            </p:cNvPr>
            <p:cNvGrpSpPr/>
            <p:nvPr/>
          </p:nvGrpSpPr>
          <p:grpSpPr>
            <a:xfrm rot="13500000">
              <a:off x="1166109" y="83426"/>
              <a:ext cx="73761" cy="73761"/>
              <a:chOff x="5762847" y="855527"/>
              <a:chExt cx="182880" cy="182880"/>
            </a:xfrm>
          </p:grpSpPr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8E1D04B5-4C19-42F1-8AF4-DF77DFA9E696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33ECFAA-6C73-4422-84C0-4662E9830CC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24D8B4D-C8F9-4060-AE12-77D2B2E9A95C}"/>
                </a:ext>
              </a:extLst>
            </p:cNvPr>
            <p:cNvGrpSpPr/>
            <p:nvPr/>
          </p:nvGrpSpPr>
          <p:grpSpPr>
            <a:xfrm rot="13500000">
              <a:off x="1504100" y="83425"/>
              <a:ext cx="73761" cy="73761"/>
              <a:chOff x="5762847" y="855527"/>
              <a:chExt cx="182880" cy="182880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9FD70F0B-B853-4441-ABD5-CEA2455FA7CA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A14F4EBA-8FF9-4A39-B071-46C46C8052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E7652A8B-72EF-4E78-AA4E-0CC2394AAA21}"/>
                </a:ext>
              </a:extLst>
            </p:cNvPr>
            <p:cNvGrpSpPr/>
            <p:nvPr/>
          </p:nvGrpSpPr>
          <p:grpSpPr>
            <a:xfrm rot="13500000">
              <a:off x="1842091" y="83424"/>
              <a:ext cx="73761" cy="73761"/>
              <a:chOff x="5762847" y="855527"/>
              <a:chExt cx="182880" cy="182880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E4AB0-390C-4314-BBBC-DFA40152295E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2B6769D0-F275-4F11-9097-0042ADB40B7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D93944D-A039-4CD5-9AAE-897D4057BC13}"/>
                </a:ext>
              </a:extLst>
            </p:cNvPr>
            <p:cNvGrpSpPr/>
            <p:nvPr/>
          </p:nvGrpSpPr>
          <p:grpSpPr>
            <a:xfrm rot="13500000">
              <a:off x="2180082" y="83423"/>
              <a:ext cx="73761" cy="73761"/>
              <a:chOff x="5762847" y="855527"/>
              <a:chExt cx="182880" cy="182880"/>
            </a:xfrm>
          </p:grpSpPr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6B5ADA53-753C-4DE1-B313-308F77F4E56B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904B05C-FFDF-4A5C-BD23-16898BF2E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4BFEDB6F-A4E2-4FCE-A382-14C5749E3290}"/>
                </a:ext>
              </a:extLst>
            </p:cNvPr>
            <p:cNvGrpSpPr/>
            <p:nvPr/>
          </p:nvGrpSpPr>
          <p:grpSpPr>
            <a:xfrm rot="13500000">
              <a:off x="2518073" y="83422"/>
              <a:ext cx="73761" cy="73761"/>
              <a:chOff x="5762847" y="855527"/>
              <a:chExt cx="182880" cy="182880"/>
            </a:xfrm>
          </p:grpSpPr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53FC0C9B-9496-47E9-A777-E83E7C27EEF3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AA665E8C-7D59-4EF3-954C-2D948CFCF1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1AC01E60-2746-4AA2-A880-0D1F684E6FE3}"/>
                </a:ext>
              </a:extLst>
            </p:cNvPr>
            <p:cNvGrpSpPr/>
            <p:nvPr/>
          </p:nvGrpSpPr>
          <p:grpSpPr>
            <a:xfrm rot="13500000">
              <a:off x="2856064" y="83422"/>
              <a:ext cx="73761" cy="73761"/>
              <a:chOff x="5762847" y="855527"/>
              <a:chExt cx="182880" cy="182880"/>
            </a:xfrm>
          </p:grpSpPr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318FA5CD-8005-4A6D-8D9B-F4048F54A21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6EC720DB-D986-4D5A-9503-CB2DCA1A0A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543610E3-6EE0-43FB-9911-A020EBA799F1}"/>
                </a:ext>
              </a:extLst>
            </p:cNvPr>
            <p:cNvGrpSpPr/>
            <p:nvPr/>
          </p:nvGrpSpPr>
          <p:grpSpPr>
            <a:xfrm rot="13500000">
              <a:off x="3194055" y="83421"/>
              <a:ext cx="73761" cy="73761"/>
              <a:chOff x="5762847" y="855527"/>
              <a:chExt cx="182880" cy="182880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40951241-06EA-4635-B628-EDF99846FA7F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C107952F-EB06-401B-85CE-5E106F9B4FF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6C77E5D5-C6D5-48F0-BAA0-1A07DFCB925F}"/>
                </a:ext>
              </a:extLst>
            </p:cNvPr>
            <p:cNvGrpSpPr/>
            <p:nvPr/>
          </p:nvGrpSpPr>
          <p:grpSpPr>
            <a:xfrm rot="13500000">
              <a:off x="3532046" y="83421"/>
              <a:ext cx="73761" cy="73761"/>
              <a:chOff x="5762847" y="855527"/>
              <a:chExt cx="182880" cy="182880"/>
            </a:xfrm>
          </p:grpSpPr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FF6D7969-0451-480A-BE97-04E8DBC3CADC}"/>
                  </a:ext>
                </a:extLst>
              </p:cNvPr>
              <p:cNvCxnSpPr/>
              <p:nvPr/>
            </p:nvCxnSpPr>
            <p:spPr>
              <a:xfrm>
                <a:off x="5762847" y="855527"/>
                <a:ext cx="0" cy="18288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9F3E26C-819B-4080-888E-DF18167284B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62847" y="1038407"/>
                <a:ext cx="182880" cy="0"/>
              </a:xfrm>
              <a:prstGeom prst="line">
                <a:avLst/>
              </a:prstGeom>
              <a:ln w="19050">
                <a:solidFill>
                  <a:schemeClr val="accent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917015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082344"/>
            <a:ext cx="10515600" cy="480131"/>
          </a:xfrm>
        </p:spPr>
        <p:txBody>
          <a:bodyPr anchor="b"/>
          <a:lstStyle>
            <a:lvl1pPr>
              <a:defRPr sz="2800" i="1" cap="all" spc="3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6A6B9B6E-B9A8-40A1-A460-0452F1F94C21}"/>
              </a:ext>
            </a:extLst>
          </p:cNvPr>
          <p:cNvCxnSpPr>
            <a:cxnSpLocks/>
          </p:cNvCxnSpPr>
          <p:nvPr userDrawn="1"/>
        </p:nvCxnSpPr>
        <p:spPr>
          <a:xfrm flipH="1">
            <a:off x="823962" y="4733825"/>
            <a:ext cx="663644" cy="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1015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sz="1400" b="0">
                <a:solidFill>
                  <a:schemeClr val="accent4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1189470"/>
            <a:ext cx="3932237" cy="867930"/>
          </a:xfrm>
        </p:spPr>
        <p:txBody>
          <a:bodyPr anchor="b"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22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824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3172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o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365125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99437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12192000" cy="6858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solidFill>
            <a:schemeClr val="accent1">
              <a:alpha val="85000"/>
            </a:schemeClr>
          </a:solidFill>
        </p:spPr>
        <p:txBody>
          <a:bodyPr lIns="274320" tIns="274320" rIns="274320" bIns="274320"/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37312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 animBg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976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ooter and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Name of Initiative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DD253308-F9C5-4FCB-8415-6DEE77C16A3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FE500D9-CF53-4920-99CA-9E654F42E876}"/>
              </a:ext>
            </a:extLst>
          </p:cNvPr>
          <p:cNvSpPr/>
          <p:nvPr userDrawn="1"/>
        </p:nvSpPr>
        <p:spPr>
          <a:xfrm>
            <a:off x="139304" y="-180462"/>
            <a:ext cx="4094603" cy="4094603"/>
          </a:xfrm>
          <a:prstGeom prst="ellipse">
            <a:avLst/>
          </a:prstGeom>
          <a:noFill/>
          <a:ln w="1905000">
            <a:gradFill>
              <a:gsLst>
                <a:gs pos="0">
                  <a:schemeClr val="bg1">
                    <a:lumMod val="85000"/>
                    <a:alpha val="0"/>
                  </a:schemeClr>
                </a:gs>
                <a:gs pos="100000">
                  <a:schemeClr val="bg1">
                    <a:lumMod val="85000"/>
                    <a:alpha val="60000"/>
                  </a:schemeClr>
                </a:gs>
              </a:gsLst>
              <a:lin ang="132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12660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ackground Only: Blu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ogram 3">
            <a:extLst>
              <a:ext uri="{FF2B5EF4-FFF2-40B4-BE49-F238E27FC236}">
                <a16:creationId xmlns:a16="http://schemas.microsoft.com/office/drawing/2014/main" id="{0E5126E1-4A6C-403C-B3E7-5CEEA6593AAE}"/>
              </a:ext>
            </a:extLst>
          </p:cNvPr>
          <p:cNvSpPr/>
          <p:nvPr userDrawn="1"/>
        </p:nvSpPr>
        <p:spPr>
          <a:xfrm>
            <a:off x="-222857" y="-30736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accent5">
                  <a:alpha val="0"/>
                </a:schemeClr>
              </a:gs>
              <a:gs pos="100000">
                <a:schemeClr val="accent2"/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rallelogram 8">
            <a:extLst>
              <a:ext uri="{FF2B5EF4-FFF2-40B4-BE49-F238E27FC236}">
                <a16:creationId xmlns:a16="http://schemas.microsoft.com/office/drawing/2014/main" id="{32B7EF76-94A6-4AAA-BD5E-5CF9731D4B1A}"/>
              </a:ext>
            </a:extLst>
          </p:cNvPr>
          <p:cNvSpPr/>
          <p:nvPr userDrawn="1"/>
        </p:nvSpPr>
        <p:spPr>
          <a:xfrm rot="10800000">
            <a:off x="8834814" y="2261903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accent3">
                  <a:alpha val="0"/>
                </a:schemeClr>
              </a:gs>
              <a:gs pos="100000">
                <a:schemeClr val="accent3">
                  <a:alpha val="7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89440D6-9A55-4787-B579-8FFD0755C6D4}"/>
              </a:ext>
            </a:extLst>
          </p:cNvPr>
          <p:cNvCxnSpPr>
            <a:cxnSpLocks/>
          </p:cNvCxnSpPr>
          <p:nvPr userDrawn="1"/>
        </p:nvCxnSpPr>
        <p:spPr>
          <a:xfrm flipH="1">
            <a:off x="10214776" y="3239589"/>
            <a:ext cx="1476731" cy="3618411"/>
          </a:xfrm>
          <a:prstGeom prst="line">
            <a:avLst/>
          </a:prstGeom>
          <a:ln w="1905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954993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Relationship Id="rId18" Type="http://schemas.openxmlformats.org/officeDocument/2006/relationships/image" Target="../media/image1.png"/><Relationship Id="rId19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arallelogram 9">
            <a:extLst>
              <a:ext uri="{FF2B5EF4-FFF2-40B4-BE49-F238E27FC236}">
                <a16:creationId xmlns:a16="http://schemas.microsoft.com/office/drawing/2014/main" id="{26E6B51D-CB0A-4E91-9A6C-433229868862}"/>
              </a:ext>
            </a:extLst>
          </p:cNvPr>
          <p:cNvSpPr/>
          <p:nvPr userDrawn="1"/>
        </p:nvSpPr>
        <p:spPr>
          <a:xfrm rot="10800000">
            <a:off x="8921143" y="2302961"/>
            <a:ext cx="3580043" cy="4585278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20000">
                <a:schemeClr val="bg1">
                  <a:lumMod val="95000"/>
                  <a:alpha val="0"/>
                </a:schemeClr>
              </a:gs>
              <a:gs pos="100000">
                <a:schemeClr val="bg1">
                  <a:lumMod val="95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DE33F1FB-D1DC-40E3-8128-01F1050E365D}"/>
              </a:ext>
            </a:extLst>
          </p:cNvPr>
          <p:cNvSpPr/>
          <p:nvPr userDrawn="1"/>
        </p:nvSpPr>
        <p:spPr>
          <a:xfrm rot="10800000">
            <a:off x="9799931" y="-30736"/>
            <a:ext cx="5402509" cy="6919471"/>
          </a:xfrm>
          <a:prstGeom prst="parallelogram">
            <a:avLst>
              <a:gd name="adj" fmla="val 52245"/>
            </a:avLst>
          </a:prstGeom>
          <a:gradFill flip="none" rotWithShape="1">
            <a:gsLst>
              <a:gs pos="40000">
                <a:schemeClr val="bg1">
                  <a:lumMod val="85000"/>
                  <a:alpha val="0"/>
                </a:schemeClr>
              </a:gs>
              <a:gs pos="100000">
                <a:schemeClr val="bg1">
                  <a:lumMod val="85000"/>
                  <a:alpha val="50000"/>
                </a:schemeClr>
              </a:gs>
            </a:gsLst>
            <a:lin ang="18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6503504"/>
            <a:ext cx="12192000" cy="38473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rgbClr val="002C77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BFDA7CF6-2050-4A6C-BFA8-9DD0EF549C0D}"/>
              </a:ext>
            </a:extLst>
          </p:cNvPr>
          <p:cNvPicPr>
            <a:picLocks noChangeAspect="1"/>
          </p:cNvPicPr>
          <p:nvPr userDrawn="1"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52280" y="6595711"/>
            <a:ext cx="914688" cy="17309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80131"/>
          </a:xfrm>
          <a:prstGeom prst="rect">
            <a:avLst/>
          </a:prstGeom>
        </p:spPr>
        <p:txBody>
          <a:bodyPr vert="horz" lIns="0" tIns="45720" rIns="0" bIns="45720" rtlCol="0" anchor="t" anchorCtr="0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310108"/>
            <a:ext cx="10515600" cy="4351338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380258" y="648718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rgbClr val="AFAFAF"/>
                </a:solidFill>
              </a:defRPr>
            </a:lvl1pPr>
          </a:lstStyle>
          <a:p>
            <a:r>
              <a:rPr lang="en-US" dirty="0"/>
              <a:t>Name of Initiative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542356" y="6487182"/>
            <a:ext cx="4973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>
                <a:solidFill>
                  <a:srgbClr val="AFAFAF"/>
                </a:solidFill>
              </a:defRPr>
            </a:lvl1pPr>
          </a:lstStyle>
          <a:p>
            <a:fld id="{DD253308-F9C5-4FCB-8415-6DEE77C16A3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DC6A3B2-8B52-4A4F-A948-674C40D12939}"/>
              </a:ext>
            </a:extLst>
          </p:cNvPr>
          <p:cNvCxnSpPr>
            <a:cxnSpLocks/>
          </p:cNvCxnSpPr>
          <p:nvPr userDrawn="1"/>
        </p:nvCxnSpPr>
        <p:spPr>
          <a:xfrm flipV="1">
            <a:off x="11592746" y="6552811"/>
            <a:ext cx="97287" cy="213183"/>
          </a:xfrm>
          <a:prstGeom prst="line">
            <a:avLst/>
          </a:prstGeom>
          <a:ln w="25400">
            <a:solidFill>
              <a:srgbClr val="C5093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3037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0" r:id="rId3"/>
    <p:sldLayoutId id="2147483658" r:id="rId4"/>
    <p:sldLayoutId id="2147483668" r:id="rId5"/>
    <p:sldLayoutId id="2147483669" r:id="rId6"/>
    <p:sldLayoutId id="2147483673" r:id="rId7"/>
    <p:sldLayoutId id="2147483672" r:id="rId8"/>
    <p:sldLayoutId id="2147483653" r:id="rId9"/>
    <p:sldLayoutId id="2147483656" r:id="rId10"/>
    <p:sldLayoutId id="2147483654" r:id="rId11"/>
    <p:sldLayoutId id="2147483662" r:id="rId12"/>
    <p:sldLayoutId id="2147483663" r:id="rId13"/>
    <p:sldLayoutId id="2147483655" r:id="rId14"/>
    <p:sldLayoutId id="2147483659" r:id="rId15"/>
    <p:sldLayoutId id="2147483661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rgbClr val="C509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2200" kern="1200">
          <a:solidFill>
            <a:schemeClr val="tx2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113000"/>
        </a:lnSpc>
        <a:spcBef>
          <a:spcPts val="800"/>
        </a:spcBef>
        <a:spcAft>
          <a:spcPts val="200"/>
        </a:spcAft>
        <a:buFont typeface="Arial" panose="020B0604020202020204" pitchFamily="34" charset="0"/>
        <a:buNone/>
        <a:defRPr sz="16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1F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10607040" y="-457200"/>
            <a:ext cx="2377440" cy="7772400"/>
          </a:xfrm>
          <a:prstGeom prst="parallelogram">
            <a:avLst>
              <a:gd name="adj" fmla="val 55000"/>
            </a:avLst>
          </a:prstGeom>
          <a:solidFill>
            <a:srgbClr val="9912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wharton_logo_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411480"/>
            <a:ext cx="3108960" cy="8778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260604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Arial"/>
              </a:rPr>
              <a:t>Who Builds Social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42900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Arial"/>
              </a:rPr>
              <a:t>Through Sponsorship?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5262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  <a:latin typeface="Arial"/>
              </a:rPr>
              <a:t>Jose Cervantez  ·  Erika Kirgios  ·  Rosalind Chow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5321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1">
                <a:solidFill>
                  <a:srgbClr val="CCD2E0"/>
                </a:solidFill>
                <a:latin typeface="Arial"/>
              </a:rPr>
              <a:t>University of Chicago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89320"/>
            <a:ext cx="10515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CCD2E0"/>
                </a:solidFill>
                <a:latin typeface="Arial"/>
              </a:rPr>
              <a:t>April 10,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Arial"/>
              </a:rPr>
              <a:t>AN EXAMPLE TO SET UP TODAY'S QUESTION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9467" y="960120"/>
            <a:ext cx="5074920" cy="3703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2826867" y="1234440"/>
            <a:ext cx="960120" cy="9601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800" b="1">
                <a:solidFill>
                  <a:srgbClr val="FFFFFF"/>
                </a:solidFill>
                <a:latin typeface="Arial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9467" y="2286000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11827"/>
                </a:solidFill>
                <a:latin typeface="Arial"/>
              </a:rPr>
              <a:t>Mark Davies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467" y="269748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Senior Manager, Acme Corp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2387" y="3108960"/>
            <a:ext cx="4069080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26667" y="3291840"/>
            <a:ext cx="4160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Arial"/>
              </a:rPr>
              <a:t>Past promotions endorsed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6667" y="3584448"/>
            <a:ext cx="4160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11F5B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9507" y="4160520"/>
            <a:ext cx="22174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47A4B"/>
                </a:solidFill>
                <a:latin typeface="Arial"/>
              </a:rPr>
              <a:t>✓  </a:t>
            </a:r>
            <a:r>
              <a:rPr sz="1500">
                <a:solidFill>
                  <a:srgbClr val="111827"/>
                </a:solidFill>
                <a:latin typeface="Arial"/>
              </a:rPr>
              <a:t>Worked out</a:t>
            </a:r>
          </a:p>
          <a:p>
            <a:pPr algn="ctr">
              <a:spcBef>
                <a:spcPts val="200"/>
              </a:spcBef>
            </a:pPr>
            <a:r>
              <a:rPr sz="2200" b="1">
                <a:solidFill>
                  <a:srgbClr val="047A4B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6927" y="4160520"/>
            <a:ext cx="22174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C81E1E"/>
                </a:solidFill>
                <a:latin typeface="Arial"/>
              </a:rPr>
              <a:t>✗  </a:t>
            </a:r>
            <a:r>
              <a:rPr sz="1500">
                <a:solidFill>
                  <a:srgbClr val="111827"/>
                </a:solidFill>
                <a:latin typeface="Arial"/>
              </a:rPr>
              <a:t>Didn't pan out</a:t>
            </a:r>
          </a:p>
          <a:p>
            <a:pPr algn="ctr">
              <a:spcBef>
                <a:spcPts val="200"/>
              </a:spcBef>
            </a:pPr>
            <a:r>
              <a:rPr sz="2200" b="1">
                <a:solidFill>
                  <a:srgbClr val="C81E1E"/>
                </a:solidFill>
                <a:latin typeface="Arial"/>
              </a:rP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47307" y="960120"/>
            <a:ext cx="5074920" cy="3703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Oval 12"/>
          <p:cNvSpPr/>
          <p:nvPr/>
        </p:nvSpPr>
        <p:spPr>
          <a:xfrm>
            <a:off x="8404707" y="1234440"/>
            <a:ext cx="960120" cy="96012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800" b="1">
                <a:solidFill>
                  <a:srgbClr val="FFFFFF"/>
                </a:solidFill>
                <a:latin typeface="Arial"/>
              </a:rPr>
              <a:t>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2286000"/>
            <a:ext cx="5074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111827"/>
                </a:solidFill>
                <a:latin typeface="Arial"/>
              </a:rPr>
              <a:t>Sarah Lin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2697480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Senior Manager, Acme Corp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0227" y="3108960"/>
            <a:ext cx="4069080" cy="1097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4507" y="3291840"/>
            <a:ext cx="41605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6B7280"/>
                </a:solidFill>
                <a:latin typeface="Arial"/>
              </a:rPr>
              <a:t>Past promotions endorsed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4507" y="3584448"/>
            <a:ext cx="4160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11F5B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347" y="4160520"/>
            <a:ext cx="22174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47A4B"/>
                </a:solidFill>
                <a:latin typeface="Arial"/>
              </a:rPr>
              <a:t>✓  </a:t>
            </a:r>
            <a:r>
              <a:rPr sz="1500">
                <a:solidFill>
                  <a:srgbClr val="111827"/>
                </a:solidFill>
                <a:latin typeface="Arial"/>
              </a:rPr>
              <a:t>Worked out</a:t>
            </a:r>
          </a:p>
          <a:p>
            <a:pPr algn="ctr">
              <a:spcBef>
                <a:spcPts val="200"/>
              </a:spcBef>
            </a:pPr>
            <a:r>
              <a:rPr sz="2200" b="1">
                <a:solidFill>
                  <a:srgbClr val="047A4B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4767" y="4160520"/>
            <a:ext cx="221742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C81E1E"/>
                </a:solidFill>
                <a:latin typeface="Arial"/>
              </a:rPr>
              <a:t>✗  </a:t>
            </a:r>
            <a:r>
              <a:rPr sz="1500">
                <a:solidFill>
                  <a:srgbClr val="111827"/>
                </a:solidFill>
                <a:latin typeface="Arial"/>
              </a:rPr>
              <a:t>Didn't pan out</a:t>
            </a:r>
          </a:p>
          <a:p>
            <a:pPr algn="ctr">
              <a:spcBef>
                <a:spcPts val="200"/>
              </a:spcBef>
            </a:pPr>
            <a:r>
              <a:rPr sz="2200" b="1">
                <a:solidFill>
                  <a:srgbClr val="C81E1E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463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111827"/>
                </a:solidFill>
                <a:latin typeface="Arial"/>
              </a:rPr>
              <a:t>Today, each one brings you a new recommendation for promotion.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303520"/>
            <a:ext cx="112471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011F5B"/>
                </a:solidFill>
                <a:latin typeface="Arial"/>
              </a:rPr>
              <a:t>How do you weigh each one?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9436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Today: even with identical track records, audiences treat one of these recommendations as a meaningfully stronger signal than the other.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What is sponsorship?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247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111827"/>
                </a:solidFill>
                <a:latin typeface="Arial"/>
              </a:rPr>
              <a:t>Sponsorship is support provided to influence other people's perceptions of a protégé's skills, abilities, performance, and potential — with the intention of helping the protégé in their career.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291840"/>
            <a:ext cx="1097280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>
                <a:solidFill>
                  <a:srgbClr val="111827"/>
                </a:solidFill>
                <a:latin typeface="Arial"/>
              </a:rPr>
              <a:t>•  Public advocacy and recommendations</a:t>
            </a:r>
          </a:p>
          <a:p>
            <a:pPr algn="l">
              <a:spcAft>
                <a:spcPts val="1400"/>
              </a:spcAft>
            </a:pPr>
            <a:r>
              <a:rPr sz="2200" b="0">
                <a:solidFill>
                  <a:srgbClr val="111827"/>
                </a:solidFill>
                <a:latin typeface="Arial"/>
              </a:rPr>
              <a:t>•  Endorsements to colleagues, clients, hiring committees</a:t>
            </a:r>
          </a:p>
          <a:p>
            <a:pPr algn="l">
              <a:spcAft>
                <a:spcPts val="1400"/>
              </a:spcAft>
            </a:pPr>
            <a:r>
              <a:rPr sz="2200" b="0">
                <a:solidFill>
                  <a:srgbClr val="111827"/>
                </a:solidFill>
                <a:latin typeface="Arial"/>
              </a:rPr>
              <a:t>•  Introductions to high-status others</a:t>
            </a:r>
          </a:p>
          <a:p>
            <a:pPr algn="l">
              <a:spcAft>
                <a:spcPts val="1400"/>
              </a:spcAft>
            </a:pPr>
            <a:r>
              <a:rPr sz="2200" b="0">
                <a:solidFill>
                  <a:srgbClr val="111827"/>
                </a:solidFill>
                <a:latin typeface="Arial"/>
              </a:rPr>
              <a:t>•  Vouching for skill, judgment, or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Sponsorship involves real risk for sponsors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1">
                <a:solidFill>
                  <a:srgbClr val="6B7280"/>
                </a:solidFill>
                <a:latin typeface="Arial"/>
              </a:rPr>
              <a:t>When a sponsor stakes their reputation on a protégé: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2148840"/>
            <a:ext cx="5212080" cy="3337560"/>
          </a:xfrm>
          <a:prstGeom prst="roundRect">
            <a:avLst/>
          </a:prstGeom>
          <a:solidFill>
            <a:srgbClr val="E0F2FE"/>
          </a:solidFill>
          <a:ln w="1905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64592" bIns="164592" wrap="square"/>
          <a:lstStyle/>
          <a:p>
            <a:pPr algn="ctr">
              <a:spcAft>
                <a:spcPts val="1200"/>
              </a:spcAft>
            </a:pPr>
            <a:r>
              <a:rPr sz="2200" b="1" i="0">
                <a:solidFill>
                  <a:srgbClr val="011F5B"/>
                </a:solidFill>
                <a:latin typeface="Arial"/>
              </a:rPr>
              <a:t>When the protégé succeeds</a:t>
            </a:r>
          </a:p>
          <a:p>
            <a:pPr algn="l"/>
            <a:r>
              <a:rPr sz="600" b="0" i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>
                <a:solidFill>
                  <a:srgbClr val="111827"/>
                </a:solidFill>
                <a:latin typeface="Arial"/>
              </a:rPr>
              <a:t>→  Sponsor gains credibility</a:t>
            </a:r>
          </a:p>
          <a:p>
            <a:pPr algn="ctr">
              <a:spcAft>
                <a:spcPts val="800"/>
              </a:spcAft>
            </a:pPr>
            <a:r>
              <a:rPr sz="1800" b="0" i="0">
                <a:solidFill>
                  <a:srgbClr val="111827"/>
                </a:solidFill>
                <a:latin typeface="Arial"/>
              </a:rPr>
              <a:t>→  Reputation lifts with the protégé</a:t>
            </a:r>
          </a:p>
          <a:p>
            <a:pPr algn="ctr"/>
            <a:r>
              <a:rPr sz="1800" b="0" i="0">
                <a:solidFill>
                  <a:srgbClr val="111827"/>
                </a:solidFill>
                <a:latin typeface="Arial"/>
              </a:rPr>
              <a:t>→  Network ties strengthen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148840"/>
            <a:ext cx="5212080" cy="3337560"/>
          </a:xfrm>
          <a:prstGeom prst="roundRect">
            <a:avLst/>
          </a:prstGeom>
          <a:solidFill>
            <a:srgbClr val="FDE2E2"/>
          </a:solidFill>
          <a:ln w="19050">
            <a:solidFill>
              <a:srgbClr val="9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 tIns="164592" bIns="164592" wrap="square"/>
          <a:lstStyle/>
          <a:p>
            <a:pPr algn="ctr">
              <a:spcAft>
                <a:spcPts val="1200"/>
              </a:spcAft>
            </a:pPr>
            <a:r>
              <a:rPr sz="2200" b="1" i="0">
                <a:solidFill>
                  <a:srgbClr val="990000"/>
                </a:solidFill>
                <a:latin typeface="Arial"/>
              </a:rPr>
              <a:t>When the protégé fails</a:t>
            </a:r>
          </a:p>
          <a:p>
            <a:pPr algn="l"/>
            <a:r>
              <a:rPr sz="600" b="0" i="0">
                <a:solidFill>
                  <a:srgbClr val="111827"/>
                </a:solidFill>
                <a:latin typeface="Arial"/>
              </a:rPr>
              <a:t> </a:t>
            </a:r>
          </a:p>
          <a:p>
            <a:pPr algn="ctr">
              <a:spcAft>
                <a:spcPts val="800"/>
              </a:spcAft>
            </a:pPr>
            <a:r>
              <a:rPr sz="1800" b="0" i="0">
                <a:solidFill>
                  <a:srgbClr val="111827"/>
                </a:solidFill>
                <a:latin typeface="Arial"/>
              </a:rPr>
              <a:t>→  Sponsor loses credibility</a:t>
            </a:r>
          </a:p>
          <a:p>
            <a:pPr algn="ctr">
              <a:spcAft>
                <a:spcPts val="800"/>
              </a:spcAft>
            </a:pPr>
            <a:r>
              <a:rPr sz="1800" b="0" i="0">
                <a:solidFill>
                  <a:srgbClr val="111827"/>
                </a:solidFill>
                <a:latin typeface="Arial"/>
              </a:rPr>
              <a:t>→  Future endorsements are discounted</a:t>
            </a:r>
          </a:p>
          <a:p>
            <a:pPr algn="ctr"/>
            <a:r>
              <a:rPr sz="1800" b="0" i="0">
                <a:solidFill>
                  <a:srgbClr val="111827"/>
                </a:solidFill>
                <a:latin typeface="Arial"/>
              </a:rPr>
              <a:t>→  Network ties may weaken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89788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1">
                <a:solidFill>
                  <a:srgbClr val="011F5B"/>
                </a:solidFill>
                <a:latin typeface="Arial"/>
              </a:rPr>
              <a:t>But are these risks symmetric across the gender of the sponsor?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Research questions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182880" tIns="201168" bIns="164592"/>
          <a:lstStyle/>
          <a:p>
            <a:pPr algn="ctr"/>
            <a:r>
              <a:rPr sz="2200" b="1">
                <a:solidFill>
                  <a:srgbClr val="990000"/>
                </a:solidFill>
                <a:latin typeface="Arial"/>
              </a:rPr>
              <a:t>RQ1    </a:t>
            </a:r>
            <a:r>
              <a:rPr sz="2200" b="1">
                <a:solidFill>
                  <a:srgbClr val="011F5B"/>
                </a:solidFill>
                <a:latin typeface="Arial"/>
              </a:rPr>
              <a:t>Does endorser gender shape how outcomes update trust?</a:t>
            </a:r>
          </a:p>
          <a:p>
            <a:pPr>
              <a:spcBef>
                <a:spcPts val="800"/>
              </a:spcBef>
            </a:pPr>
            <a:r>
              <a:rPr sz="1500" i="1">
                <a:solidFill>
                  <a:srgbClr val="6B7280"/>
                </a:solidFill>
                <a:latin typeface="Arial"/>
              </a:rPr>
              <a:t>After observing one success or failure, do audiences treat male and female sponsors symmetrically?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9718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182880" tIns="201168" bIns="164592"/>
          <a:lstStyle/>
          <a:p>
            <a:pPr algn="ctr"/>
            <a:r>
              <a:rPr sz="2200" b="1">
                <a:solidFill>
                  <a:srgbClr val="990000"/>
                </a:solidFill>
                <a:latin typeface="Arial"/>
              </a:rPr>
              <a:t>RQ2    </a:t>
            </a:r>
            <a:r>
              <a:rPr sz="2200" b="1">
                <a:solidFill>
                  <a:srgbClr val="011F5B"/>
                </a:solidFill>
                <a:latin typeface="Arial"/>
              </a:rPr>
              <a:t>Does endorsement strength moderate the bias?</a:t>
            </a:r>
          </a:p>
          <a:p>
            <a:pPr>
              <a:spcBef>
                <a:spcPts val="800"/>
              </a:spcBef>
            </a:pPr>
            <a:r>
              <a:rPr sz="1500" i="1">
                <a:solidFill>
                  <a:srgbClr val="6B7280"/>
                </a:solidFill>
                <a:latin typeface="Arial"/>
              </a:rPr>
              <a:t>Are confident vs. hedged endorsements treated differently as a function of sponsor gender?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572000"/>
            <a:ext cx="1120140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20040" rIns="182880" tIns="201168" bIns="164592"/>
          <a:lstStyle/>
          <a:p>
            <a:pPr algn="ctr"/>
            <a:r>
              <a:rPr sz="2200" b="1">
                <a:solidFill>
                  <a:srgbClr val="990000"/>
                </a:solidFill>
                <a:latin typeface="Arial"/>
              </a:rPr>
              <a:t>RQ3    </a:t>
            </a:r>
            <a:r>
              <a:rPr sz="2200" b="1">
                <a:solidFill>
                  <a:srgbClr val="011F5B"/>
                </a:solidFill>
                <a:latin typeface="Arial"/>
              </a:rPr>
              <a:t>Does the bias exist before any outcome is observed?</a:t>
            </a:r>
          </a:p>
          <a:p>
            <a:pPr>
              <a:spcBef>
                <a:spcPts val="800"/>
              </a:spcBef>
            </a:pPr>
            <a:r>
              <a:rPr sz="1500" i="1">
                <a:solidFill>
                  <a:srgbClr val="6B7280"/>
                </a:solidFill>
                <a:latin typeface="Arial"/>
              </a:rPr>
              <a:t>Or does it emerge only after evaluators see the protégé succeed or fail?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Multi-stage lab experiment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85419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74320" bIns="164592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Stage 1</a:t>
            </a:r>
          </a:p>
          <a:p>
            <a:pPr algn="ctr">
              <a:spcBef>
                <a:spcPts val="400"/>
              </a:spcBef>
            </a:pPr>
            <a:r>
              <a:rPr sz="2200" b="1">
                <a:solidFill>
                  <a:srgbClr val="011F5B"/>
                </a:solidFill>
                <a:latin typeface="Arial"/>
              </a:rPr>
              <a:t>Protégé performance</a:t>
            </a:r>
          </a:p>
          <a:p>
            <a:pPr algn="l">
              <a:spcBef>
                <a:spcPts val="180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Real participants take three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performance tasks (Barron et al., 2025).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We use the verifiable scores to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build candidate profiles.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89907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74320" bIns="164592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Stage 2</a:t>
            </a:r>
          </a:p>
          <a:p>
            <a:pPr algn="ctr">
              <a:spcBef>
                <a:spcPts val="400"/>
              </a:spcBef>
            </a:pPr>
            <a:r>
              <a:rPr sz="2200" b="1">
                <a:solidFill>
                  <a:srgbClr val="011F5B"/>
                </a:solidFill>
                <a:latin typeface="Arial"/>
              </a:rPr>
              <a:t>Sponsor endorsements</a:t>
            </a:r>
          </a:p>
          <a:p>
            <a:pPr algn="l">
              <a:spcBef>
                <a:spcPts val="180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Real sponsors view candidate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pairs and rate which one will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perform better, and how confident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they are.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94395" y="1417320"/>
            <a:ext cx="3611880" cy="44348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6032" rIns="256032" tIns="274320" bIns="164592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Stage 3</a:t>
            </a:r>
          </a:p>
          <a:p>
            <a:pPr algn="ctr">
              <a:spcBef>
                <a:spcPts val="400"/>
              </a:spcBef>
            </a:pPr>
            <a:r>
              <a:rPr sz="2200" b="1">
                <a:solidFill>
                  <a:srgbClr val="011F5B"/>
                </a:solidFill>
                <a:latin typeface="Arial"/>
              </a:rPr>
              <a:t>Audience evaluation</a:t>
            </a:r>
          </a:p>
          <a:p>
            <a:pPr algn="l">
              <a:spcBef>
                <a:spcPts val="180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Evaluators bet on a sponsor's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endorsement, see the outcome,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then bet on a second endorsement</a:t>
            </a:r>
          </a:p>
          <a:p>
            <a:pPr algn="l">
              <a:spcBef>
                <a:spcPts val="0"/>
              </a:spcBef>
            </a:pPr>
            <a:r>
              <a:rPr sz="1500">
                <a:solidFill>
                  <a:srgbClr val="111827"/>
                </a:solidFill>
                <a:latin typeface="Arial"/>
              </a:rPr>
              <a:t>from the same sponsor.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0807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1">
                <a:solidFill>
                  <a:srgbClr val="011F5B"/>
                </a:solidFill>
                <a:latin typeface="Arial"/>
              </a:rPr>
              <a:t>Today's talk focuses on Stage 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1:  Where do the candidates come from?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1">
                <a:solidFill>
                  <a:srgbClr val="6B7280"/>
                </a:solidFill>
                <a:latin typeface="Arial"/>
              </a:rPr>
              <a:t>Real participants completed three professional-ability tasks (Barron et al., 2025).</a:t>
            </a:r>
          </a:p>
        </p:txBody>
      </p:sp>
      <p:pic>
        <p:nvPicPr>
          <p:cNvPr id="4" name="Picture 3" descr="stage1_tasks_cro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6179" y="1691640"/>
            <a:ext cx="775933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17220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1">
                <a:solidFill>
                  <a:srgbClr val="6B7280"/>
                </a:solidFill>
                <a:latin typeface="Arial"/>
              </a:rPr>
              <a:t>Word search  ·  General-knowledge quiz  ·  Logical-reasoning (Raven's matrices)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2:  Real sponsors made real endorsements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1">
                <a:solidFill>
                  <a:srgbClr val="6B7280"/>
                </a:solidFill>
                <a:latin typeface="Arial"/>
              </a:rPr>
              <a:t>Stage 2 was a stimulus-generation step. Sponsors saw real candidate pairs and picked who would perform better.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74519"/>
            <a:ext cx="4434840" cy="4389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1">
                <a:solidFill>
                  <a:srgbClr val="111827"/>
                </a:solidFill>
                <a:latin typeface="Arial"/>
              </a:rPr>
              <a:t>•  Real sponsors  →  real endorsements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11827"/>
                </a:solidFill>
                <a:latin typeface="Arial"/>
              </a:rPr>
              <a:t>•  Each sponsor sees one candidate pair from Stage 1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11827"/>
                </a:solidFill>
                <a:latin typeface="Arial"/>
              </a:rPr>
              <a:t>•  Sponsor moves a slider to express which candidate they favor and how confident they are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11827"/>
                </a:solidFill>
                <a:latin typeface="Arial"/>
              </a:rPr>
              <a:t>•  Their sliders become the endorsements that Stage 3 evaluators see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11827"/>
                </a:solidFill>
                <a:latin typeface="Arial"/>
              </a:rPr>
              <a:t>•  We sample sponsors across gender to populate every Stage 3 cell</a:t>
            </a:r>
          </a:p>
        </p:txBody>
      </p:sp>
      <p:pic>
        <p:nvPicPr>
          <p:cNvPr id="5" name="Picture 4" descr="stage2_candidate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874519"/>
            <a:ext cx="6858000" cy="42176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74920" y="6263640"/>
            <a:ext cx="6858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1">
                <a:solidFill>
                  <a:srgbClr val="6B7280"/>
                </a:solidFill>
                <a:latin typeface="Arial"/>
              </a:rPr>
              <a:t>An example of what a Stage 2 sponsor sees.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Stage 3:  What we manipulate, what evaluators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Each evaluator sees ONE sponsor making ONE endorsement, then watches the outcome, then sees a second endorsement from the same sponsor.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6B7280"/>
                </a:solidFill>
                <a:latin typeface="Arial"/>
              </a:rPr>
              <a:t>WE RANDOMLY VARY THREE THINGS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4563" y="1828800"/>
            <a:ext cx="37033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 bIns="164592"/>
          <a:lstStyle/>
          <a:p>
            <a:pPr algn="l"/>
            <a:r>
              <a:rPr sz="1800" b="1">
                <a:solidFill>
                  <a:srgbClr val="011F5B"/>
                </a:solidFill>
                <a:latin typeface="Arial"/>
              </a:rPr>
              <a:t>1.  Sponsor gender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011F5B"/>
                </a:solidFill>
                <a:latin typeface="Arial"/>
              </a:rPr>
              <a:t>•  Man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990000"/>
                </a:solidFill>
                <a:latin typeface="Arial"/>
              </a:rPr>
              <a:t>•  Woman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44187" y="1828800"/>
            <a:ext cx="37033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 bIns="164592"/>
          <a:lstStyle/>
          <a:p>
            <a:pPr algn="l"/>
            <a:r>
              <a:rPr sz="1800" b="1">
                <a:solidFill>
                  <a:srgbClr val="011F5B"/>
                </a:solidFill>
                <a:latin typeface="Arial"/>
              </a:rPr>
              <a:t>2.  Endorsement strength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111827"/>
                </a:solidFill>
                <a:latin typeface="Arial"/>
              </a:rPr>
              <a:t>•  Strong  (very confident)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111827"/>
                </a:solidFill>
                <a:latin typeface="Arial"/>
              </a:rPr>
              <a:t>•  Weak  (hedged / unsure)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93811" y="1828800"/>
            <a:ext cx="3703320" cy="18288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 bIns="164592"/>
          <a:lstStyle/>
          <a:p>
            <a:pPr algn="l"/>
            <a:r>
              <a:rPr sz="1800" b="1">
                <a:solidFill>
                  <a:srgbClr val="011F5B"/>
                </a:solidFill>
                <a:latin typeface="Arial"/>
              </a:rPr>
              <a:t>3.  Outcome</a:t>
            </a:r>
          </a:p>
          <a:p>
            <a:pPr algn="l">
              <a:spcBef>
                <a:spcPts val="1000"/>
              </a:spcBef>
            </a:pPr>
            <a:r>
              <a:rPr sz="1600" b="1">
                <a:solidFill>
                  <a:srgbClr val="047A4B"/>
                </a:solidFill>
                <a:latin typeface="Arial"/>
              </a:rPr>
              <a:t>•  Endorser was correct</a:t>
            </a:r>
          </a:p>
          <a:p>
            <a:pPr algn="l">
              <a:spcBef>
                <a:spcPts val="400"/>
              </a:spcBef>
            </a:pPr>
            <a:r>
              <a:rPr sz="1600" b="1">
                <a:solidFill>
                  <a:srgbClr val="C81E1E"/>
                </a:solidFill>
                <a:latin typeface="Arial"/>
              </a:rPr>
              <a:t>•  Endorser was wrong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977639"/>
            <a:ext cx="11247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6B7280"/>
                </a:solidFill>
                <a:latin typeface="Arial"/>
              </a:rPr>
              <a:t>WHAT EACH EVALUATOR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3747" y="4343400"/>
            <a:ext cx="3246120" cy="1691640"/>
          </a:xfrm>
          <a:prstGeom prst="roundRect">
            <a:avLst/>
          </a:prstGeom>
          <a:solidFill>
            <a:srgbClr val="E7EFFA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 bIns="164592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1    </a:t>
            </a:r>
            <a:r>
              <a:rPr sz="2000" b="1">
                <a:solidFill>
                  <a:srgbClr val="011F5B"/>
                </a:solidFill>
                <a:latin typeface="Arial"/>
              </a:rPr>
              <a:t>Initial wager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111827"/>
                </a:solidFill>
                <a:latin typeface="Arial"/>
              </a:rPr>
              <a:t>Sees the sponsor's first endorsement; bets a fraction of a $0.50 bank that the sponsor is correct.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4015587" y="4988052"/>
            <a:ext cx="411480" cy="402336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72787" y="4343400"/>
            <a:ext cx="3246120" cy="1691640"/>
          </a:xfrm>
          <a:prstGeom prst="roundRect">
            <a:avLst/>
          </a:prstGeom>
          <a:solidFill>
            <a:srgbClr val="FDF1CC"/>
          </a:solidFill>
          <a:ln w="2540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 bIns="164592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2    </a:t>
            </a:r>
            <a:r>
              <a:rPr sz="2000" b="1">
                <a:solidFill>
                  <a:srgbClr val="011F5B"/>
                </a:solidFill>
                <a:latin typeface="Arial"/>
              </a:rPr>
              <a:t>Outcome reveal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111827"/>
                </a:solidFill>
                <a:latin typeface="Arial"/>
              </a:rPr>
              <a:t>Learns whether the sponsor was correct. The bank is updated.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764627" y="4988052"/>
            <a:ext cx="411480" cy="402336"/>
          </a:xfrm>
          <a:prstGeom prst="rightArrow">
            <a:avLst/>
          </a:prstGeom>
          <a:solidFill>
            <a:srgbClr val="011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1827" y="4343400"/>
            <a:ext cx="3246120" cy="1691640"/>
          </a:xfrm>
          <a:prstGeom prst="roundRect">
            <a:avLst/>
          </a:prstGeom>
          <a:solidFill>
            <a:srgbClr val="E7EFFA"/>
          </a:solidFill>
          <a:ln w="25400">
            <a:solidFill>
              <a:srgbClr val="011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164592" bIns="164592"/>
          <a:lstStyle/>
          <a:p>
            <a:pPr algn="ctr"/>
            <a:r>
              <a:rPr sz="2000" b="1">
                <a:solidFill>
                  <a:srgbClr val="990000"/>
                </a:solidFill>
                <a:latin typeface="Arial"/>
              </a:rPr>
              <a:t>3    </a:t>
            </a:r>
            <a:r>
              <a:rPr sz="2000" b="1">
                <a:solidFill>
                  <a:srgbClr val="011F5B"/>
                </a:solidFill>
                <a:latin typeface="Arial"/>
              </a:rPr>
              <a:t>Second wager</a:t>
            </a:r>
          </a:p>
          <a:p>
            <a:pPr>
              <a:spcBef>
                <a:spcPts val="800"/>
              </a:spcBef>
            </a:pPr>
            <a:r>
              <a:rPr sz="1300">
                <a:solidFill>
                  <a:srgbClr val="111827"/>
                </a:solidFill>
                <a:latin typeface="Arial"/>
              </a:rPr>
              <a:t>Sees the SAME sponsor's second endorsement (different candidate pair); bets again.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26364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1">
                <a:solidFill>
                  <a:srgbClr val="011F5B"/>
                </a:solidFill>
                <a:latin typeface="Arial"/>
              </a:rPr>
              <a:t>Outcome variable:  Trust change  =  (second wager)  −  (initial wager)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1:  Initial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An evaluator sees one sponsor's confident endorsement and bets a fraction of their $0.50 bank.</a:t>
            </a:r>
          </a:p>
        </p:txBody>
      </p:sp>
      <p:pic>
        <p:nvPicPr>
          <p:cNvPr id="4" name="Picture 3" descr="W_correct_strong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2:  Outcome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endorser was CORRECT — the evaluator's bank goes up.  (We also run a 'wrong' variant.)</a:t>
            </a:r>
          </a:p>
        </p:txBody>
      </p:sp>
      <p:pic>
        <p:nvPicPr>
          <p:cNvPr id="4" name="Picture 3" descr="W_correct_strong_d2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416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011F5B"/>
                </a:solidFill>
                <a:latin typeface="Arial"/>
              </a:rPr>
              <a:t>Step 3:  Second wager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68680"/>
            <a:ext cx="112471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Arial"/>
              </a:rPr>
              <a:t>The same sponsor, a different candidate pair.  How much does the evaluator wager now?</a:t>
            </a:r>
          </a:p>
        </p:txBody>
      </p:sp>
      <p:pic>
        <p:nvPicPr>
          <p:cNvPr id="4" name="Picture 3" descr="W_correct_strong_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417320"/>
            <a:ext cx="11521440" cy="435810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RQ1:  Gender × Outcome on trust update</a:t>
            </a:r>
          </a:p>
        </p:txBody>
      </p:sp>
      <p:pic>
        <p:nvPicPr>
          <p:cNvPr id="3" name="Picture 2" descr="rq1_gender_x_out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262" y="1097280"/>
            <a:ext cx="9361170" cy="5349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RQ2:  Strong endorsers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41248"/>
            <a:ext cx="11247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Arial"/>
              </a:rPr>
              <a:t>When sponsors are very confident, the gender × outcome gap is biggest.</a:t>
            </a:r>
          </a:p>
        </p:txBody>
      </p:sp>
      <p:pic>
        <p:nvPicPr>
          <p:cNvPr id="4" name="Picture 3" descr="rq2_stron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262" y="1325880"/>
            <a:ext cx="9361170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RQ2:  Weak endorsers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41248"/>
            <a:ext cx="11247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Arial"/>
              </a:rPr>
              <a:t>When sponsors hedge, the same pattern persists at smaller magnitudes.</a:t>
            </a:r>
          </a:p>
        </p:txBody>
      </p:sp>
      <p:pic>
        <p:nvPicPr>
          <p:cNvPr id="4" name="Picture 3" descr="rq2_weak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262" y="1325880"/>
            <a:ext cx="9361170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011F5B"/>
                </a:solidFill>
                <a:latin typeface="Arial"/>
              </a:rPr>
              <a:t>RQ3:  Does the bias exist before any outcome?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41248"/>
            <a:ext cx="11247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6B7280"/>
                </a:solidFill>
                <a:latin typeface="Arial"/>
              </a:rPr>
              <a:t>Before the outcome arrives, audiences trust male and female sponsors equally.</a:t>
            </a:r>
          </a:p>
        </p:txBody>
      </p:sp>
      <p:pic>
        <p:nvPicPr>
          <p:cNvPr id="4" name="Picture 3" descr="rq3_initial_tru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5262" y="1325880"/>
            <a:ext cx="9361170" cy="5349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80160"/>
            <a:ext cx="73152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11F5B"/>
                </a:solidFill>
                <a:latin typeface="Arial"/>
              </a:rPr>
              <a:t>The bias is real — but it shows up post-outcome, not pre-outcome.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606040"/>
            <a:ext cx="731520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111827"/>
                </a:solidFill>
                <a:latin typeface="Arial"/>
              </a:rPr>
              <a:t>•  Men's endorsements move trust by Δ = +15.0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11827"/>
                </a:solidFill>
                <a:latin typeface="Arial"/>
              </a:rPr>
              <a:t>•  Women's endorsements move trust by Δ = +4.3</a:t>
            </a:r>
          </a:p>
          <a:p>
            <a:pPr algn="l">
              <a:spcAft>
                <a:spcPts val="1200"/>
              </a:spcAft>
            </a:pPr>
            <a:r>
              <a:rPr sz="1800" b="1">
                <a:solidFill>
                  <a:srgbClr val="111827"/>
                </a:solidFill>
                <a:latin typeface="Arial"/>
              </a:rPr>
              <a:t>•  Pre-outcome trust does NOT differ by gender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11827"/>
                </a:solidFill>
                <a:latin typeface="Arial"/>
              </a:rPr>
              <a:t>•  Stronger endorsements amplify the asymmetry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11827"/>
                </a:solidFill>
                <a:latin typeface="Arial"/>
              </a:rPr>
              <a:t>•  Cohen's d for Gender × Outcome  ≈  0.34</a:t>
            </a:r>
          </a:p>
        </p:txBody>
      </p:sp>
      <p:pic>
        <p:nvPicPr>
          <p:cNvPr id="5" name="Picture 4" descr="synthesis_outcom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1417320"/>
            <a:ext cx="4023360" cy="4023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98932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1">
                <a:solidFill>
                  <a:srgbClr val="990000"/>
                </a:solidFill>
                <a:latin typeface="Arial"/>
              </a:rPr>
              <a:t>Reframe: this is not 'women are punished more harshly.' It is 'men's endorsements get updated against more — in BOTH directions.'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Theoretical implications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47120" cy="5029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800" b="1">
                <a:solidFill>
                  <a:srgbClr val="111827"/>
                </a:solidFill>
                <a:latin typeface="Arial"/>
              </a:rPr>
              <a:t>•  Endorser informativeness is gendered.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111827"/>
                </a:solidFill>
                <a:latin typeface="Arial"/>
              </a:rPr>
              <a:t>•  Audiences treat a single outcome as more diagnostic of a man's reliability than of a woman's.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11827"/>
                </a:solidFill>
                <a:latin typeface="Arial"/>
              </a:rPr>
              <a:t>•  This is not a 'taste-based' bias against women.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111827"/>
                </a:solidFill>
                <a:latin typeface="Arial"/>
              </a:rPr>
              <a:t>•  Initial trust is symmetric.  The asymmetry arrives only after outcome feedback.</a:t>
            </a:r>
          </a:p>
          <a:p>
            <a:pPr algn="l">
              <a:spcAft>
                <a:spcPts val="1400"/>
              </a:spcAft>
            </a:pPr>
            <a:r>
              <a:rPr sz="1800" b="1">
                <a:solidFill>
                  <a:srgbClr val="111827"/>
                </a:solidFill>
                <a:latin typeface="Arial"/>
              </a:rPr>
              <a:t>•  Implications for sponsorship as a career-mobility lever.</a:t>
            </a:r>
          </a:p>
          <a:p>
            <a:pPr algn="l">
              <a:spcAft>
                <a:spcPts val="1400"/>
              </a:spcAft>
            </a:pPr>
            <a:r>
              <a:rPr sz="1800" b="0">
                <a:solidFill>
                  <a:srgbClr val="111827"/>
                </a:solidFill>
                <a:latin typeface="Arial"/>
              </a:rPr>
              <a:t>•  If outcome learning is dampened for women sponsors, their reputational ROI per endorsement is structurally lower — even when they pick equally well.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8585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11F5B"/>
                </a:solidFill>
                <a:latin typeface="Arial"/>
              </a:rPr>
              <a:t>Limitations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247120" cy="5029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Arial"/>
              </a:rPr>
              <a:t>•  Single-outcome design — multi-trial accumulation may differ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Arial"/>
              </a:rPr>
              <a:t>•  Prolific sample limits generalizability to organizational contexts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Arial"/>
              </a:rPr>
              <a:t>•  Endorsement strength was rated by sponsors, not held to a single calibration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11827"/>
                </a:solidFill>
                <a:latin typeface="Arial"/>
              </a:rPr>
              <a:t>•  Next: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Arial"/>
              </a:rPr>
              <a:t>•  Pre-registered confirmatory study with N ≈ 1,200 (powered for the 3-way interaction)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Arial"/>
              </a:rPr>
              <a:t>•  Field replication: real LinkedIn-style endorsements from professional reviewers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111827"/>
                </a:solidFill>
                <a:latin typeface="Arial"/>
              </a:rPr>
              <a:t>•  Mechanism: ask evaluators to attribute success/failure to skill vs. luck and test mediation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ED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400" b="1" i="0">
                <a:solidFill>
                  <a:srgbClr val="011F5B"/>
                </a:solidFill>
                <a:latin typeface="Arial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918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0" i="0">
                <a:solidFill>
                  <a:srgbClr val="111827"/>
                </a:solidFill>
                <a:latin typeface="Arial"/>
              </a:rPr>
              <a:t>Jose Cervantez · Erika Kirgios · Rosalind Chow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1">
                <a:solidFill>
                  <a:srgbClr val="6B7280"/>
                </a:solidFill>
                <a:latin typeface="Arial"/>
              </a:rPr>
              <a:t>University of Chicago  ·  April 10,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1">
                <a:solidFill>
                  <a:srgbClr val="990000"/>
                </a:solidFill>
                <a:latin typeface="Arial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74375" y="6473952"/>
            <a:ext cx="7772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100" b="1">
                <a:solidFill>
                  <a:srgbClr val="FFFFFF"/>
                </a:solidFill>
                <a:latin typeface="Arial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harton 2016 16:9">
  <a:themeElements>
    <a:clrScheme name="Wharton">
      <a:dk1>
        <a:srgbClr val="2D2C41"/>
      </a:dk1>
      <a:lt1>
        <a:srgbClr val="FFFFFF"/>
      </a:lt1>
      <a:dk2>
        <a:srgbClr val="011F5B"/>
      </a:dk2>
      <a:lt2>
        <a:srgbClr val="EEEDEA"/>
      </a:lt2>
      <a:accent1>
        <a:srgbClr val="011F5B"/>
      </a:accent1>
      <a:accent2>
        <a:srgbClr val="990000"/>
      </a:accent2>
      <a:accent3>
        <a:srgbClr val="026CB5"/>
      </a:accent3>
      <a:accent4>
        <a:srgbClr val="06AAFC"/>
      </a:accent4>
      <a:accent5>
        <a:srgbClr val="96227D"/>
      </a:accent5>
      <a:accent6>
        <a:srgbClr val="D7BC6A"/>
      </a:accent6>
      <a:hlink>
        <a:srgbClr val="06AAFC"/>
      </a:hlink>
      <a:folHlink>
        <a:srgbClr val="06AAFC"/>
      </a:folHlink>
    </a:clrScheme>
    <a:fontScheme name="Wharton 2016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Theme_4x3</Template>
  <TotalTime>8144</TotalTime>
  <Words>859</Words>
  <Application>Microsoft Office PowerPoint</Application>
  <PresentationFormat>Widescreen</PresentationFormat>
  <Paragraphs>188</Paragraphs>
  <Slides>39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4" baseType="lpstr">
      <vt:lpstr>Arial</vt:lpstr>
      <vt:lpstr>Calibri</vt:lpstr>
      <vt:lpstr>Garamond</vt:lpstr>
      <vt:lpstr>Georgia</vt:lpstr>
      <vt:lpstr>Wharton 2016 16:9</vt:lpstr>
      <vt:lpstr>Who Builds Social Capital Through Sponsorship? </vt:lpstr>
      <vt:lpstr>PowerPoint Presentation</vt:lpstr>
      <vt:lpstr>What is sponsorship?</vt:lpstr>
      <vt:lpstr>The decision to sponsor has several tradeoffs</vt:lpstr>
      <vt:lpstr>More importantly, how do these tradeoffs influence sponsor perceptions as a function of gender?</vt:lpstr>
      <vt:lpstr>Multi-stage lab experiment</vt:lpstr>
      <vt:lpstr>Multi-stage lab experiment</vt:lpstr>
      <vt:lpstr>PowerPoint Presentation</vt:lpstr>
      <vt:lpstr>Multi-stage lab experiment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Multi-stage lab experiment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Predictions</vt:lpstr>
      <vt:lpstr>Predictions</vt:lpstr>
      <vt:lpstr>Predictions</vt:lpstr>
      <vt:lpstr>Predictions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Matthew Byers</dc:creator>
  <cp:lastModifiedBy>Cervantez, Jose A.</cp:lastModifiedBy>
  <cp:revision>85</cp:revision>
  <dcterms:created xsi:type="dcterms:W3CDTF">2016-03-10T13:41:29Z</dcterms:created>
  <dcterms:modified xsi:type="dcterms:W3CDTF">2025-11-12T16:26:17Z</dcterms:modified>
</cp:coreProperties>
</file>