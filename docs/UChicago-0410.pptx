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301" r:id="rId3"/>
    <p:sldId id="277" r:id="rId4"/>
    <p:sldId id="284" r:id="rId5"/>
    <p:sldId id="282" r:id="rId6"/>
    <p:sldId id="283" r:id="rId7"/>
    <p:sldId id="258" r:id="rId8"/>
    <p:sldId id="259" r:id="rId9"/>
    <p:sldId id="260" r:id="rId10"/>
    <p:sldId id="261" r:id="rId11"/>
    <p:sldId id="262" r:id="rId12"/>
    <p:sldId id="285" r:id="rId13"/>
    <p:sldId id="263" r:id="rId14"/>
    <p:sldId id="279" r:id="rId15"/>
    <p:sldId id="286" r:id="rId16"/>
    <p:sldId id="280" r:id="rId17"/>
    <p:sldId id="278" r:id="rId18"/>
    <p:sldId id="264" r:id="rId19"/>
    <p:sldId id="265" r:id="rId20"/>
    <p:sldId id="266" r:id="rId21"/>
    <p:sldId id="267" r:id="rId22"/>
    <p:sldId id="271" r:id="rId23"/>
    <p:sldId id="268" r:id="rId24"/>
    <p:sldId id="269" r:id="rId25"/>
    <p:sldId id="270" r:id="rId26"/>
    <p:sldId id="272" r:id="rId27"/>
    <p:sldId id="273" r:id="rId28"/>
    <p:sldId id="275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01"/>
            <p14:sldId id="277"/>
            <p14:sldId id="284"/>
            <p14:sldId id="282"/>
            <p14:sldId id="283"/>
            <p14:sldId id="258"/>
            <p14:sldId id="259"/>
            <p14:sldId id="260"/>
            <p14:sldId id="261"/>
            <p14:sldId id="262"/>
            <p14:sldId id="285"/>
            <p14:sldId id="263"/>
            <p14:sldId id="279"/>
            <p14:sldId id="286"/>
            <p14:sldId id="280"/>
            <p14:sldId id="278"/>
            <p14:sldId id="264"/>
            <p14:sldId id="265"/>
            <p14:sldId id="266"/>
            <p14:sldId id="267"/>
            <p14:sldId id="271"/>
            <p14:sldId id="268"/>
            <p14:sldId id="269"/>
            <p14:sldId id="270"/>
            <p14:sldId id="272"/>
            <p14:sldId id="273"/>
            <p14:sldId id="275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EF9B2-01F8-09E6-9908-0963AA8C10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804672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Goals for this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463040" cy="5486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118311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0" i="1">
                <a:solidFill>
                  <a:srgbClr val="5B657A"/>
                </a:solidFill>
                <a:latin typeface="Arial"/>
              </a:rPr>
              <a:t>Two things we'd love feedback on today: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97479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06039"/>
            <a:ext cx="10972800" cy="15087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>
                <a:solidFill>
                  <a:srgbClr val="00143D"/>
                </a:solidFill>
                <a:latin typeface="Arial"/>
              </a:rPr>
              <a:t>Experimental design</a:t>
            </a:r>
          </a:p>
          <a:p>
            <a:pPr>
              <a:spcBef>
                <a:spcPts val="400"/>
              </a:spcBef>
            </a:pPr>
            <a:r>
              <a:rPr sz="2100" b="0" i="0">
                <a:solidFill>
                  <a:srgbClr val="1F2937"/>
                </a:solidFill>
                <a:latin typeface="Arial"/>
              </a:rPr>
              <a:t>anything to flag before we scale up and preregister?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10972800" cy="836126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 dirty="0">
                <a:solidFill>
                  <a:srgbClr val="00143D"/>
                </a:solidFill>
                <a:latin typeface="Arial"/>
              </a:rPr>
              <a:t>Interpretation of 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our </a:t>
            </a:r>
            <a:r>
              <a:rPr sz="2400" b="1" i="0" dirty="0">
                <a:solidFill>
                  <a:srgbClr val="00143D"/>
                </a:solidFill>
                <a:latin typeface="Arial"/>
              </a:rPr>
              <a:t>pilot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 data</a:t>
            </a:r>
            <a:endParaRPr sz="2400" b="1" i="0" dirty="0">
              <a:solidFill>
                <a:srgbClr val="00143D"/>
              </a:solidFill>
              <a:latin typeface="Arial"/>
            </a:endParaRPr>
          </a:p>
          <a:p>
            <a:pPr>
              <a:spcBef>
                <a:spcPts val="400"/>
              </a:spcBef>
            </a:pPr>
            <a:r>
              <a:rPr sz="2100" b="0" i="0" dirty="0">
                <a:solidFill>
                  <a:srgbClr val="1F2937"/>
                </a:solidFill>
                <a:latin typeface="Arial"/>
              </a:rPr>
              <a:t>we have a running theory, but alternatives are very welcome.</a:t>
            </a:r>
          </a:p>
        </p:txBody>
      </p:sp>
    </p:spTree>
    <p:extLst>
      <p:ext uri="{BB962C8B-B14F-4D97-AF65-F5344CB8AC3E}">
        <p14:creationId xmlns:p14="http://schemas.microsoft.com/office/powerpoint/2010/main" val="37745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410809A-3BFB-4B4E-9031-A9AE0018A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Robert Keller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Susan Keller</a:t>
            </a:r>
            <a:endParaRPr lang="en-US" sz="1300" b="1" i="1" dirty="0">
              <a:solidFill>
                <a:srgbClr val="011F5B"/>
              </a:solidFill>
              <a:latin typeface="Calibri"/>
            </a:endParaRP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862290F-98C8-47C1-94CB-85B874F7882D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1805426-5748-4DD7-B75D-2DDFAB1BA0F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Rectangle 503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 dirty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6" name="Oval 505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7" name="Rectangle 506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8C1727D-8A3F-4222-A3E5-09914707AEC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6" name="Rectangle 505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7" name="Oval 506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8" name="Rectangle 507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potential,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DF99A4A-470F-4203-94F7-2F8E64E32661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F17C1-29F7-4E56-9601-0C8C99D8C01E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8AD538-F77B-44D6-BAE5-554C63FAB4BA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A7DE0CE-2F4B-41B4-9E6F-4E09BD8E348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05" name="TextBox 204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Protégé performance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F7F67-5F11-4B5B-A115-046EA0C21CC5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2:  </a:t>
            </a:r>
            <a:r>
              <a:rPr lang="en-US" sz="3200" b="1" dirty="0">
                <a:solidFill>
                  <a:srgbClr val="011F5B"/>
                </a:solidFill>
                <a:latin typeface="Arial"/>
              </a:rPr>
              <a:t>Sponsors made decisions on two candidates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9700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</a:t>
            </a:r>
            <a:r>
              <a:rPr sz="1800" b="0" dirty="0">
                <a:solidFill>
                  <a:srgbClr val="111827"/>
                </a:solidFill>
                <a:latin typeface="Arial"/>
              </a:rPr>
              <a:t>Each sponsor sees 10 candidate pairs and makes 10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</a:t>
            </a:r>
            <a:r>
              <a:rPr lang="en-US" sz="1800" b="0" dirty="0">
                <a:solidFill>
                  <a:srgbClr val="111827"/>
                </a:solidFill>
                <a:latin typeface="Arial"/>
              </a:rPr>
              <a:t>created a lot of comparisons to increase the variance in sponsor decisions</a:t>
            </a:r>
            <a:endParaRPr sz="1800" b="0" dirty="0">
              <a:solidFill>
                <a:srgbClr val="111827"/>
              </a:solidFill>
              <a:latin typeface="Arial"/>
            </a:endParaRP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0DC4AF-1C01-4380-8C98-CD7D0FABA51B}" type="slidenum">
              <a:rPr lang="en-US" smtClean="0"/>
              <a:pPr/>
              <a:t>13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B78FF10-2160-4389-9669-EF3A0C6F12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>
                <a:solidFill>
                  <a:srgbClr val="1F2937"/>
                </a:solidFill>
                <a:latin typeface="Calibri"/>
              </a:rPr>
              <a:t>Each sponsor earns </a:t>
            </a:r>
            <a:r>
              <a:rPr sz="2600" b="1">
                <a:solidFill>
                  <a:srgbClr val="00143D"/>
                </a:solidFill>
                <a:latin typeface="Calibri"/>
              </a:rPr>
              <a:t>$1 flat</a:t>
            </a:r>
            <a:r>
              <a:rPr sz="2600">
                <a:solidFill>
                  <a:srgbClr val="1F2937"/>
                </a:solidFill>
                <a:latin typeface="Calibri"/>
              </a:rPr>
              <a:t> plus up to </a:t>
            </a:r>
            <a:r>
              <a:rPr sz="2600" b="1">
                <a:solidFill>
                  <a:srgbClr val="00143D"/>
                </a:solidFill>
                <a:latin typeface="Calibri"/>
              </a:rPr>
              <a:t>$3 bonus</a:t>
            </a:r>
            <a:r>
              <a:rPr sz="2600">
                <a:solidFill>
                  <a:srgbClr val="1F2937"/>
                </a:solidFill>
                <a:latin typeface="Calibri"/>
              </a:rPr>
              <a:t> per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500" i="1" dirty="0">
                <a:solidFill>
                  <a:srgbClr val="5B657A"/>
                </a:solidFill>
                <a:latin typeface="Calibri"/>
              </a:rPr>
              <a:t>The bonus is based on ONE randomly selected endorsement, paid only if the endorsed candidate actually scored higher, scaling with how much a downstream evaluator wagered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 bonus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 dirty="0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 dirty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011680"/>
            <a:ext cx="1115568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1" i="1">
                <a:solidFill>
                  <a:srgbClr val="00143D"/>
                </a:solidFill>
                <a:latin typeface="Calibri"/>
              </a:rPr>
              <a:t>n = 200 sponsors  ·  10 endorsements each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A7B10F6-D787-491A-A00D-F0F7AA9E449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n = 403 Prolific evaluators (passed 5/5 comprehension checks</a:t>
            </a:r>
            <a:r>
              <a:rPr lang="en-US" sz="1800" b="0" i="1" dirty="0">
                <a:solidFill>
                  <a:srgbClr val="5B657A"/>
                </a:solidFill>
                <a:latin typeface="Calibri"/>
              </a:rPr>
              <a:t> and gender manipulation check</a:t>
            </a:r>
            <a:r>
              <a:rPr sz="1800" b="0" i="1" dirty="0">
                <a:solidFill>
                  <a:srgbClr val="5B657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1" i="0" dirty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the sponsor's name +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72384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96512"/>
            <a:ext cx="11155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3542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714146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650992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8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4D4DDC8-3CB5-462D-8BA5-B5D26B7390E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DA0BC19-D747-4BF2-BE3E-BA37F6138FD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The sponsor's first name + colored avatar signal their gender.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Sponsors used a 0–100 slider to choose a candidate. Pushed near one end = Strong (very sure), left near the middle = Weak (barely committed).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An endorsement was right if the endorsed candidate actually outscored the other on logical-reasoning.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35424" y="3273552"/>
            <a:ext cx="3118104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4535424" y="3584448"/>
            <a:ext cx="3118104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5" name="Rounded Rectangle 234"/>
          <p:cNvSpPr/>
          <p:nvPr/>
        </p:nvSpPr>
        <p:spPr>
          <a:xfrm>
            <a:off x="4909596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unded Rectangle 235"/>
          <p:cNvSpPr/>
          <p:nvPr/>
        </p:nvSpPr>
        <p:spPr>
          <a:xfrm>
            <a:off x="6936364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4443984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24928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55312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55312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582079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582079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C039CF3-F676-4ABB-AB5D-181C9A12C2F1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CORRECT.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2AE8C2-DFC8-4962-A512-91142A2F63A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D95FE1-4089-45B4-A36C-0256011A0793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</a:t>
            </a:r>
            <a:r>
              <a:rPr lang="en-US" sz="26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52DB2A-018C-4FE0-9B70-C71C0852F31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215" name="Picture 214" descr="rq1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461DB-4C47-456E-19EE-7DBC80297E3B}"/>
              </a:ext>
            </a:extLst>
          </p:cNvPr>
          <p:cNvSpPr/>
          <p:nvPr/>
        </p:nvSpPr>
        <p:spPr>
          <a:xfrm>
            <a:off x="5126636" y="1645920"/>
            <a:ext cx="6913084" cy="46874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04D4AA-5082-AA77-8301-0E45446B466A}"/>
              </a:ext>
            </a:extLst>
          </p:cNvPr>
          <p:cNvSpPr/>
          <p:nvPr/>
        </p:nvSpPr>
        <p:spPr>
          <a:xfrm>
            <a:off x="8027232" y="112425"/>
            <a:ext cx="4012487" cy="36901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RQ2</a:t>
            </a:r>
            <a:r>
              <a:rPr lang="en-US" sz="2600" b="1" i="0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AB970C-8672-4988-8838-61247889C57C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570E96-E54B-5B65-93B9-023303B58143}"/>
              </a:ext>
            </a:extLst>
          </p:cNvPr>
          <p:cNvSpPr/>
          <p:nvPr/>
        </p:nvSpPr>
        <p:spPr>
          <a:xfrm>
            <a:off x="6272299" y="2450891"/>
            <a:ext cx="5536812" cy="29860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EE36CA-69EA-93EE-7DED-EE6F60649D93}"/>
              </a:ext>
            </a:extLst>
          </p:cNvPr>
          <p:cNvSpPr/>
          <p:nvPr/>
        </p:nvSpPr>
        <p:spPr>
          <a:xfrm>
            <a:off x="7452359" y="167515"/>
            <a:ext cx="4494801" cy="15394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015512" y="261068"/>
            <a:ext cx="1775526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36629C-C071-45B7-8387-2682D7526E9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6FB179C-7B51-1FA0-AC3E-667344EA1151}"/>
              </a:ext>
            </a:extLst>
          </p:cNvPr>
          <p:cNvGrpSpPr/>
          <p:nvPr/>
        </p:nvGrpSpPr>
        <p:grpSpPr>
          <a:xfrm>
            <a:off x="7580694" y="274320"/>
            <a:ext cx="2434818" cy="1280160"/>
            <a:chOff x="7580694" y="274320"/>
            <a:chExt cx="2434818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4842B0D-1563-5F77-5B18-9D0F0FD8C625}"/>
                </a:ext>
              </a:extLst>
            </p:cNvPr>
            <p:cNvGrpSpPr/>
            <p:nvPr/>
          </p:nvGrpSpPr>
          <p:grpSpPr>
            <a:xfrm>
              <a:off x="7580694" y="274320"/>
              <a:ext cx="2434818" cy="1280160"/>
              <a:chOff x="6766560" y="292608"/>
              <a:chExt cx="2434818" cy="1280160"/>
            </a:xfrm>
          </p:grpSpPr>
          <p:sp>
            <p:nvSpPr>
              <p:cNvPr id="214" name="Rounded Rectangle 213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5" name="TextBox 214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6" name="Rounded Rectangle 215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8" name="TextBox 217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012658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 dirty="0">
                    <a:solidFill>
                      <a:srgbClr val="00143D"/>
                    </a:solidFill>
                    <a:latin typeface="Arial"/>
                  </a:rPr>
                  <a:t>Strong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8012658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77–88</a:t>
                </a:r>
              </a:p>
            </p:txBody>
          </p:sp>
        </p:grpSp>
        <p:sp>
          <p:nvSpPr>
            <p:cNvPr id="217" name="Rounded Rectangle 216"/>
            <p:cNvSpPr/>
            <p:nvPr/>
          </p:nvSpPr>
          <p:spPr>
            <a:xfrm>
              <a:off x="9224374" y="635044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011F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2" name="TextBox 221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  <a:r>
              <a:rPr sz="2200" b="1" dirty="0">
                <a:solidFill>
                  <a:srgbClr val="011F5B"/>
                </a:solidFill>
                <a:latin typeface="Arial"/>
              </a:rPr>
              <a:t> </a:t>
            </a:r>
            <a:endParaRPr lang="en-US" sz="2200" b="1" dirty="0">
              <a:solidFill>
                <a:srgbClr val="011F5B"/>
              </a:solidFill>
              <a:latin typeface="Arial"/>
            </a:endParaRP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Strong endorsements:  how did one outcome shift wagers?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171308" y="274320"/>
            <a:ext cx="1696013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428904-08A1-459C-98CB-C622996A5981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146E6D1-13B7-F946-D9F4-EB852BB0D84E}"/>
              </a:ext>
            </a:extLst>
          </p:cNvPr>
          <p:cNvGrpSpPr/>
          <p:nvPr/>
        </p:nvGrpSpPr>
        <p:grpSpPr>
          <a:xfrm>
            <a:off x="7624244" y="274320"/>
            <a:ext cx="2434819" cy="1280160"/>
            <a:chOff x="6663461" y="292608"/>
            <a:chExt cx="2434819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6A38D61-7FDB-212F-A9E7-B35CD01CE104}"/>
                </a:ext>
              </a:extLst>
            </p:cNvPr>
            <p:cNvGrpSpPr/>
            <p:nvPr/>
          </p:nvGrpSpPr>
          <p:grpSpPr>
            <a:xfrm>
              <a:off x="6663461" y="292608"/>
              <a:ext cx="2434819" cy="1280160"/>
              <a:chOff x="6663461" y="292608"/>
              <a:chExt cx="2434819" cy="1280160"/>
            </a:xfrm>
          </p:grpSpPr>
          <p:sp>
            <p:nvSpPr>
              <p:cNvPr id="215" name="Rounded Rectangle 214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6" name="TextBox 215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7" name="Rounded Rectangle 216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6663461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>
                    <a:solidFill>
                      <a:srgbClr val="B12121"/>
                    </a:solidFill>
                    <a:latin typeface="Arial"/>
                  </a:rPr>
                  <a:t>Weak</a:t>
                </a:r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6663461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12–23</a:t>
                </a:r>
              </a:p>
            </p:txBody>
          </p:sp>
        </p:grpSp>
        <p:sp>
          <p:nvSpPr>
            <p:cNvPr id="218" name="Rounded Rectangle 217"/>
            <p:cNvSpPr/>
            <p:nvPr/>
          </p:nvSpPr>
          <p:spPr>
            <a:xfrm>
              <a:off x="7143658" y="640080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B1212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3" name="TextBox 222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Weak endorsements:  how did one outcome shift wagers?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40318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>
                <a:solidFill>
                  <a:srgbClr val="111827"/>
                </a:solidFill>
              </a:rPr>
              <a:t>•  </a:t>
            </a:r>
            <a:r>
              <a:rPr lang="en-US" sz="2400" dirty="0">
                <a:solidFill>
                  <a:srgbClr val="111827"/>
                </a:solidFill>
              </a:rPr>
              <a:t>Male and female sponsors are trusted equally at baseline </a:t>
            </a:r>
            <a:endParaRPr lang="en-US" sz="2400" b="0" dirty="0">
              <a:solidFill>
                <a:srgbClr val="111827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lang="en-US"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013D87F-5244-47F4-B4B2-87FD3047BE5E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DE2B18-7325-4203-8945-01CBD09AEDA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17" name="TextBox 216"/>
          <p:cNvSpPr txBox="1"/>
          <p:nvPr/>
        </p:nvSpPr>
        <p:spPr>
          <a:xfrm>
            <a:off x="502920" y="27432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Running story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2920" y="960120"/>
            <a:ext cx="11183112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Arial"/>
              </a:rPr>
              <a:t>The prior leaks in once there's an outcome to read.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502920" y="154533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758952" y="141732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Without a track record, people stay reserved.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RQ1 is null (b = -1.06, p = .81). With nothing but a strength label, there's no basis to discriminate yet. Unlike most discrimination findings, the gap leaks in only at the outcome.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02920" y="273405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758952" y="260604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Women's endorsements cluster high + narrow.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Once the outcome arrives, "she would have said it either way" makes it barely informative, so trust barely moves (consistent with the muted effects in the stronger confidence cells).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392277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758952" y="379476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Men's endorsements spread wide.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When men endorse with confidence it carries information that can be both praised or penalized, and the outcome moves trust accordingly.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02920" y="511149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758952" y="498348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Next direction: telegraph their standards.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Signaling "I only recommend the top 10%" breaks the assumed clustering, so the outcome can be re-read as informative.</a:t>
            </a:r>
          </a:p>
        </p:txBody>
      </p:sp>
      <p:pic>
        <p:nvPicPr>
          <p:cNvPr id="227" name="Picture 2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417320"/>
            <a:ext cx="4937760" cy="3035808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7178040" y="4471416"/>
            <a:ext cx="4937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Arial"/>
              </a:rPr>
              <a:t>Hypothesized prior distributions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F9FAA71-D419-44AE-8FB2-35FB403C2DE2}" type="slidenum">
              <a:rPr lang="en-US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377440"/>
            <a:ext cx="11183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00143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6616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5B657A"/>
                </a:solidFill>
                <a:latin typeface="Calibri"/>
              </a:rPr>
              <a:t>Instruction screens from the Stage 2 &amp; Stage 3 Qualtrics surveys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Endorser role</a:t>
            </a:r>
          </a:p>
        </p:txBody>
      </p:sp>
      <p:pic>
        <p:nvPicPr>
          <p:cNvPr id="3" name="Picture 2" descr="stage2_01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356" y="960120"/>
            <a:ext cx="967223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Earnings ($1 flat + $3 bonus)</a:t>
            </a:r>
          </a:p>
        </p:txBody>
      </p:sp>
      <p:pic>
        <p:nvPicPr>
          <p:cNvPr id="3" name="Picture 2" descr="stage2_02_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902" y="960120"/>
            <a:ext cx="663314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Task objective + slider</a:t>
            </a:r>
          </a:p>
        </p:txBody>
      </p:sp>
      <p:pic>
        <p:nvPicPr>
          <p:cNvPr id="3" name="Picture 2" descr="stage2_03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3575"/>
            <a:ext cx="11183112" cy="408804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Study purpose</a:t>
            </a:r>
          </a:p>
        </p:txBody>
      </p:sp>
      <p:pic>
        <p:nvPicPr>
          <p:cNvPr id="3" name="Picture 2" descr="stage3_01_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8052"/>
            <a:ext cx="11183112" cy="26590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What evaluators see</a:t>
            </a:r>
          </a:p>
        </p:txBody>
      </p:sp>
      <p:pic>
        <p:nvPicPr>
          <p:cNvPr id="3" name="Picture 2" descr="stage3_02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680" y="960120"/>
            <a:ext cx="825759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Endorser motivation</a:t>
            </a:r>
          </a:p>
        </p:txBody>
      </p:sp>
      <p:pic>
        <p:nvPicPr>
          <p:cNvPr id="3" name="Picture 2" descr="stage3_03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9443"/>
            <a:ext cx="11183112" cy="47963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Two-decision framing</a:t>
            </a:r>
          </a:p>
        </p:txBody>
      </p:sp>
      <p:pic>
        <p:nvPicPr>
          <p:cNvPr id="3" name="Picture 2" descr="stage3_04_two_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8569"/>
            <a:ext cx="11183112" cy="157806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$0.50 bank wager mechanics</a:t>
            </a:r>
          </a:p>
        </p:txBody>
      </p:sp>
      <p:pic>
        <p:nvPicPr>
          <p:cNvPr id="3" name="Picture 2" descr="stage3_05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23" y="960120"/>
            <a:ext cx="81195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CQ1  ·  Bank amount</a:t>
            </a:r>
          </a:p>
        </p:txBody>
      </p:sp>
      <p:pic>
        <p:nvPicPr>
          <p:cNvPr id="3" name="Picture 2" descr="stage3_cq1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CQ2  ·  Wager calculation</a:t>
            </a:r>
          </a:p>
        </p:txBody>
      </p:sp>
      <p:pic>
        <p:nvPicPr>
          <p:cNvPr id="3" name="Picture 2" descr="stage3_cq2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CQ3  ·  Bonus calculation</a:t>
            </a:r>
          </a:p>
        </p:txBody>
      </p:sp>
      <p:pic>
        <p:nvPicPr>
          <p:cNvPr id="3" name="Picture 2" descr="stage3_cq3_b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CQ4  ·  Task question</a:t>
            </a:r>
          </a:p>
        </p:txBody>
      </p:sp>
      <p:pic>
        <p:nvPicPr>
          <p:cNvPr id="3" name="Picture 2" descr="stage3_cq4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CQ5  ·  Comparison question</a:t>
            </a:r>
          </a:p>
        </p:txBody>
      </p:sp>
      <p:pic>
        <p:nvPicPr>
          <p:cNvPr id="3" name="Picture 2" descr="stage3_cq5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8314</TotalTime>
  <Words>2073</Words>
  <Application>Microsoft Office PowerPoint</Application>
  <PresentationFormat>Widescreen</PresentationFormat>
  <Paragraphs>304</Paragraphs>
  <Slides>42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98</cp:revision>
  <dcterms:created xsi:type="dcterms:W3CDTF">2016-03-10T13:41:29Z</dcterms:created>
  <dcterms:modified xsi:type="dcterms:W3CDTF">2026-04-08T13:47:00Z</dcterms:modified>
</cp:coreProperties>
</file>