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301" r:id="rId3"/>
    <p:sldId id="277" r:id="rId4"/>
    <p:sldId id="284" r:id="rId5"/>
    <p:sldId id="282" r:id="rId6"/>
    <p:sldId id="283" r:id="rId7"/>
    <p:sldId id="258" r:id="rId8"/>
    <p:sldId id="259" r:id="rId9"/>
    <p:sldId id="260" r:id="rId10"/>
    <p:sldId id="261" r:id="rId11"/>
    <p:sldId id="262" r:id="rId12"/>
    <p:sldId id="285" r:id="rId13"/>
    <p:sldId id="263" r:id="rId14"/>
    <p:sldId id="279" r:id="rId15"/>
    <p:sldId id="286" r:id="rId16"/>
    <p:sldId id="280" r:id="rId17"/>
    <p:sldId id="278" r:id="rId18"/>
    <p:sldId id="264" r:id="rId19"/>
    <p:sldId id="265" r:id="rId20"/>
    <p:sldId id="266" r:id="rId21"/>
    <p:sldId id="267" r:id="rId22"/>
    <p:sldId id="271" r:id="rId23"/>
    <p:sldId id="268" r:id="rId24"/>
    <p:sldId id="269" r:id="rId25"/>
    <p:sldId id="270" r:id="rId26"/>
    <p:sldId id="272" r:id="rId27"/>
    <p:sldId id="273" r:id="rId28"/>
    <p:sldId id="275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94" r:id="rId37"/>
    <p:sldId id="295" r:id="rId38"/>
    <p:sldId id="296" r:id="rId39"/>
    <p:sldId id="297" r:id="rId40"/>
    <p:sldId id="298" r:id="rId41"/>
    <p:sldId id="299" r:id="rId42"/>
    <p:sldId id="300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301"/>
            <p14:sldId id="277"/>
            <p14:sldId id="284"/>
            <p14:sldId id="282"/>
            <p14:sldId id="283"/>
            <p14:sldId id="258"/>
            <p14:sldId id="259"/>
            <p14:sldId id="260"/>
            <p14:sldId id="261"/>
            <p14:sldId id="262"/>
            <p14:sldId id="285"/>
            <p14:sldId id="263"/>
            <p14:sldId id="279"/>
            <p14:sldId id="286"/>
            <p14:sldId id="280"/>
            <p14:sldId id="278"/>
            <p14:sldId id="264"/>
            <p14:sldId id="265"/>
            <p14:sldId id="266"/>
            <p14:sldId id="267"/>
            <p14:sldId id="271"/>
            <p14:sldId id="268"/>
            <p14:sldId id="269"/>
            <p14:sldId id="270"/>
            <p14:sldId id="272"/>
            <p14:sldId id="273"/>
            <p14:sldId id="275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56" autoAdjust="0"/>
    <p:restoredTop sz="78865" autoAdjust="0"/>
  </p:normalViewPr>
  <p:slideViewPr>
    <p:cSldViewPr snapToGrid="0">
      <p:cViewPr varScale="1">
        <p:scale>
          <a:sx n="115" d="100"/>
          <a:sy n="115" d="100"/>
        </p:scale>
        <p:origin x="67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handoutMaster" Target="handoutMasters/handout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1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RQ3 is chronologically first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29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compatible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02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Provide a little more setup in terms of the decisions that they are making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72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Flip the axes between male and female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manipulation check</a:t>
            </a:r>
            <a:br>
              <a:rPr lang="en-US" dirty="0"/>
            </a:br>
            <a:r>
              <a:rPr lang="en-US" dirty="0"/>
              <a:t>endowed them with money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8992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Male and female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4308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1A37F7-1A90-4E51-A507-1AEFE7B69E0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5115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598003"/>
            <a:ext cx="10515600" cy="1661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5400" b="1" i="0" dirty="0">
                <a:solidFill>
                  <a:srgbClr val="FFFFFF"/>
                </a:solidFill>
                <a:latin typeface="Arial"/>
              </a:rPr>
              <a:t>Who Gains More From Sponsorship?</a:t>
            </a:r>
            <a:endParaRPr sz="5400" b="1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EF9B2-01F8-09E6-9908-0963AA8C10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8046720" cy="8229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Goals for this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1463040" cy="5486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1183112" cy="5486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0" i="1">
                <a:solidFill>
                  <a:srgbClr val="5B657A"/>
                </a:solidFill>
                <a:latin typeface="Arial"/>
              </a:rPr>
              <a:t>Two things we'd love feedback on today: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97479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606039"/>
            <a:ext cx="10972800" cy="15087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>
                <a:solidFill>
                  <a:srgbClr val="00143D"/>
                </a:solidFill>
                <a:latin typeface="Arial"/>
              </a:rPr>
              <a:t>Experimental design</a:t>
            </a:r>
          </a:p>
          <a:p>
            <a:pPr>
              <a:spcBef>
                <a:spcPts val="400"/>
              </a:spcBef>
            </a:pPr>
            <a:r>
              <a:rPr sz="2100" b="0" i="0">
                <a:solidFill>
                  <a:srgbClr val="1F2937"/>
                </a:solidFill>
                <a:latin typeface="Arial"/>
              </a:rPr>
              <a:t>anything to flag before we scale up and preregister?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26280"/>
            <a:ext cx="164592" cy="1234439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10972800" cy="836126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r>
              <a:rPr sz="2400" b="1" i="0" dirty="0">
                <a:solidFill>
                  <a:srgbClr val="00143D"/>
                </a:solidFill>
                <a:latin typeface="Arial"/>
              </a:rPr>
              <a:t>Interpretation of 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our </a:t>
            </a:r>
            <a:r>
              <a:rPr sz="2400" b="1" i="0" dirty="0">
                <a:solidFill>
                  <a:srgbClr val="00143D"/>
                </a:solidFill>
                <a:latin typeface="Arial"/>
              </a:rPr>
              <a:t>pilot</a:t>
            </a:r>
            <a:r>
              <a:rPr lang="en-US" sz="2400" b="1" i="0" dirty="0">
                <a:solidFill>
                  <a:srgbClr val="00143D"/>
                </a:solidFill>
                <a:latin typeface="Arial"/>
              </a:rPr>
              <a:t> data</a:t>
            </a:r>
            <a:endParaRPr sz="2400" b="1" i="0" dirty="0">
              <a:solidFill>
                <a:srgbClr val="00143D"/>
              </a:solidFill>
              <a:latin typeface="Arial"/>
            </a:endParaRPr>
          </a:p>
          <a:p>
            <a:pPr>
              <a:spcBef>
                <a:spcPts val="400"/>
              </a:spcBef>
            </a:pPr>
            <a:r>
              <a:rPr sz="2100" b="0" i="0" dirty="0">
                <a:solidFill>
                  <a:srgbClr val="1F2937"/>
                </a:solidFill>
                <a:latin typeface="Arial"/>
              </a:rPr>
              <a:t>we have a running theory, but alternatives are very welcome.</a:t>
            </a:r>
          </a:p>
        </p:txBody>
      </p:sp>
    </p:spTree>
    <p:extLst>
      <p:ext uri="{BB962C8B-B14F-4D97-AF65-F5344CB8AC3E}">
        <p14:creationId xmlns:p14="http://schemas.microsoft.com/office/powerpoint/2010/main" val="377450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7EE579-ACE7-BF23-19A1-3C427898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lide Number Placeholder 3">
            <a:extLst>
              <a:ext uri="{FF2B5EF4-FFF2-40B4-BE49-F238E27FC236}">
                <a16:creationId xmlns:a16="http://schemas.microsoft.com/office/drawing/2014/main" id="{670AA0C5-6E38-4C7E-9F69-E6FF8DE56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410809A-3BFB-4B4E-9031-A9AE0018A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01" name="Rectangle 200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Robert Keller</a:t>
            </a:r>
          </a:p>
        </p:txBody>
      </p:sp>
    </p:spTree>
    <p:extLst>
      <p:ext uri="{BB962C8B-B14F-4D97-AF65-F5344CB8AC3E}">
        <p14:creationId xmlns:p14="http://schemas.microsoft.com/office/powerpoint/2010/main" val="609301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584448" y="822960"/>
            <a:ext cx="5029200" cy="566928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584448" y="822960"/>
            <a:ext cx="502920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77056" y="1426463"/>
            <a:ext cx="4443984" cy="3236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400" b="0" i="0">
                <a:solidFill>
                  <a:srgbClr val="1F1F1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77056" y="5193792"/>
            <a:ext cx="416966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95344" y="55229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77056" y="5303520"/>
            <a:ext cx="4443984" cy="50065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 dirty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 dirty="0">
                <a:solidFill>
                  <a:srgbClr val="011F5B"/>
                </a:solidFill>
                <a:latin typeface="Calibri"/>
              </a:rPr>
              <a:t>Susan Keller</a:t>
            </a:r>
            <a:endParaRPr lang="en-US" sz="1300" b="1" i="1" dirty="0">
              <a:solidFill>
                <a:srgbClr val="011F5B"/>
              </a:solidFill>
              <a:latin typeface="Calibri"/>
            </a:endParaRPr>
          </a:p>
        </p:txBody>
      </p:sp>
      <p:sp>
        <p:nvSpPr>
          <p:cNvPr id="500" name="Slide Number Placeholder 3">
            <a:extLst>
              <a:ext uri="{FF2B5EF4-FFF2-40B4-BE49-F238E27FC236}">
                <a16:creationId xmlns:a16="http://schemas.microsoft.com/office/drawing/2014/main" id="{6476980E-6401-4B26-BBFB-DE841CAD00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862290F-98C8-47C1-94CB-85B874F7882D}" type="slidenum">
              <a:rPr lang="en-US" smtClean="0"/>
              <a:pPr/>
              <a:t>4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9CA3AF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9CA3AF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Robert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How do you read the new letter after one successful outcome?</a:t>
            </a:r>
          </a:p>
        </p:txBody>
      </p:sp>
      <p:sp>
        <p:nvSpPr>
          <p:cNvPr id="501" name="Slide Number Placeholder 3">
            <a:extLst>
              <a:ext uri="{FF2B5EF4-FFF2-40B4-BE49-F238E27FC236}">
                <a16:creationId xmlns:a16="http://schemas.microsoft.com/office/drawing/2014/main" id="{E3A33801-F2DB-488D-9785-2E371B473C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1805426-5748-4DD7-B75D-2DDFAB1BA0F8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02" name="Rounded Rectangle 501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3" name="Rounded Rectangle 502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4" name="Rectangle 503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 dirty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6" name="Oval 505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7" name="Rectangle 506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9CA3A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9CA3A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9CA3AF"/>
                </a:solidFill>
                <a:latin typeface="Calibri"/>
              </a:rPr>
              <a:t>I am pleased to recommend Nick Calder for admission to your doctoral program in organizational behavior. In my seminar and as a research assistant, Nick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3816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9CA3A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9CA3AF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9CA3AF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8352" y="502920"/>
            <a:ext cx="429768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388352" y="502920"/>
            <a:ext cx="4297680" cy="438912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libri"/>
              </a:rPr>
              <a:t>Department of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106424"/>
            <a:ext cx="3712464" cy="264261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Calibri"/>
              </a:rPr>
              <a:t>To the Admissions Committee,</a:t>
            </a:r>
          </a:p>
          <a:p>
            <a:pPr>
              <a:lnSpc>
                <a:spcPct val="110000"/>
              </a:lnSpc>
            </a:pPr>
            <a:r>
              <a:rPr sz="1300" b="0" i="0">
                <a:solidFill>
                  <a:srgbClr val="1F1F1F"/>
                </a:solidFill>
                <a:latin typeface="Calibri"/>
              </a:rPr>
              <a:t>I am pleased to recommend Jose Cervantez for admission to your doctoral program in organizational behavior. In my seminar and as a research assistant, Jose distinguished himself through careful analytical reasoning, dependable follow-through, and a mature willingness to revise his views when the evidence changed. He writes clearly, collaborates well, and consistently raises the quality of the work around him. I recommend him with enthusiasm.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4279392"/>
            <a:ext cx="3438144" cy="16459"/>
          </a:xfrm>
          <a:prstGeom prst="rect">
            <a:avLst/>
          </a:prstGeom>
          <a:solidFill>
            <a:srgbClr val="9AA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699248" y="4608576"/>
            <a:ext cx="1463040" cy="274320"/>
          </a:xfrm>
          <a:prstGeom prst="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4389120"/>
            <a:ext cx="3712464" cy="1143000"/>
          </a:xfrm>
          <a:prstGeom prst="rect">
            <a:avLst/>
          </a:prstGeom>
          <a:noFill/>
        </p:spPr>
        <p:txBody>
          <a:bodyPr wrap="square" lIns="45720" tIns="18288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F1F1F"/>
                </a:solidFill>
                <a:latin typeface="Calibri"/>
              </a:rPr>
              <a:t>Sincerely,</a:t>
            </a:r>
          </a:p>
          <a:p>
            <a:r>
              <a:rPr sz="1300" b="1" i="1">
                <a:solidFill>
                  <a:srgbClr val="011F5B"/>
                </a:solidFill>
                <a:latin typeface="Calibri"/>
              </a:rPr>
              <a:t>Susan Keller</a:t>
            </a:r>
          </a:p>
          <a:p>
            <a:r>
              <a:rPr sz="1050" b="0" i="0">
                <a:solidFill>
                  <a:srgbClr val="4B5563"/>
                </a:solidFill>
                <a:latin typeface="Calibri"/>
              </a:rPr>
              <a:t>Professor, Department of Behavioral Science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760720"/>
            <a:ext cx="10698480" cy="5486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54864" bIns="54864" rtlCol="0" anchor="ctr"/>
          <a:lstStyle/>
          <a:p>
            <a:pPr algn="ctr"/>
            <a:r>
              <a:rPr sz="2200" b="1" i="0" dirty="0">
                <a:solidFill>
                  <a:srgbClr val="011F5B"/>
                </a:solidFill>
                <a:latin typeface="Calibri"/>
              </a:rPr>
              <a:t>Does one success buy Susan the same credibility it bought Robert?</a:t>
            </a:r>
          </a:p>
        </p:txBody>
      </p:sp>
      <p:sp>
        <p:nvSpPr>
          <p:cNvPr id="502" name="Slide Number Placeholder 3">
            <a:extLst>
              <a:ext uri="{FF2B5EF4-FFF2-40B4-BE49-F238E27FC236}">
                <a16:creationId xmlns:a16="http://schemas.microsoft.com/office/drawing/2014/main" id="{9910DD83-63EE-4A67-94DD-9BC741E19C9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8C1727D-8A3F-4222-A3E5-09914707AEC3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03" name="Rounded Rectangle 502"/>
          <p:cNvSpPr/>
          <p:nvPr/>
        </p:nvSpPr>
        <p:spPr>
          <a:xfrm>
            <a:off x="1965960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8851392" y="914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505" name="Rectangle 504"/>
          <p:cNvSpPr/>
          <p:nvPr/>
        </p:nvSpPr>
        <p:spPr>
          <a:xfrm rot="20940000">
            <a:off x="822959" y="2331720"/>
            <a:ext cx="3657600" cy="1188720"/>
          </a:xfrm>
          <a:prstGeom prst="rect">
            <a:avLst/>
          </a:prstGeom>
          <a:noFill/>
          <a:ln w="508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2800" b="1" i="0">
                <a:solidFill>
                  <a:srgbClr val="15803D"/>
                </a:solidFill>
                <a:latin typeface="Arial"/>
              </a:rPr>
              <a:t>GOOD STUDENT  ✓</a:t>
            </a:r>
          </a:p>
        </p:txBody>
      </p:sp>
      <p:sp>
        <p:nvSpPr>
          <p:cNvPr id="506" name="Rectangle 505"/>
          <p:cNvSpPr/>
          <p:nvPr/>
        </p:nvSpPr>
        <p:spPr>
          <a:xfrm rot="20940000">
            <a:off x="822959" y="3547872"/>
            <a:ext cx="36576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18288" rIns="36576" bIns="18288" rtlCol="0" anchor="ctr"/>
          <a:lstStyle/>
          <a:p>
            <a:pPr algn="ctr"/>
            <a:r>
              <a:rPr sz="1300" b="1" i="1">
                <a:solidFill>
                  <a:srgbClr val="15803D"/>
                </a:solidFill>
                <a:latin typeface="Arial"/>
              </a:rPr>
              <a:t>one year later</a:t>
            </a:r>
          </a:p>
        </p:txBody>
      </p:sp>
      <p:sp>
        <p:nvSpPr>
          <p:cNvPr id="507" name="Oval 506"/>
          <p:cNvSpPr/>
          <p:nvPr/>
        </p:nvSpPr>
        <p:spPr>
          <a:xfrm>
            <a:off x="8531352" y="1737360"/>
            <a:ext cx="2011680" cy="2011680"/>
          </a:xfrm>
          <a:prstGeom prst="ellipse">
            <a:avLst/>
          </a:prstGeom>
          <a:noFill/>
          <a:ln w="15875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7200" b="1" i="0">
                <a:solidFill>
                  <a:srgbClr val="B0B7C3"/>
                </a:solidFill>
                <a:latin typeface="Arial"/>
              </a:rPr>
              <a:t>?</a:t>
            </a:r>
          </a:p>
        </p:txBody>
      </p:sp>
      <p:sp>
        <p:nvSpPr>
          <p:cNvPr id="508" name="Rectangle 507"/>
          <p:cNvSpPr/>
          <p:nvPr/>
        </p:nvSpPr>
        <p:spPr>
          <a:xfrm>
            <a:off x="8257031" y="3794759"/>
            <a:ext cx="256032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" tIns="18288" rIns="18288" bIns="18288" rtlCol="0" anchor="ctr"/>
          <a:lstStyle/>
          <a:p>
            <a:pPr algn="ctr"/>
            <a:r>
              <a:rPr sz="1300" b="1" i="1">
                <a:solidFill>
                  <a:srgbClr val="6B7280"/>
                </a:solidFill>
                <a:latin typeface="Arial"/>
              </a:rPr>
              <a:t>how do you read this one?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potential,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91835"/>
            <a:ext cx="10972800" cy="235449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 dirty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201" name="Slide Number Placeholder 3">
            <a:extLst>
              <a:ext uri="{FF2B5EF4-FFF2-40B4-BE49-F238E27FC236}">
                <a16:creationId xmlns:a16="http://schemas.microsoft.com/office/drawing/2014/main" id="{2C1F1100-0B2F-4478-B42E-3A03F4C674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DF99A4A-470F-4203-94F7-2F8E64E32661}" type="slidenum">
              <a:rPr lang="en-US" smtClean="0"/>
              <a:pPr/>
              <a:t>7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200"/>
              </a:spcAft>
            </a:pPr>
            <a:r>
              <a:rPr sz="2200" b="1" i="0" dirty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 dirty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 dirty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 dirty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202" name="Slide Number Placeholder 3">
            <a:extLst>
              <a:ext uri="{FF2B5EF4-FFF2-40B4-BE49-F238E27FC236}">
                <a16:creationId xmlns:a16="http://schemas.microsoft.com/office/drawing/2014/main" id="{C0B996CF-7452-49BF-B277-569111839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1F17C1-29F7-4E56-9601-0C8C99D8C01E}" type="slidenum">
              <a:rPr lang="en-US" smtClean="0"/>
              <a:pPr/>
              <a:t>8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RQ1    </a:t>
            </a:r>
            <a:r>
              <a:rPr lang="en-US" sz="2200" b="1" dirty="0">
                <a:solidFill>
                  <a:srgbClr val="011F5B"/>
                </a:solidFill>
              </a:rPr>
              <a:t>Are male and female sponsors trusted equally before any outcome is observed?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RQ2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When a sponsor’s protégé succeeds or fails, does the sponsor’s gender shape how audiences react?</a:t>
            </a:r>
            <a:endParaRPr sz="2200" b="1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01168" rIns="182880" bIns="164592" rtlCol="0" anchor="ctr"/>
          <a:lstStyle/>
          <a:p>
            <a:r>
              <a:rPr sz="2200" b="1" dirty="0">
                <a:solidFill>
                  <a:srgbClr val="990000"/>
                </a:solidFill>
                <a:latin typeface="Arial"/>
              </a:rPr>
              <a:t>RQ3    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Does it matter how confident the sponsor was when they made the endorsement?</a:t>
            </a:r>
          </a:p>
        </p:txBody>
      </p:sp>
      <p:sp>
        <p:nvSpPr>
          <p:cNvPr id="203" name="Slide Number Placeholder 3">
            <a:extLst>
              <a:ext uri="{FF2B5EF4-FFF2-40B4-BE49-F238E27FC236}">
                <a16:creationId xmlns:a16="http://schemas.microsoft.com/office/drawing/2014/main" id="{CB360B25-41EB-4CDC-B611-783C980A8F4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88AD538-F77B-44D6-BAE5-554C63FAB4BA}" type="slidenum">
              <a:rPr lang="en-US" smtClean="0"/>
              <a:pPr/>
              <a:t>9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lide Number Placeholder 3">
            <a:extLst>
              <a:ext uri="{FF2B5EF4-FFF2-40B4-BE49-F238E27FC236}">
                <a16:creationId xmlns:a16="http://schemas.microsoft.com/office/drawing/2014/main" id="{E0E0B616-1893-4626-88F5-27D4B80A42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A7DE0CE-2F4B-41B4-9E6F-4E09BD8E348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205" name="TextBox 204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Protégé performance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8574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 dirty="0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1192894"/>
            <a:ext cx="8107266" cy="4729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205" name="Slide Number Placeholder 3">
            <a:extLst>
              <a:ext uri="{FF2B5EF4-FFF2-40B4-BE49-F238E27FC236}">
                <a16:creationId xmlns:a16="http://schemas.microsoft.com/office/drawing/2014/main" id="{E5E9CEA3-2FB5-40FF-8728-CB6B8DBBAF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F7F67-5F11-4B5B-A115-046EA0C21CC5}" type="slidenum">
              <a:rPr lang="en-US" smtClean="0"/>
              <a:pPr/>
              <a:t>11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2:  </a:t>
            </a:r>
            <a:r>
              <a:rPr lang="en-US" sz="3200" b="1" dirty="0">
                <a:solidFill>
                  <a:srgbClr val="011F5B"/>
                </a:solidFill>
                <a:latin typeface="Arial"/>
              </a:rPr>
              <a:t>Sponsors made decisions on two candidates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572000" cy="29700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dirty="0">
                <a:solidFill>
                  <a:srgbClr val="111827"/>
                </a:solidFill>
                <a:latin typeface="Arial"/>
              </a:rPr>
              <a:t>•  </a:t>
            </a:r>
            <a:r>
              <a:rPr sz="1800" b="0" dirty="0">
                <a:solidFill>
                  <a:srgbClr val="111827"/>
                </a:solidFill>
                <a:latin typeface="Arial"/>
              </a:rPr>
              <a:t>Each sponsor sees 10 candidate pairs and makes 10 endorsements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800" b="0" dirty="0">
                <a:solidFill>
                  <a:srgbClr val="111827"/>
                </a:solidFill>
                <a:latin typeface="Arial"/>
              </a:rPr>
              <a:t>•  We </a:t>
            </a:r>
            <a:r>
              <a:rPr lang="en-US" sz="1800" b="0" dirty="0">
                <a:solidFill>
                  <a:srgbClr val="111827"/>
                </a:solidFill>
                <a:latin typeface="Arial"/>
              </a:rPr>
              <a:t>created a lot of comparisons to increase the variance in sponsor decisions</a:t>
            </a:r>
            <a:endParaRPr sz="1800" b="0" dirty="0">
              <a:solidFill>
                <a:srgbClr val="111827"/>
              </a:solidFill>
              <a:latin typeface="Arial"/>
            </a:endParaRP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3"/>
          <a:srcRect r="14676"/>
          <a:stretch>
            <a:fillRect/>
          </a:stretch>
        </p:blipFill>
        <p:spPr>
          <a:xfrm>
            <a:off x="5253825" y="1600200"/>
            <a:ext cx="6355079" cy="4580644"/>
          </a:xfrm>
          <a:prstGeom prst="rect">
            <a:avLst/>
          </a:prstGeom>
        </p:spPr>
      </p:pic>
      <p:sp>
        <p:nvSpPr>
          <p:cNvPr id="206" name="Slide Number Placeholder 3">
            <a:extLst>
              <a:ext uri="{FF2B5EF4-FFF2-40B4-BE49-F238E27FC236}">
                <a16:creationId xmlns:a16="http://schemas.microsoft.com/office/drawing/2014/main" id="{E2A5B9A1-29AB-40F9-A389-D33CD2E213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E0DC4AF-1C01-4380-8C98-CD7D0FABA51B}" type="slidenum">
              <a:rPr lang="en-US" smtClean="0"/>
              <a:pPr/>
              <a:t>13</a:t>
            </a:fld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01CA0-C5D3-9BC4-6332-059F6F43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22A51-5408-42C4-EE93-20EF028FC3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B78FF10-2160-4389-9669-EF3A0C6F12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2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>
                <a:solidFill>
                  <a:srgbClr val="1F2937"/>
                </a:solidFill>
                <a:latin typeface="Calibri"/>
              </a:rPr>
              <a:t>Each sponsor earns </a:t>
            </a:r>
            <a:r>
              <a:rPr sz="2600" b="1">
                <a:solidFill>
                  <a:srgbClr val="00143D"/>
                </a:solidFill>
                <a:latin typeface="Calibri"/>
              </a:rPr>
              <a:t>$1 flat</a:t>
            </a:r>
            <a:r>
              <a:rPr sz="2600">
                <a:solidFill>
                  <a:srgbClr val="1F2937"/>
                </a:solidFill>
                <a:latin typeface="Calibri"/>
              </a:rPr>
              <a:t> plus up to </a:t>
            </a:r>
            <a:r>
              <a:rPr sz="2600" b="1">
                <a:solidFill>
                  <a:srgbClr val="00143D"/>
                </a:solidFill>
                <a:latin typeface="Calibri"/>
              </a:rPr>
              <a:t>$3 bonus</a:t>
            </a:r>
            <a:r>
              <a:rPr sz="2600">
                <a:solidFill>
                  <a:srgbClr val="1F2937"/>
                </a:solidFill>
                <a:latin typeface="Calibri"/>
              </a:rPr>
              <a:t> per session.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500" i="1" dirty="0">
                <a:solidFill>
                  <a:srgbClr val="5B657A"/>
                </a:solidFill>
                <a:latin typeface="Calibri"/>
              </a:rPr>
              <a:t>The bonus is based on ONE randomly selected endorsement, paid only if the endorsed candidate actually scored higher, scaling with how much a downstream evaluator wagered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$3 × evaluator's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304288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no bonus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 dirty="0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$1.50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 dirty="0">
                <a:solidFill>
                  <a:srgbClr val="B12121"/>
                </a:solidFill>
                <a:latin typeface="Calibri"/>
              </a:rPr>
              <a:t>wrong:  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$3.00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2011680"/>
            <a:ext cx="11155680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00" b="1" i="1">
                <a:solidFill>
                  <a:srgbClr val="00143D"/>
                </a:solidFill>
                <a:latin typeface="Calibri"/>
              </a:rPr>
              <a:t>n = 200 sponsors  ·  10 endorsements each</a:t>
            </a:r>
          </a:p>
        </p:txBody>
      </p:sp>
    </p:spTree>
    <p:extLst>
      <p:ext uri="{BB962C8B-B14F-4D97-AF65-F5344CB8AC3E}">
        <p14:creationId xmlns:p14="http://schemas.microsoft.com/office/powerpoint/2010/main" val="251645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Three-stage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4047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7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Protégé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7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participants take three performance tasks (Barron et al., 2025). We use the posted scores to build candidate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A0A8B8"/>
                </a:solidFill>
                <a:latin typeface="Calibri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5B657A"/>
                </a:solidFill>
                <a:latin typeface="Calibri"/>
              </a:rPr>
              <a:t>Sponsor endorsements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A0A8B8"/>
                </a:solidFill>
                <a:latin typeface="Calibri"/>
              </a:rPr>
              <a:t>Real sponsors view candidate pairs and rate which one will perform better, and how confident they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417320"/>
            <a:ext cx="3611880" cy="4434840"/>
          </a:xfrm>
          <a:prstGeom prst="roundRect">
            <a:avLst>
              <a:gd name="adj" fmla="val 5000"/>
            </a:avLst>
          </a:prstGeom>
          <a:solidFill>
            <a:srgbClr val="E5EAF3"/>
          </a:solidFill>
          <a:ln w="444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1624" y="1691640"/>
            <a:ext cx="3154680" cy="7315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468880"/>
            <a:ext cx="3154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200" b="1" i="0">
                <a:solidFill>
                  <a:srgbClr val="00143D"/>
                </a:solidFill>
                <a:latin typeface="Calibri"/>
              </a:rPr>
              <a:t>Audience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3108960"/>
            <a:ext cx="3154680" cy="2560320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Evaluators bet on a sponsor's endorsement, see the outcome, then bet on a second endorsement from the same sponsor.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88E67-56AB-B864-A4EF-C8F1CE3439E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A7B10F6-D787-491A-A00D-F0F7AA9E4495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n = 403 Prolific evaluators (passed 5/5 comprehension checks</a:t>
            </a:r>
            <a:r>
              <a:rPr lang="en-US" sz="1800" b="0" i="1" dirty="0">
                <a:solidFill>
                  <a:srgbClr val="5B657A"/>
                </a:solidFill>
                <a:latin typeface="Calibri"/>
              </a:rPr>
              <a:t> and gender manipulation check</a:t>
            </a:r>
            <a:r>
              <a:rPr sz="1800" b="0" i="1" dirty="0">
                <a:solidFill>
                  <a:srgbClr val="5B657A"/>
                </a:solidFill>
                <a:latin typeface="Calibri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11155680" cy="4572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1" i="0" dirty="0">
                <a:solidFill>
                  <a:srgbClr val="00143D"/>
                </a:solidFill>
                <a:latin typeface="Calibri"/>
              </a:rPr>
              <a:t>Each evaluator is randomly assigned to ONE sponsor and sees: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the sponsor's name + colored avatar (signals gender)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that sponsor's endorsement of one candidate from a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72384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how confident the sponsor was on that endorsement (Strong / Weak)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6160"/>
            <a:ext cx="10789920" cy="475488"/>
          </a:xfrm>
          <a:prstGeom prst="rect">
            <a:avLst/>
          </a:prstGeom>
          <a:noFill/>
        </p:spPr>
        <p:txBody>
          <a:bodyPr wrap="square" lIns="27432" tIns="18288" bIns="18288">
            <a:spAutoFit/>
          </a:bodyPr>
          <a:lstStyle/>
          <a:p>
            <a:pPr algn="l"/>
            <a:r>
              <a:rPr sz="2000" b="1" i="0">
                <a:solidFill>
                  <a:srgbClr val="011F5B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1F2937"/>
                </a:solidFill>
                <a:latin typeface="Calibri"/>
              </a:rPr>
              <a:t>a slider to wager part of a $0.50 bank on the endorser being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96512"/>
            <a:ext cx="11155680" cy="502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Calibri"/>
              </a:rPr>
              <a:t>Each evaluator sees TWO decisions back-to-back, with the SAME sponsor on different candidate pairs: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000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First wager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604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116B45"/>
                </a:solidFill>
                <a:latin typeface="Calibri"/>
              </a:rPr>
              <a:t>outcome revealed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4617720"/>
            <a:ext cx="2286000" cy="777240"/>
          </a:xfrm>
          <a:prstGeom prst="roundRect">
            <a:avLst>
              <a:gd name="adj" fmla="val 50000"/>
            </a:avLst>
          </a:prstGeom>
          <a:solidFill>
            <a:srgbClr val="EAF0FB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36576" bIns="36576" rtlCol="0" anchor="ctr"/>
          <a:lstStyle/>
          <a:p>
            <a:pPr algn="ctr"/>
            <a:r>
              <a:rPr sz="2000" b="1" i="0">
                <a:solidFill>
                  <a:srgbClr val="00143D"/>
                </a:solidFill>
                <a:latin typeface="Calibri"/>
              </a:rPr>
              <a:t>Second wager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3542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ight Arrow 16"/>
          <p:cNvSpPr/>
          <p:nvPr/>
        </p:nvSpPr>
        <p:spPr>
          <a:xfrm>
            <a:off x="7141464" y="4965192"/>
            <a:ext cx="502920" cy="182880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5650992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800" b="1" i="0">
                <a:solidFill>
                  <a:srgbClr val="00143D"/>
                </a:solidFill>
                <a:latin typeface="Calibri"/>
              </a:rPr>
              <a:t>trust change  =  (Second wager)  −  (First wager)</a:t>
            </a:r>
          </a:p>
        </p:txBody>
      </p:sp>
    </p:spTree>
    <p:extLst>
      <p:ext uri="{BB962C8B-B14F-4D97-AF65-F5344CB8AC3E}">
        <p14:creationId xmlns:p14="http://schemas.microsoft.com/office/powerpoint/2010/main" val="812263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D3016-2531-3594-F5D4-DE68161502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4D4DDC8-3CB5-462D-8BA5-B5D26B7390E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00143D"/>
                </a:solidFill>
                <a:latin typeface="Calibri"/>
              </a:rPr>
              <a:t>Stage 3 incentive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5029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600" b="0" i="0">
                <a:solidFill>
                  <a:srgbClr val="1F2937"/>
                </a:solidFill>
                <a:latin typeface="Calibri"/>
              </a:rPr>
              <a:t>For each decision, you start with a </a:t>
            </a:r>
            <a:r>
              <a:rPr sz="2600" b="1" i="0">
                <a:solidFill>
                  <a:srgbClr val="00143D"/>
                </a:solidFill>
                <a:latin typeface="Calibri"/>
              </a:rPr>
              <a:t>$0.50 bank.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27632"/>
            <a:ext cx="1115568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0" i="1" dirty="0">
                <a:solidFill>
                  <a:srgbClr val="5B657A"/>
                </a:solidFill>
                <a:latin typeface="Calibri"/>
              </a:rPr>
              <a:t>You wager part of your bank on the endorser being right.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10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right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106B45"/>
                </a:solidFill>
                <a:latin typeface="Calibri"/>
              </a:rPr>
              <a:t>+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2103120"/>
            <a:ext cx="5349240" cy="841248"/>
          </a:xfrm>
          <a:prstGeom prst="rect">
            <a:avLst/>
          </a:prstGeom>
          <a:solidFill>
            <a:srgbClr val="FFFFFF"/>
          </a:solidFill>
          <a:ln w="25400">
            <a:solidFill>
              <a:srgbClr val="B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If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wrong 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→  bank </a:t>
            </a:r>
            <a:r>
              <a:rPr sz="2100" b="1" i="0">
                <a:solidFill>
                  <a:srgbClr val="B12121"/>
                </a:solidFill>
                <a:latin typeface="Calibri"/>
              </a:rPr>
              <a:t>−</a:t>
            </a:r>
            <a:r>
              <a:rPr sz="2100" b="0" i="0">
                <a:solidFill>
                  <a:srgbClr val="1F2937"/>
                </a:solidFill>
                <a:latin typeface="Calibri"/>
              </a:rPr>
              <a:t> your wager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80"/>
            <a:ext cx="1115568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300" b="0" i="1">
                <a:solidFill>
                  <a:srgbClr val="5B657A"/>
                </a:solidFill>
                <a:latin typeface="Calibri"/>
              </a:rPr>
              <a:t>evaluator wagers 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3520440"/>
            <a:ext cx="5788152" cy="201168"/>
          </a:xfrm>
          <a:prstGeom prst="rect">
            <a:avLst/>
          </a:prstGeom>
          <a:solidFill>
            <a:srgbClr val="EAF0FB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3520440"/>
            <a:ext cx="2894076" cy="201168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02452" y="3429000"/>
            <a:ext cx="384048" cy="38404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14600" y="3813048"/>
            <a:ext cx="6400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200" b="0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3813048"/>
            <a:ext cx="73152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200" b="0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3200" b="1" i="0">
                <a:solidFill>
                  <a:srgbClr val="106B45"/>
                </a:solidFill>
                <a:latin typeface="Calibri"/>
              </a:rPr>
              <a:t>right:  $0.75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160520"/>
            <a:ext cx="5349240" cy="77724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3200" b="1" i="0">
                <a:solidFill>
                  <a:srgbClr val="B12121"/>
                </a:solidFill>
                <a:latin typeface="Calibri"/>
              </a:rPr>
              <a:t>wrong:  $0.25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074920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5B657A"/>
                </a:solidFill>
                <a:latin typeface="Calibri"/>
              </a:rPr>
              <a:t>wager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5074920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5B657A"/>
                </a:solidFill>
                <a:latin typeface="Calibri"/>
              </a:rPr>
              <a:t>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5367528"/>
            <a:ext cx="2331720" cy="658368"/>
          </a:xfrm>
          <a:prstGeom prst="rect">
            <a:avLst/>
          </a:prstGeom>
          <a:solidFill>
            <a:srgbClr val="DBE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94560" y="5385816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106B45"/>
                </a:solidFill>
                <a:latin typeface="Calibri"/>
              </a:rPr>
              <a:t>if right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5385816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$1.00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696712"/>
            <a:ext cx="178308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1500" b="1" i="0">
                <a:solidFill>
                  <a:srgbClr val="B12121"/>
                </a:solidFill>
                <a:latin typeface="Calibri"/>
              </a:rPr>
              <a:t>if wrong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5696712"/>
            <a:ext cx="2331720" cy="310896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0" i="0">
                <a:solidFill>
                  <a:srgbClr val="1F2937"/>
                </a:solidFill>
                <a:latin typeface="Calibri"/>
              </a:rPr>
              <a:t>$0.00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99048"/>
            <a:ext cx="11155680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One randomly selected decision determines the bonus.</a:t>
            </a:r>
          </a:p>
        </p:txBody>
      </p:sp>
    </p:spTree>
    <p:extLst>
      <p:ext uri="{BB962C8B-B14F-4D97-AF65-F5344CB8AC3E}">
        <p14:creationId xmlns:p14="http://schemas.microsoft.com/office/powerpoint/2010/main" val="3103675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 dirty="0">
                <a:solidFill>
                  <a:srgbClr val="011F5B"/>
                </a:solidFill>
                <a:latin typeface="Arial"/>
              </a:rPr>
              <a:t>Stage 3:  </a:t>
            </a:r>
            <a:r>
              <a:rPr lang="en-US" sz="3200" b="1" i="0" dirty="0">
                <a:solidFill>
                  <a:srgbClr val="011F5B"/>
                </a:solidFill>
                <a:latin typeface="Arial"/>
              </a:rPr>
              <a:t>Evaluators wager on sponsorship decisions from the previous stage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6B7280"/>
                </a:solidFill>
                <a:latin typeface="Arial"/>
              </a:rPr>
              <a:t>WE VARY THREE THINGS</a:t>
            </a:r>
          </a:p>
        </p:txBody>
      </p:sp>
      <p:sp>
        <p:nvSpPr>
          <p:cNvPr id="207" name="Slide Number Placeholder 3">
            <a:extLst>
              <a:ext uri="{FF2B5EF4-FFF2-40B4-BE49-F238E27FC236}">
                <a16:creationId xmlns:a16="http://schemas.microsoft.com/office/drawing/2014/main" id="{BA6A12A3-B136-4760-90AF-5858779DF3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DA0BC19-D747-4BF2-BE3E-BA37F6138FD8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208" name="Rounded Rectangle 207"/>
          <p:cNvSpPr/>
          <p:nvPr/>
        </p:nvSpPr>
        <p:spPr>
          <a:xfrm>
            <a:off x="393192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9" name="Rounded Rectangle 208"/>
          <p:cNvSpPr/>
          <p:nvPr/>
        </p:nvSpPr>
        <p:spPr>
          <a:xfrm>
            <a:off x="4242816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0" name="Rounded Rectangle 209"/>
          <p:cNvSpPr/>
          <p:nvPr/>
        </p:nvSpPr>
        <p:spPr>
          <a:xfrm>
            <a:off x="8092440" y="1783080"/>
            <a:ext cx="37033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7CF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576072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1.  Sponsor gender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576072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The sponsor's first name + colored avatar signal their gender.</a:t>
            </a:r>
          </a:p>
        </p:txBody>
      </p:sp>
      <p:sp>
        <p:nvSpPr>
          <p:cNvPr id="213" name="Oval 212"/>
          <p:cNvSpPr/>
          <p:nvPr/>
        </p:nvSpPr>
        <p:spPr>
          <a:xfrm>
            <a:off x="667512" y="2971800"/>
            <a:ext cx="640080" cy="640080"/>
          </a:xfrm>
          <a:prstGeom prst="ellipse">
            <a:avLst/>
          </a:prstGeom>
          <a:solidFill>
            <a:srgbClr val="FCE7F3"/>
          </a:solidFill>
          <a:ln w="508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1472184" y="3063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EC4899"/>
                </a:solidFill>
                <a:latin typeface="Calibri"/>
              </a:rPr>
              <a:t>Woman</a:t>
            </a:r>
          </a:p>
        </p:txBody>
      </p:sp>
      <p:sp>
        <p:nvSpPr>
          <p:cNvPr id="215" name="Oval 214"/>
          <p:cNvSpPr/>
          <p:nvPr/>
        </p:nvSpPr>
        <p:spPr>
          <a:xfrm>
            <a:off x="667512" y="4114800"/>
            <a:ext cx="640080" cy="640080"/>
          </a:xfrm>
          <a:prstGeom prst="ellipse">
            <a:avLst/>
          </a:prstGeom>
          <a:solidFill>
            <a:srgbClr val="DBEAFE"/>
          </a:solidFill>
          <a:ln w="508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6" name="TextBox 215"/>
          <p:cNvSpPr txBox="1"/>
          <p:nvPr/>
        </p:nvSpPr>
        <p:spPr>
          <a:xfrm>
            <a:off x="1472184" y="4206240"/>
            <a:ext cx="164592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3B82F6"/>
                </a:solidFill>
                <a:latin typeface="Calibri"/>
              </a:rPr>
              <a:t>Man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425696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2.  Endorsement strength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425696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Sponsors used a 0–100 slider to choose a candidate. Pushed near one end = Strong (very sure), left near the middle = Weak (barely committed).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275319" y="1920240"/>
            <a:ext cx="3337560" cy="4114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800" b="1" i="0">
                <a:solidFill>
                  <a:srgbClr val="00143D"/>
                </a:solidFill>
                <a:latin typeface="Calibri"/>
              </a:rPr>
              <a:t>3.  Outcome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275319" y="2377440"/>
            <a:ext cx="3337560" cy="9144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1050" b="0" i="1">
                <a:solidFill>
                  <a:srgbClr val="5B657A"/>
                </a:solidFill>
                <a:latin typeface="Calibri"/>
              </a:rPr>
              <a:t>An endorsement was right if the endorsed candidate actually outscored the other on logical-reasoning.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9029700" y="3063239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DF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116B45"/>
                </a:solidFill>
                <a:latin typeface="Calibri"/>
              </a:rPr>
              <a:t>CORRECT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275319" y="3611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right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029700" y="42062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D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bIns="18288" rtlCol="0" anchor="ctr"/>
          <a:lstStyle/>
          <a:p>
            <a:pPr algn="ctr"/>
            <a:r>
              <a:rPr sz="1400" b="1" i="0">
                <a:solidFill>
                  <a:srgbClr val="B12121"/>
                </a:solidFill>
                <a:latin typeface="Calibri"/>
              </a:rPr>
              <a:t>WRONG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8275319" y="4754879"/>
            <a:ext cx="3337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Calibri"/>
              </a:rPr>
              <a:t>endorsement was wrong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535424" y="3273552"/>
            <a:ext cx="3118104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1" i="0">
                <a:solidFill>
                  <a:srgbClr val="5B657A"/>
                </a:solidFill>
                <a:latin typeface="Calibri"/>
              </a:rPr>
              <a:t>ENDORSER CONFIDENCE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4535424" y="3584448"/>
            <a:ext cx="3118104" cy="201168"/>
          </a:xfrm>
          <a:prstGeom prst="roundRect">
            <a:avLst>
              <a:gd name="adj" fmla="val 50000"/>
            </a:avLst>
          </a:prstGeom>
          <a:solidFill>
            <a:srgbClr val="E5EAF3"/>
          </a:solidFill>
          <a:ln w="9525">
            <a:solidFill>
              <a:srgbClr val="9AA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5" name="Rounded Rectangle 234"/>
          <p:cNvSpPr/>
          <p:nvPr/>
        </p:nvSpPr>
        <p:spPr>
          <a:xfrm>
            <a:off x="4909596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B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6" name="Rounded Rectangle 235"/>
          <p:cNvSpPr/>
          <p:nvPr/>
        </p:nvSpPr>
        <p:spPr>
          <a:xfrm>
            <a:off x="6936364" y="3584448"/>
            <a:ext cx="342991" cy="201168"/>
          </a:xfrm>
          <a:prstGeom prst="roundRect">
            <a:avLst>
              <a:gd name="adj" fmla="val 50000"/>
            </a:avLst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7" name="TextBox 236"/>
          <p:cNvSpPr txBox="1"/>
          <p:nvPr/>
        </p:nvSpPr>
        <p:spPr>
          <a:xfrm>
            <a:off x="4443984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/>
            <a:r>
              <a:rPr sz="900" b="0" i="0">
                <a:solidFill>
                  <a:srgbClr val="5B657A"/>
                </a:solidFill>
                <a:latin typeface="Calibri"/>
              </a:rPr>
              <a:t>0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24928" y="3803904"/>
            <a:ext cx="320040" cy="20116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/>
            <a:r>
              <a:rPr sz="900" b="0" i="0">
                <a:solidFill>
                  <a:srgbClr val="5B657A"/>
                </a:solidFill>
                <a:latin typeface="Calibri"/>
              </a:rPr>
              <a:t>100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55312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B12121"/>
                </a:solidFill>
                <a:latin typeface="Calibri"/>
              </a:rPr>
              <a:t>Weak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555312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12–23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582079" y="4005072"/>
            <a:ext cx="10515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500" b="1" i="0">
                <a:solidFill>
                  <a:srgbClr val="00143D"/>
                </a:solidFill>
                <a:latin typeface="Calibri"/>
              </a:rPr>
              <a:t>Strong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6582079" y="4261104"/>
            <a:ext cx="1051560" cy="23774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ctr"/>
            <a:r>
              <a:rPr sz="1100" b="0" i="1">
                <a:solidFill>
                  <a:srgbClr val="5B657A"/>
                </a:solidFill>
                <a:latin typeface="Calibri"/>
              </a:rPr>
              <a:t>77–88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sp>
        <p:nvSpPr>
          <p:cNvPr id="208" name="Slide Number Placeholder 3">
            <a:extLst>
              <a:ext uri="{FF2B5EF4-FFF2-40B4-BE49-F238E27FC236}">
                <a16:creationId xmlns:a16="http://schemas.microsoft.com/office/drawing/2014/main" id="{8D05B4F1-FC0E-4B35-B1ED-C478513F8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C039CF3-F676-4ABB-AB5D-181C9A12C2F1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209" name="Picture 208" descr="W_correct_strong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CORRECT. The evaluator's bank goes up.  (We also run a 'wrong' variant.)</a:t>
            </a:r>
          </a:p>
        </p:txBody>
      </p:sp>
      <p:sp>
        <p:nvSpPr>
          <p:cNvPr id="209" name="Slide Number Placeholder 3">
            <a:extLst>
              <a:ext uri="{FF2B5EF4-FFF2-40B4-BE49-F238E27FC236}">
                <a16:creationId xmlns:a16="http://schemas.microsoft.com/office/drawing/2014/main" id="{297B77C9-43B3-46C1-996A-821C66E057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32AE8C2-DFC8-4962-A512-91142A2F63A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210" name="Picture 209" descr="W_correct_strong_d2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sp>
        <p:nvSpPr>
          <p:cNvPr id="210" name="Slide Number Placeholder 3">
            <a:extLst>
              <a:ext uri="{FF2B5EF4-FFF2-40B4-BE49-F238E27FC236}">
                <a16:creationId xmlns:a16="http://schemas.microsoft.com/office/drawing/2014/main" id="{C53DC1F7-5FD6-425C-9CF0-1889CF282E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D95FE1-4089-45B4-A36C-0256011A0793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211" name="Picture 210" descr="W_correct_strong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RQ1</a:t>
            </a:r>
            <a:r>
              <a:rPr lang="en-US" sz="26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evaluators wager on the first decision?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b gender  </a:t>
            </a:r>
            <a:r>
              <a:rPr sz="1700" b="1">
                <a:solidFill>
                  <a:srgbClr val="011F5B"/>
                </a:solidFill>
                <a:latin typeface="Arial"/>
              </a:rPr>
              <a:t>-1.06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p  </a:t>
            </a:r>
            <a:r>
              <a:rPr sz="1700" b="1">
                <a:solidFill>
                  <a:srgbClr val="111827"/>
                </a:solidFill>
                <a:latin typeface="Arial"/>
              </a:rPr>
              <a:t>= .812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   </a:t>
            </a:r>
            <a:r>
              <a:rPr sz="1400" b="1">
                <a:solidFill>
                  <a:srgbClr val="6B7280"/>
                </a:solidFill>
                <a:latin typeface="Arial"/>
              </a:rPr>
              <a:t>no gender effect</a:t>
            </a:r>
          </a:p>
        </p:txBody>
      </p:sp>
      <p:sp>
        <p:nvSpPr>
          <p:cNvPr id="214" name="Slide Number Placeholder 3">
            <a:extLst>
              <a:ext uri="{FF2B5EF4-FFF2-40B4-BE49-F238E27FC236}">
                <a16:creationId xmlns:a16="http://schemas.microsoft.com/office/drawing/2014/main" id="{FC142386-DEDB-4088-90EC-5A01284463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152DB2A-018C-4FE0-9B70-C71C0852F319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215" name="Picture 214" descr="rq1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461DB-4C47-456E-19EE-7DBC80297E3B}"/>
              </a:ext>
            </a:extLst>
          </p:cNvPr>
          <p:cNvSpPr/>
          <p:nvPr/>
        </p:nvSpPr>
        <p:spPr>
          <a:xfrm>
            <a:off x="5126636" y="1645920"/>
            <a:ext cx="6913084" cy="46874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04D4AA-5082-AA77-8301-0E45446B466A}"/>
              </a:ext>
            </a:extLst>
          </p:cNvPr>
          <p:cNvSpPr/>
          <p:nvPr/>
        </p:nvSpPr>
        <p:spPr>
          <a:xfrm>
            <a:off x="8027232" y="112425"/>
            <a:ext cx="4012487" cy="369019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949440" cy="1200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RQ2</a:t>
            </a:r>
            <a:r>
              <a:rPr lang="en-US" sz="2600" b="1" i="0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600" b="1" i="0" dirty="0">
                <a:solidFill>
                  <a:srgbClr val="011F5B"/>
                </a:solidFill>
                <a:latin typeface="Arial"/>
              </a:rPr>
              <a:t>How much did one outcome change evaluator wagers?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79815" y="274320"/>
            <a:ext cx="3200400" cy="132588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11F5B"/>
                </a:solidFill>
                <a:latin typeface="Arial"/>
              </a:rPr>
              <a:t>Δ Male  </a:t>
            </a:r>
            <a:r>
              <a:rPr sz="1700" b="1">
                <a:solidFill>
                  <a:srgbClr val="011F5B"/>
                </a:solidFill>
                <a:latin typeface="Arial"/>
              </a:rPr>
              <a:t>+15.0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990000"/>
                </a:solidFill>
                <a:latin typeface="Arial"/>
              </a:rPr>
              <a:t>Δ Female  </a:t>
            </a:r>
            <a:r>
              <a:rPr sz="1700" b="1">
                <a:solidFill>
                  <a:srgbClr val="990000"/>
                </a:solidFill>
                <a:latin typeface="Arial"/>
              </a:rPr>
              <a:t>+4.3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b  </a:t>
            </a:r>
            <a:r>
              <a:rPr sz="1400" b="1">
                <a:solidFill>
                  <a:srgbClr val="111827"/>
                </a:solidFill>
                <a:latin typeface="Arial"/>
              </a:rPr>
              <a:t>-11.60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11827"/>
                </a:solidFill>
                <a:latin typeface="Arial"/>
              </a:rPr>
              <a:t>p  </a:t>
            </a:r>
            <a:r>
              <a:rPr sz="1400" b="1">
                <a:solidFill>
                  <a:srgbClr val="111827"/>
                </a:solidFill>
                <a:latin typeface="Arial"/>
              </a:rPr>
              <a:t>= .062</a:t>
            </a:r>
          </a:p>
        </p:txBody>
      </p:sp>
      <p:sp>
        <p:nvSpPr>
          <p:cNvPr id="211" name="Slide Number Placeholder 3">
            <a:extLst>
              <a:ext uri="{FF2B5EF4-FFF2-40B4-BE49-F238E27FC236}">
                <a16:creationId xmlns:a16="http://schemas.microsoft.com/office/drawing/2014/main" id="{29F8E95F-F92A-4D2C-BA95-C7E10742A5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9AB970C-8672-4988-8838-61247889C57C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72ACD-6285-FBFE-44E4-6E94B4992440}"/>
              </a:ext>
            </a:extLst>
          </p:cNvPr>
          <p:cNvSpPr/>
          <p:nvPr/>
        </p:nvSpPr>
        <p:spPr>
          <a:xfrm>
            <a:off x="11542356" y="2378765"/>
            <a:ext cx="497364" cy="39822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2" name="Picture 211" descr="rq1_gender_x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D570E96-E54B-5B65-93B9-023303B58143}"/>
              </a:ext>
            </a:extLst>
          </p:cNvPr>
          <p:cNvSpPr/>
          <p:nvPr/>
        </p:nvSpPr>
        <p:spPr>
          <a:xfrm>
            <a:off x="6272299" y="2450891"/>
            <a:ext cx="5536812" cy="298604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EE36CA-69EA-93EE-7DED-EE6F60649D93}"/>
              </a:ext>
            </a:extLst>
          </p:cNvPr>
          <p:cNvSpPr/>
          <p:nvPr/>
        </p:nvSpPr>
        <p:spPr>
          <a:xfrm>
            <a:off x="7452359" y="167515"/>
            <a:ext cx="4494801" cy="153949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015512" y="261068"/>
            <a:ext cx="1775526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+16.8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+6.0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-13.01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.113</a:t>
            </a:r>
          </a:p>
        </p:txBody>
      </p:sp>
      <p:sp>
        <p:nvSpPr>
          <p:cNvPr id="212" name="Slide Number Placeholder 3">
            <a:extLst>
              <a:ext uri="{FF2B5EF4-FFF2-40B4-BE49-F238E27FC236}">
                <a16:creationId xmlns:a16="http://schemas.microsoft.com/office/drawing/2014/main" id="{85F90AF4-29B7-4FED-BD53-B1D1B7325F9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36629C-C071-45B7-8387-2682D7526E9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213" name="Picture 212" descr="rq2_strong_on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6FB179C-7B51-1FA0-AC3E-667344EA1151}"/>
              </a:ext>
            </a:extLst>
          </p:cNvPr>
          <p:cNvGrpSpPr/>
          <p:nvPr/>
        </p:nvGrpSpPr>
        <p:grpSpPr>
          <a:xfrm>
            <a:off x="7580694" y="274320"/>
            <a:ext cx="2434818" cy="1280160"/>
            <a:chOff x="7580694" y="274320"/>
            <a:chExt cx="2434818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4842B0D-1563-5F77-5B18-9D0F0FD8C625}"/>
                </a:ext>
              </a:extLst>
            </p:cNvPr>
            <p:cNvGrpSpPr/>
            <p:nvPr/>
          </p:nvGrpSpPr>
          <p:grpSpPr>
            <a:xfrm>
              <a:off x="7580694" y="274320"/>
              <a:ext cx="2434818" cy="1280160"/>
              <a:chOff x="6766560" y="292608"/>
              <a:chExt cx="2434818" cy="1280160"/>
            </a:xfrm>
          </p:grpSpPr>
          <p:sp>
            <p:nvSpPr>
              <p:cNvPr id="214" name="Rounded Rectangle 213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5" name="TextBox 214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6" name="Rounded Rectangle 215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8" name="TextBox 217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012658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 dirty="0">
                    <a:solidFill>
                      <a:srgbClr val="00143D"/>
                    </a:solidFill>
                    <a:latin typeface="Arial"/>
                  </a:rPr>
                  <a:t>Strong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8012658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77–88</a:t>
                </a:r>
              </a:p>
            </p:txBody>
          </p:sp>
        </p:grpSp>
        <p:sp>
          <p:nvSpPr>
            <p:cNvPr id="217" name="Rounded Rectangle 216"/>
            <p:cNvSpPr/>
            <p:nvPr/>
          </p:nvSpPr>
          <p:spPr>
            <a:xfrm>
              <a:off x="9224374" y="635044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011F5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2" name="TextBox 221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  <a:r>
              <a:rPr sz="2200" b="1" dirty="0">
                <a:solidFill>
                  <a:srgbClr val="011F5B"/>
                </a:solidFill>
                <a:latin typeface="Arial"/>
              </a:rPr>
              <a:t> </a:t>
            </a:r>
            <a:endParaRPr lang="en-US" sz="2200" b="1" dirty="0">
              <a:solidFill>
                <a:srgbClr val="011F5B"/>
              </a:solidFill>
              <a:latin typeface="Arial"/>
            </a:endParaRP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Strong endorsements:  how did one outcome shift wagers?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10171308" y="274320"/>
            <a:ext cx="1696013" cy="1280160"/>
          </a:xfrm>
          <a:prstGeom prst="roundRect">
            <a:avLst>
              <a:gd name="adj" fmla="val 18000"/>
            </a:avLst>
          </a:prstGeom>
          <a:solidFill>
            <a:srgbClr val="FAFB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Ins="182880" bIns="91440" rtlCol="0" anchor="ctr"/>
          <a:lstStyle/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011F5B"/>
                </a:solidFill>
                <a:latin typeface="Arial"/>
              </a:rPr>
              <a:t>Δ Male  </a:t>
            </a:r>
            <a:r>
              <a:rPr sz="1500" b="1" dirty="0">
                <a:solidFill>
                  <a:srgbClr val="011F5B"/>
                </a:solidFill>
                <a:latin typeface="Arial"/>
              </a:rPr>
              <a:t>+12.6</a:t>
            </a:r>
          </a:p>
          <a:p>
            <a:pPr algn="l">
              <a:spcAft>
                <a:spcPts val="200"/>
              </a:spcAft>
            </a:pPr>
            <a:r>
              <a:rPr sz="1300" b="1" dirty="0">
                <a:solidFill>
                  <a:srgbClr val="990000"/>
                </a:solidFill>
                <a:latin typeface="Arial"/>
              </a:rPr>
              <a:t>Δ Female  </a:t>
            </a:r>
            <a:r>
              <a:rPr sz="1500" b="1" dirty="0">
                <a:solidFill>
                  <a:srgbClr val="990000"/>
                </a:solidFill>
                <a:latin typeface="Arial"/>
              </a:rPr>
              <a:t>+3.4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b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-9.50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111827"/>
                </a:solidFill>
                <a:latin typeface="Arial"/>
              </a:rPr>
              <a:t>p  </a:t>
            </a:r>
            <a:r>
              <a:rPr sz="1300" b="1" dirty="0">
                <a:solidFill>
                  <a:srgbClr val="111827"/>
                </a:solidFill>
                <a:latin typeface="Arial"/>
              </a:rPr>
              <a:t>= .322</a:t>
            </a:r>
          </a:p>
        </p:txBody>
      </p:sp>
      <p:sp>
        <p:nvSpPr>
          <p:cNvPr id="213" name="Slide Number Placeholder 3">
            <a:extLst>
              <a:ext uri="{FF2B5EF4-FFF2-40B4-BE49-F238E27FC236}">
                <a16:creationId xmlns:a16="http://schemas.microsoft.com/office/drawing/2014/main" id="{E8F6FB20-2327-4A2A-A726-3AFFD66103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428904-08A1-459C-98CB-C622996A5981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214" name="Picture 213" descr="rq2_weak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12006072" cy="48006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146E6D1-13B7-F946-D9F4-EB852BB0D84E}"/>
              </a:ext>
            </a:extLst>
          </p:cNvPr>
          <p:cNvGrpSpPr/>
          <p:nvPr/>
        </p:nvGrpSpPr>
        <p:grpSpPr>
          <a:xfrm>
            <a:off x="7624244" y="274320"/>
            <a:ext cx="2434819" cy="1280160"/>
            <a:chOff x="6663461" y="292608"/>
            <a:chExt cx="2434819" cy="12801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6A38D61-7FDB-212F-A9E7-B35CD01CE104}"/>
                </a:ext>
              </a:extLst>
            </p:cNvPr>
            <p:cNvGrpSpPr/>
            <p:nvPr/>
          </p:nvGrpSpPr>
          <p:grpSpPr>
            <a:xfrm>
              <a:off x="6663461" y="292608"/>
              <a:ext cx="2434819" cy="1280160"/>
              <a:chOff x="6663461" y="292608"/>
              <a:chExt cx="2434819" cy="1280160"/>
            </a:xfrm>
          </p:grpSpPr>
          <p:sp>
            <p:nvSpPr>
              <p:cNvPr id="215" name="Rounded Rectangle 214"/>
              <p:cNvSpPr/>
              <p:nvPr/>
            </p:nvSpPr>
            <p:spPr>
              <a:xfrm>
                <a:off x="6766560" y="292608"/>
                <a:ext cx="2331720" cy="1243584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12700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6" name="TextBox 215"/>
              <p:cNvSpPr txBox="1"/>
              <p:nvPr/>
            </p:nvSpPr>
            <p:spPr>
              <a:xfrm>
                <a:off x="6894576" y="347472"/>
                <a:ext cx="2075687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5B657A"/>
                    </a:solidFill>
                    <a:latin typeface="Arial"/>
                  </a:rPr>
                  <a:t>ENDORSER CONFIDENCE</a:t>
                </a:r>
              </a:p>
            </p:txBody>
          </p:sp>
          <p:sp>
            <p:nvSpPr>
              <p:cNvPr id="217" name="Rounded Rectangle 216"/>
              <p:cNvSpPr/>
              <p:nvPr/>
            </p:nvSpPr>
            <p:spPr>
              <a:xfrm>
                <a:off x="6894576" y="640080"/>
                <a:ext cx="2075687" cy="201168"/>
              </a:xfrm>
              <a:prstGeom prst="roundRect">
                <a:avLst>
                  <a:gd name="adj" fmla="val 50000"/>
                </a:avLst>
              </a:prstGeom>
              <a:solidFill>
                <a:srgbClr val="E5EAF3"/>
              </a:solidFill>
              <a:ln w="9525">
                <a:solidFill>
                  <a:srgbClr val="C7CFD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19" name="TextBox 218"/>
              <p:cNvSpPr txBox="1"/>
              <p:nvPr/>
            </p:nvSpPr>
            <p:spPr>
              <a:xfrm>
                <a:off x="6803136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l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0</a:t>
                </a: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8741663" y="859536"/>
                <a:ext cx="320040" cy="20116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r"/>
                <a:r>
                  <a:rPr sz="900" b="0" i="0">
                    <a:solidFill>
                      <a:srgbClr val="5B657A"/>
                    </a:solidFill>
                    <a:latin typeface="Arial"/>
                  </a:rPr>
                  <a:t>100</a:t>
                </a:r>
              </a:p>
            </p:txBody>
          </p:sp>
          <p:sp>
            <p:nvSpPr>
              <p:cNvPr id="221" name="TextBox 220"/>
              <p:cNvSpPr txBox="1"/>
              <p:nvPr/>
            </p:nvSpPr>
            <p:spPr>
              <a:xfrm>
                <a:off x="6663461" y="1060704"/>
                <a:ext cx="1188720" cy="292608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400" b="1" i="0">
                    <a:solidFill>
                      <a:srgbClr val="B12121"/>
                    </a:solidFill>
                    <a:latin typeface="Arial"/>
                  </a:rPr>
                  <a:t>Weak</a:t>
                </a:r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6663461" y="1335024"/>
                <a:ext cx="1188720" cy="237744"/>
              </a:xfrm>
              <a:prstGeom prst="rect">
                <a:avLst/>
              </a:prstGeom>
              <a:noFill/>
            </p:spPr>
            <p:txBody>
              <a:bodyPr wrap="square" lIns="27432" tIns="18288" rIns="27432" bIns="18288">
                <a:spAutoFit/>
              </a:bodyPr>
              <a:lstStyle/>
              <a:p>
                <a:pPr algn="ctr"/>
                <a:r>
                  <a:rPr sz="1100" b="0" i="1">
                    <a:solidFill>
                      <a:srgbClr val="5B657A"/>
                    </a:solidFill>
                    <a:latin typeface="Arial"/>
                  </a:rPr>
                  <a:t>12–23</a:t>
                </a:r>
              </a:p>
            </p:txBody>
          </p:sp>
        </p:grpSp>
        <p:sp>
          <p:nvSpPr>
            <p:cNvPr id="218" name="Rounded Rectangle 217"/>
            <p:cNvSpPr/>
            <p:nvPr/>
          </p:nvSpPr>
          <p:spPr>
            <a:xfrm>
              <a:off x="7143658" y="640080"/>
              <a:ext cx="228325" cy="201168"/>
            </a:xfrm>
            <a:prstGeom prst="roundRect">
              <a:avLst>
                <a:gd name="adj" fmla="val 50000"/>
              </a:avLst>
            </a:prstGeom>
            <a:solidFill>
              <a:srgbClr val="B1212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</p:grpSp>
      <p:sp>
        <p:nvSpPr>
          <p:cNvPr id="223" name="TextBox 222"/>
          <p:cNvSpPr txBox="1"/>
          <p:nvPr/>
        </p:nvSpPr>
        <p:spPr>
          <a:xfrm>
            <a:off x="502920" y="274320"/>
            <a:ext cx="6126480" cy="110799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RQ3</a:t>
            </a:r>
            <a:r>
              <a:rPr lang="en-US" sz="2200" b="1" dirty="0">
                <a:solidFill>
                  <a:srgbClr val="011F5B"/>
                </a:solidFill>
                <a:latin typeface="Arial"/>
              </a:rPr>
              <a:t>:</a:t>
            </a:r>
          </a:p>
          <a:p>
            <a:pPr algn="l"/>
            <a:r>
              <a:rPr sz="2200" b="1" dirty="0">
                <a:solidFill>
                  <a:srgbClr val="011F5B"/>
                </a:solidFill>
                <a:latin typeface="Arial"/>
              </a:rPr>
              <a:t>Weak endorsements:  how did one outcome shift wagers?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1185855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200" b="1" i="0" dirty="0">
                <a:solidFill>
                  <a:srgbClr val="011F5B"/>
                </a:solidFill>
                <a:latin typeface="Arial"/>
              </a:rPr>
              <a:t>Summary</a:t>
            </a:r>
            <a:endParaRPr sz="3200" b="1" i="0" dirty="0">
              <a:solidFill>
                <a:srgbClr val="011F5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594203"/>
            <a:ext cx="5074920" cy="403187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400" b="1" dirty="0">
                <a:solidFill>
                  <a:srgbClr val="111827"/>
                </a:solidFill>
              </a:rPr>
              <a:t>•  </a:t>
            </a:r>
            <a:r>
              <a:rPr lang="en-US" sz="2400" dirty="0">
                <a:solidFill>
                  <a:srgbClr val="111827"/>
                </a:solidFill>
              </a:rPr>
              <a:t>Male and female sponsors are trusted equally at baseline </a:t>
            </a:r>
            <a:endParaRPr lang="en-US" sz="2400" b="0" dirty="0">
              <a:solidFill>
                <a:srgbClr val="111827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Men</a:t>
            </a:r>
            <a:r>
              <a:rPr lang="en-US" sz="2400" dirty="0">
                <a:solidFill>
                  <a:srgbClr val="111827"/>
                </a:solidFill>
                <a:latin typeface="Arial"/>
              </a:rPr>
              <a:t>'</a:t>
            </a:r>
            <a:r>
              <a:rPr sz="2400" b="0" dirty="0">
                <a:solidFill>
                  <a:srgbClr val="111827"/>
                </a:solidFill>
                <a:latin typeface="Arial"/>
              </a:rPr>
              <a:t>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2400" b="0" dirty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lang="en-US" sz="2400" b="0" dirty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endParaRPr sz="2400" b="0" dirty="0">
              <a:solidFill>
                <a:srgbClr val="111827"/>
              </a:solidFill>
              <a:latin typeface="Arial"/>
            </a:endParaRPr>
          </a:p>
        </p:txBody>
      </p:sp>
      <p:sp>
        <p:nvSpPr>
          <p:cNvPr id="215" name="Slide Number Placeholder 3">
            <a:extLst>
              <a:ext uri="{FF2B5EF4-FFF2-40B4-BE49-F238E27FC236}">
                <a16:creationId xmlns:a16="http://schemas.microsoft.com/office/drawing/2014/main" id="{E1D2B922-5A84-4186-A4F2-8EDED3FC579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013D87F-5244-47F4-B4B2-87FD3047BE5E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216" name="Picture 215" descr="synthesis_outcom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32588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lide Number Placeholder 3">
            <a:extLst>
              <a:ext uri="{FF2B5EF4-FFF2-40B4-BE49-F238E27FC236}">
                <a16:creationId xmlns:a16="http://schemas.microsoft.com/office/drawing/2014/main" id="{D660F081-DFF5-4F81-9684-C53659E3F2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BDE2B18-7325-4203-8945-01CBD09AEDA2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217" name="TextBox 216"/>
          <p:cNvSpPr txBox="1"/>
          <p:nvPr/>
        </p:nvSpPr>
        <p:spPr>
          <a:xfrm>
            <a:off x="502920" y="274320"/>
            <a:ext cx="11183112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Running story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02920" y="960120"/>
            <a:ext cx="11183112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2000" b="0" i="1">
                <a:solidFill>
                  <a:srgbClr val="5B657A"/>
                </a:solidFill>
                <a:latin typeface="Arial"/>
              </a:rPr>
              <a:t>The prior leaks in once there's an outcome to read.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502920" y="154533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TextBox 219"/>
          <p:cNvSpPr txBox="1"/>
          <p:nvPr/>
        </p:nvSpPr>
        <p:spPr>
          <a:xfrm>
            <a:off x="758952" y="141732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Without a track record, people stay reserved.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RQ1 is null (b = -1.06, p = .81). With nothing but a strength label, there's no basis to discriminate yet. Unlike most discrimination findings, the gap leaks in only at the outcome.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502920" y="273405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TextBox 221"/>
          <p:cNvSpPr txBox="1"/>
          <p:nvPr/>
        </p:nvSpPr>
        <p:spPr>
          <a:xfrm>
            <a:off x="758952" y="260604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Women's endorsements: more generous on average.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A generous endorsement is hard to read signal from, so evaluators discount their endorsements (consistent with the effects among sponsors in the stronger confidence cells).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392277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TextBox 223"/>
          <p:cNvSpPr txBox="1"/>
          <p:nvPr/>
        </p:nvSpPr>
        <p:spPr>
          <a:xfrm>
            <a:off x="758952" y="379476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Men's endorsements: more critical but spread out.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Evaluators read men's confident calls as carrying information that can be both praised or penalized, so trust moves accordingly.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02920" y="5111496"/>
            <a:ext cx="146304" cy="146304"/>
          </a:xfrm>
          <a:prstGeom prst="rect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TextBox 225"/>
          <p:cNvSpPr txBox="1"/>
          <p:nvPr/>
        </p:nvSpPr>
        <p:spPr>
          <a:xfrm>
            <a:off x="758952" y="4983480"/>
            <a:ext cx="6327648" cy="10972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r>
              <a:rPr sz="1900" b="1" i="0">
                <a:solidFill>
                  <a:srgbClr val="00143D"/>
                </a:solidFill>
                <a:latin typeface="Arial"/>
              </a:rPr>
              <a:t>One alternative: telegraph their standards.</a:t>
            </a:r>
          </a:p>
          <a:p>
            <a:pPr>
              <a:spcBef>
                <a:spcPts val="200"/>
              </a:spcBef>
            </a:pPr>
            <a:r>
              <a:rPr sz="1600" b="0" i="0">
                <a:solidFill>
                  <a:srgbClr val="1F2937"/>
                </a:solidFill>
                <a:latin typeface="Arial"/>
              </a:rPr>
              <a:t>Implication: women can't build credibility without more experience. But signaling "I only recommend the top 10%" could let outcomes be re-read as informative.</a:t>
            </a:r>
          </a:p>
        </p:txBody>
      </p:sp>
      <p:pic>
        <p:nvPicPr>
          <p:cNvPr id="227" name="Picture 2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417320"/>
            <a:ext cx="4937760" cy="3035808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7178040" y="4471416"/>
            <a:ext cx="4937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/>
            <a:r>
              <a:rPr sz="1200" b="0" i="1">
                <a:solidFill>
                  <a:srgbClr val="5B657A"/>
                </a:solidFill>
                <a:latin typeface="Arial"/>
              </a:rPr>
              <a:t>Hypothesized prior distributions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217" name="Slide Number Placeholder 3">
            <a:extLst>
              <a:ext uri="{FF2B5EF4-FFF2-40B4-BE49-F238E27FC236}">
                <a16:creationId xmlns:a16="http://schemas.microsoft.com/office/drawing/2014/main" id="{576EA859-4E79-4EBE-9BC9-29E0716921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F9FAA71-D419-44AE-8FB2-35FB403C2DE2}" type="slidenum">
              <a:rPr lang="en-US" smtClean="0"/>
              <a:pPr/>
              <a:t>28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377440"/>
            <a:ext cx="111831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00143D"/>
                </a:solidFill>
                <a:latin typeface="Calibr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566160"/>
            <a:ext cx="11183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5B657A"/>
                </a:solidFill>
                <a:latin typeface="Calibri"/>
              </a:rPr>
              <a:t>Instruction screens from the Stage 2 &amp; Stage 3 Qualtrics surveys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Endorser role</a:t>
            </a:r>
          </a:p>
        </p:txBody>
      </p:sp>
      <p:pic>
        <p:nvPicPr>
          <p:cNvPr id="3" name="Picture 2" descr="stage2_01_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356" y="960120"/>
            <a:ext cx="9672239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Earnings ($1 flat + $3 bonus)</a:t>
            </a:r>
          </a:p>
        </p:txBody>
      </p:sp>
      <p:pic>
        <p:nvPicPr>
          <p:cNvPr id="3" name="Picture 2" descr="stage2_02_ear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7902" y="960120"/>
            <a:ext cx="663314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2  ·  Task objective + slider</a:t>
            </a:r>
          </a:p>
        </p:txBody>
      </p:sp>
      <p:pic>
        <p:nvPicPr>
          <p:cNvPr id="3" name="Picture 2" descr="stage2_03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3575"/>
            <a:ext cx="11183112" cy="408804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Study purpose</a:t>
            </a:r>
          </a:p>
        </p:txBody>
      </p:sp>
      <p:pic>
        <p:nvPicPr>
          <p:cNvPr id="3" name="Picture 2" descr="stage3_01_pur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8052"/>
            <a:ext cx="11183112" cy="265909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What evaluators see</a:t>
            </a:r>
          </a:p>
        </p:txBody>
      </p:sp>
      <p:pic>
        <p:nvPicPr>
          <p:cNvPr id="3" name="Picture 2" descr="stage3_02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680" y="960120"/>
            <a:ext cx="825759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Endorser motivation</a:t>
            </a:r>
          </a:p>
        </p:txBody>
      </p:sp>
      <p:pic>
        <p:nvPicPr>
          <p:cNvPr id="3" name="Picture 2" descr="stage3_03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9443"/>
            <a:ext cx="11183112" cy="47963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Two-decision framing</a:t>
            </a:r>
          </a:p>
        </p:txBody>
      </p:sp>
      <p:pic>
        <p:nvPicPr>
          <p:cNvPr id="3" name="Picture 2" descr="stage3_04_two_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8569"/>
            <a:ext cx="11183112" cy="157806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Stage 3  ·  $0.50 bank wager mechanics</a:t>
            </a:r>
          </a:p>
        </p:txBody>
      </p:sp>
      <p:pic>
        <p:nvPicPr>
          <p:cNvPr id="3" name="Picture 2" descr="stage3_05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23" y="960120"/>
            <a:ext cx="811950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CQ1  ·  Bank amount</a:t>
            </a:r>
          </a:p>
        </p:txBody>
      </p:sp>
      <p:pic>
        <p:nvPicPr>
          <p:cNvPr id="3" name="Picture 2" descr="stage3_cq1_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CQ2  ·  Wager calculation</a:t>
            </a:r>
          </a:p>
        </p:txBody>
      </p:sp>
      <p:pic>
        <p:nvPicPr>
          <p:cNvPr id="3" name="Picture 2" descr="stage3_cq2_w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CQ3  ·  Bonus calculation</a:t>
            </a:r>
          </a:p>
        </p:txBody>
      </p:sp>
      <p:pic>
        <p:nvPicPr>
          <p:cNvPr id="3" name="Picture 2" descr="stage3_cq3_bo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4639"/>
            <a:ext cx="11183112" cy="40259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CQ4  ·  Task question</a:t>
            </a:r>
          </a:p>
        </p:txBody>
      </p:sp>
      <p:pic>
        <p:nvPicPr>
          <p:cNvPr id="3" name="Picture 2" descr="stage3_cq4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143D"/>
                </a:solidFill>
                <a:latin typeface="Calibri"/>
              </a:rPr>
              <a:t>CQ5  ·  Comparison question</a:t>
            </a:r>
          </a:p>
        </p:txBody>
      </p:sp>
      <p:pic>
        <p:nvPicPr>
          <p:cNvPr id="3" name="Picture 2" descr="stage3_cq5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04122"/>
            <a:ext cx="11183112" cy="51069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8314</TotalTime>
  <Words>2073</Words>
  <Application>Microsoft Office PowerPoint</Application>
  <PresentationFormat>Widescreen</PresentationFormat>
  <Paragraphs>304</Paragraphs>
  <Slides>42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Arial</vt:lpstr>
      <vt:lpstr>Calibri</vt:lpstr>
      <vt:lpstr>Garamond</vt:lpstr>
      <vt:lpstr>Georgia</vt:lpstr>
      <vt:lpstr>Wharton 2016 16:9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josecerv</cp:lastModifiedBy>
  <cp:revision>98</cp:revision>
  <dcterms:created xsi:type="dcterms:W3CDTF">2016-03-10T13:41:29Z</dcterms:created>
  <dcterms:modified xsi:type="dcterms:W3CDTF">2026-04-08T13:47:00Z</dcterms:modified>
</cp:coreProperties>
</file>