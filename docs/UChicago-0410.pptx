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256" r:id="rId2"/>
    <p:sldId id="277" r:id="rId3"/>
    <p:sldId id="284" r:id="rId33"/>
    <p:sldId id="282" r:id="rId31"/>
    <p:sldId id="283" r:id="rId32"/>
    <p:sldId id="258" r:id="rId4"/>
    <p:sldId id="259" r:id="rId5"/>
    <p:sldId id="260" r:id="rId6"/>
    <p:sldId id="261" r:id="rId7"/>
    <p:sldId id="262" r:id="rId8"/>
    <p:sldId id="285" r:id="rId34"/>
    <p:sldId id="263" r:id="rId9"/>
    <p:sldId id="279" r:id="rId10"/>
    <p:sldId id="286" r:id="rId35"/>
    <p:sldId id="278" r:id="rId11"/>
    <p:sldId id="280" r:id="rId12"/>
    <p:sldId id="264" r:id="rId13"/>
    <p:sldId id="265" r:id="rId14"/>
    <p:sldId id="266" r:id="rId15"/>
    <p:sldId id="267" r:id="rId16"/>
    <p:sldId id="271" r:id="rId20"/>
    <p:sldId id="268" r:id="rId17"/>
    <p:sldId id="269" r:id="rId18"/>
    <p:sldId id="270" r:id="rId19"/>
    <p:sldId id="272" r:id="rId21"/>
    <p:sldId id="273" r:id="rId22"/>
    <p:sldId id="275" r:id="rId23"/>
    <p:sldId id="281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CF33541-5E58-43C3-A2D8-8288F878A3DB}">
          <p14:sldIdLst>
            <p14:sldId id="256"/>
            <p14:sldId id="277"/>
            <p14:sldId id="258"/>
            <p14:sldId id="259"/>
            <p14:sldId id="260"/>
            <p14:sldId id="261"/>
            <p14:sldId id="262"/>
            <p14:sldId id="263"/>
            <p14:sldId id="279"/>
            <p14:sldId id="278"/>
            <p14:sldId id="280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5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F5B"/>
    <a:srgbClr val="000000"/>
    <a:srgbClr val="A8204E"/>
    <a:srgbClr val="C6093B"/>
    <a:srgbClr val="B1B6AF"/>
    <a:srgbClr val="D9D7D0"/>
    <a:srgbClr val="FF9ED3"/>
    <a:srgbClr val="AFAFAF"/>
    <a:srgbClr val="04ABFD"/>
    <a:srgbClr val="C509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356" autoAdjust="0"/>
    <p:restoredTop sz="78865" autoAdjust="0"/>
  </p:normalViewPr>
  <p:slideViewPr>
    <p:cSldViewPr snapToGrid="0">
      <p:cViewPr varScale="1">
        <p:scale>
          <a:sx n="115" d="100"/>
          <a:sy n="115" d="100"/>
        </p:scale>
        <p:origin x="67" y="3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5" d="100"/>
          <a:sy n="55" d="100"/>
        </p:scale>
        <p:origin x="2880" y="7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6.xml"/><Relationship Id="rId5" Type="http://schemas.openxmlformats.org/officeDocument/2006/relationships/slide" Target="slides/slide7.xml"/><Relationship Id="rId6" Type="http://schemas.openxmlformats.org/officeDocument/2006/relationships/slide" Target="slides/slide8.xml"/><Relationship Id="rId7" Type="http://schemas.openxmlformats.org/officeDocument/2006/relationships/slide" Target="slides/slide9.xml"/><Relationship Id="rId8" Type="http://schemas.openxmlformats.org/officeDocument/2006/relationships/slide" Target="slides/slide10.xml"/><Relationship Id="rId9" Type="http://schemas.openxmlformats.org/officeDocument/2006/relationships/slide" Target="slides/slide12.xml"/><Relationship Id="rId10" Type="http://schemas.openxmlformats.org/officeDocument/2006/relationships/slide" Target="slides/slide13.xml"/><Relationship Id="rId11" Type="http://schemas.openxmlformats.org/officeDocument/2006/relationships/slide" Target="slides/slide15.xml"/><Relationship Id="rId12" Type="http://schemas.openxmlformats.org/officeDocument/2006/relationships/slide" Target="slides/slide16.xml"/><Relationship Id="rId13" Type="http://schemas.openxmlformats.org/officeDocument/2006/relationships/slide" Target="slides/slide17.xml"/><Relationship Id="rId14" Type="http://schemas.openxmlformats.org/officeDocument/2006/relationships/slide" Target="slides/slide18.xml"/><Relationship Id="rId15" Type="http://schemas.openxmlformats.org/officeDocument/2006/relationships/slide" Target="slides/slide19.xml"/><Relationship Id="rId16" Type="http://schemas.openxmlformats.org/officeDocument/2006/relationships/slide" Target="slides/slide20.xml"/><Relationship Id="rId17" Type="http://schemas.openxmlformats.org/officeDocument/2006/relationships/slide" Target="slides/slide22.xml"/><Relationship Id="rId18" Type="http://schemas.openxmlformats.org/officeDocument/2006/relationships/slide" Target="slides/slide23.xml"/><Relationship Id="rId19" Type="http://schemas.openxmlformats.org/officeDocument/2006/relationships/slide" Target="slides/slide24.xml"/><Relationship Id="rId20" Type="http://schemas.openxmlformats.org/officeDocument/2006/relationships/slide" Target="slides/slide21.xml"/><Relationship Id="rId21" Type="http://schemas.openxmlformats.org/officeDocument/2006/relationships/slide" Target="slides/slide25.xml"/><Relationship Id="rId22" Type="http://schemas.openxmlformats.org/officeDocument/2006/relationships/slide" Target="slides/slide26.xml"/><Relationship Id="rId23" Type="http://schemas.openxmlformats.org/officeDocument/2006/relationships/slide" Target="slides/slide27.xml"/><Relationship Id="rId24" Type="http://schemas.openxmlformats.org/officeDocument/2006/relationships/slide" Target="slides/slide28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openxmlformats.org/officeDocument/2006/relationships/slide" Target="slides/slide4.xml"/><Relationship Id="rId32" Type="http://schemas.openxmlformats.org/officeDocument/2006/relationships/slide" Target="slides/slide5.xml"/><Relationship Id="rId33" Type="http://schemas.openxmlformats.org/officeDocument/2006/relationships/slide" Target="slides/slide3.xml"/><Relationship Id="rId34" Type="http://schemas.openxmlformats.org/officeDocument/2006/relationships/slide" Target="slides/slide11.xml"/><Relationship Id="rId35" Type="http://schemas.openxmlformats.org/officeDocument/2006/relationships/slide" Target="slides/slide1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FAB296-C70E-40F1-B507-D2D143AD6EBF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9078BF-40EC-41E1-9B62-3081DB120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0158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D2892C-D9C7-4A81-A07C-60131499A005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1A37F7-1A90-4E51-A507-1AEFE7B69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554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Letter of recommendation example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susan</a:t>
            </a:r>
            <a:r>
              <a:rPr lang="en-US" dirty="0"/>
              <a:t> vs bob – depending on who is writing the letter and then various track records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do people weigh the information differently whether it’s from </a:t>
            </a:r>
            <a:r>
              <a:rPr lang="en-US" dirty="0" err="1"/>
              <a:t>susan</a:t>
            </a:r>
            <a:r>
              <a:rPr lang="en-US" dirty="0"/>
              <a:t> vs bob</a:t>
            </a:r>
          </a:p>
          <a:p>
            <a:r>
              <a:rPr lang="en-US" dirty="0"/>
              <a:t>The thing we care about the most is the second letter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9125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RQ3 is chronologically first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8294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Incentive compatible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2027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Provide a little more setup in terms of the decisions that they are making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4721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Flip the axes between male and female</a:t>
            </a:r>
            <a:br>
              <a:rPr lang="en-US" dirty="0"/>
            </a:br>
            <a:br>
              <a:rPr lang="en-US" dirty="0"/>
            </a:br>
            <a:r>
              <a:rPr lang="en-US" dirty="0"/>
              <a:t>manipulation check</a:t>
            </a:r>
            <a:br>
              <a:rPr lang="en-US" dirty="0"/>
            </a:br>
            <a:r>
              <a:rPr lang="en-US" dirty="0"/>
              <a:t>endowed them with money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8992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Male and female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34308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51150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elogram 5">
            <a:extLst>
              <a:ext uri="{FF2B5EF4-FFF2-40B4-BE49-F238E27FC236}">
                <a16:creationId xmlns:a16="http://schemas.microsoft.com/office/drawing/2014/main" id="{C79B39E0-BF53-44AA-98FF-1D1B87B7E713}"/>
              </a:ext>
            </a:extLst>
          </p:cNvPr>
          <p:cNvSpPr/>
          <p:nvPr userDrawn="1"/>
        </p:nvSpPr>
        <p:spPr>
          <a:xfrm>
            <a:off x="9712713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695DCC8-D73C-40D9-A089-189E7E30D752}"/>
              </a:ext>
            </a:extLst>
          </p:cNvPr>
          <p:cNvSpPr/>
          <p:nvPr userDrawn="1"/>
        </p:nvSpPr>
        <p:spPr>
          <a:xfrm rot="10800000">
            <a:off x="7213298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5671" y="3896000"/>
            <a:ext cx="10135871" cy="646331"/>
          </a:xfrm>
        </p:spPr>
        <p:txBody>
          <a:bodyPr anchor="b"/>
          <a:lstStyle>
            <a:lvl1pPr algn="l">
              <a:defRPr sz="4000" b="1" i="0" cap="none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5672" y="4550000"/>
            <a:ext cx="9144000" cy="544444"/>
          </a:xfrm>
        </p:spPr>
        <p:txBody>
          <a:bodyPr lIns="0" rIns="0">
            <a:spAutoFit/>
          </a:bodyPr>
          <a:lstStyle>
            <a:lvl1pPr marL="0" indent="0" algn="l">
              <a:buNone/>
              <a:defRPr sz="26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2"/>
          </p:nvPr>
        </p:nvSpPr>
        <p:spPr>
          <a:xfrm>
            <a:off x="575672" y="5337129"/>
            <a:ext cx="9144000" cy="509691"/>
          </a:xfrm>
        </p:spPr>
        <p:txBody>
          <a:bodyPr lIns="0" rIns="0">
            <a:spAutoFit/>
          </a:bodyPr>
          <a:lstStyle>
            <a:lvl1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1pPr>
            <a:lvl2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2pPr>
            <a:lvl3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3pPr>
            <a:lvl4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4pPr>
            <a:lvl5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FA7F1E24-66DA-4CF5-9530-9AE8212B0B4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5672" y="533027"/>
            <a:ext cx="3655687" cy="95630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B5BF14-A6EB-4C48-A237-48EB0CADD5DE}"/>
              </a:ext>
            </a:extLst>
          </p:cNvPr>
          <p:cNvCxnSpPr>
            <a:cxnSpLocks/>
          </p:cNvCxnSpPr>
          <p:nvPr userDrawn="1"/>
        </p:nvCxnSpPr>
        <p:spPr>
          <a:xfrm flipH="1">
            <a:off x="9901646" y="0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5728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 with Phot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icture containing building, outdoor, sky, city&#10;&#10;Description automatically generated">
            <a:extLst>
              <a:ext uri="{FF2B5EF4-FFF2-40B4-BE49-F238E27FC236}">
                <a16:creationId xmlns:a16="http://schemas.microsoft.com/office/drawing/2014/main" id="{E2A878F4-D03E-4B25-B3E7-D24416503FA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duotone>
              <a:prstClr val="black"/>
              <a:schemeClr val="accent3">
                <a:tint val="45000"/>
                <a:satMod val="400000"/>
              </a:schemeClr>
            </a:duotone>
            <a:alphaModFix amt="1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-321100"/>
            <a:ext cx="12191999" cy="8127999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C79B39E0-BF53-44AA-98FF-1D1B87B7E713}"/>
              </a:ext>
            </a:extLst>
          </p:cNvPr>
          <p:cNvSpPr/>
          <p:nvPr userDrawn="1"/>
        </p:nvSpPr>
        <p:spPr>
          <a:xfrm>
            <a:off x="9712713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695DCC8-D73C-40D9-A089-189E7E30D752}"/>
              </a:ext>
            </a:extLst>
          </p:cNvPr>
          <p:cNvSpPr/>
          <p:nvPr userDrawn="1"/>
        </p:nvSpPr>
        <p:spPr>
          <a:xfrm rot="10800000">
            <a:off x="7213298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5671" y="3896000"/>
            <a:ext cx="10135871" cy="646331"/>
          </a:xfrm>
        </p:spPr>
        <p:txBody>
          <a:bodyPr anchor="b"/>
          <a:lstStyle>
            <a:lvl1pPr algn="l">
              <a:defRPr sz="4000" b="1" i="0" cap="none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5672" y="4550000"/>
            <a:ext cx="9144000" cy="544444"/>
          </a:xfrm>
        </p:spPr>
        <p:txBody>
          <a:bodyPr lIns="0" rIns="0">
            <a:spAutoFit/>
          </a:bodyPr>
          <a:lstStyle>
            <a:lvl1pPr marL="0" indent="0" algn="l">
              <a:buNone/>
              <a:defRPr sz="26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2"/>
          </p:nvPr>
        </p:nvSpPr>
        <p:spPr>
          <a:xfrm>
            <a:off x="575672" y="5337129"/>
            <a:ext cx="9144000" cy="509691"/>
          </a:xfrm>
        </p:spPr>
        <p:txBody>
          <a:bodyPr lIns="0" rIns="0">
            <a:spAutoFit/>
          </a:bodyPr>
          <a:lstStyle>
            <a:lvl1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1pPr>
            <a:lvl2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2pPr>
            <a:lvl3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3pPr>
            <a:lvl4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4pPr>
            <a:lvl5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FA7F1E24-66DA-4CF5-9530-9AE8212B0B4F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5672" y="533027"/>
            <a:ext cx="3655687" cy="95630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B5BF14-A6EB-4C48-A237-48EB0CADD5DE}"/>
              </a:ext>
            </a:extLst>
          </p:cNvPr>
          <p:cNvCxnSpPr>
            <a:cxnSpLocks/>
          </p:cNvCxnSpPr>
          <p:nvPr userDrawn="1"/>
        </p:nvCxnSpPr>
        <p:spPr>
          <a:xfrm flipH="1">
            <a:off x="9901646" y="0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4710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1604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: Emphasi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3C0B3D4-45AD-49CB-92C9-1CEAD1196E1A}"/>
              </a:ext>
            </a:extLst>
          </p:cNvPr>
          <p:cNvSpPr/>
          <p:nvPr userDrawn="1"/>
        </p:nvSpPr>
        <p:spPr>
          <a:xfrm>
            <a:off x="0" y="6503504"/>
            <a:ext cx="12192000" cy="38473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rgbClr val="002C77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EB8AF9ED-1340-42AE-98EE-2BF152A03156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2280" y="6595711"/>
            <a:ext cx="914688" cy="173098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9A8C50F-BE59-40AD-99BF-D8A00352B948}"/>
              </a:ext>
            </a:extLst>
          </p:cNvPr>
          <p:cNvCxnSpPr>
            <a:cxnSpLocks/>
          </p:cNvCxnSpPr>
          <p:nvPr userDrawn="1"/>
        </p:nvCxnSpPr>
        <p:spPr>
          <a:xfrm flipV="1">
            <a:off x="11592746" y="6552811"/>
            <a:ext cx="97287" cy="213183"/>
          </a:xfrm>
          <a:prstGeom prst="line">
            <a:avLst/>
          </a:prstGeom>
          <a:ln w="25400">
            <a:solidFill>
              <a:srgbClr val="C509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5571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5_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5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42" name="Graphic 41">
            <a:extLst>
              <a:ext uri="{FF2B5EF4-FFF2-40B4-BE49-F238E27FC236}">
                <a16:creationId xmlns:a16="http://schemas.microsoft.com/office/drawing/2014/main" id="{30061091-7521-4125-B5CB-44ACB827FB71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B8F1CD1-1171-4356-9440-0F08548CF601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0139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6_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2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8A4EB83-0CB6-4E8A-BD62-F024F3A15EB7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0345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0_Section Header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  <a:lumMod val="75000"/>
                </a:schemeClr>
              </a:gs>
              <a:gs pos="100000">
                <a:schemeClr val="accent5">
                  <a:lumMod val="75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6">
                  <a:alpha val="0"/>
                </a:schemeClr>
              </a:gs>
              <a:gs pos="100000">
                <a:schemeClr val="accent6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>
            <a:lum bright="-25000"/>
            <a:alphaModFix amt="2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46EAFCF-62A9-448E-A69F-44EB1C0D199B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8020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9_Section Heade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alpha val="3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sp>
        <p:nvSpPr>
          <p:cNvPr id="41" name="Parallelogram 40">
            <a:extLst>
              <a:ext uri="{FF2B5EF4-FFF2-40B4-BE49-F238E27FC236}">
                <a16:creationId xmlns:a16="http://schemas.microsoft.com/office/drawing/2014/main" id="{235462F7-7773-4AC8-8064-DE9AAEC9C875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6">
                  <a:alpha val="0"/>
                </a:schemeClr>
              </a:gs>
              <a:gs pos="100000">
                <a:schemeClr val="accent6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A6B9B6E-B9A8-40A1-A460-0452F1F94C21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1015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1400" b="0"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1400" b="0"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020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189470"/>
            <a:ext cx="3932237" cy="867930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22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824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3172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65125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9437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solidFill>
            <a:schemeClr val="accent1">
              <a:alpha val="85000"/>
            </a:schemeClr>
          </a:solidFill>
        </p:spPr>
        <p:txBody>
          <a:bodyPr lIns="274320" tIns="274320" rIns="274320" bIns="274320"/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37312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976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ooter and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FE500D9-CF53-4920-99CA-9E654F42E876}"/>
              </a:ext>
            </a:extLst>
          </p:cNvPr>
          <p:cNvSpPr/>
          <p:nvPr userDrawn="1"/>
        </p:nvSpPr>
        <p:spPr>
          <a:xfrm>
            <a:off x="139304" y="-180462"/>
            <a:ext cx="4094603" cy="4094603"/>
          </a:xfrm>
          <a:prstGeom prst="ellipse">
            <a:avLst/>
          </a:prstGeom>
          <a:noFill/>
          <a:ln w="1905000">
            <a:gradFill>
              <a:gsLst>
                <a:gs pos="0">
                  <a:schemeClr val="bg1">
                    <a:lumMod val="85000"/>
                    <a:alpha val="0"/>
                  </a:schemeClr>
                </a:gs>
                <a:gs pos="100000">
                  <a:schemeClr val="bg1">
                    <a:lumMod val="85000"/>
                    <a:alpha val="60000"/>
                  </a:schemeClr>
                </a:gs>
              </a:gsLst>
              <a:lin ang="132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12660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ackground Only: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0E5126E1-4A6C-403C-B3E7-5CEEA6593AAE}"/>
              </a:ext>
            </a:extLst>
          </p:cNvPr>
          <p:cNvSpPr/>
          <p:nvPr userDrawn="1"/>
        </p:nvSpPr>
        <p:spPr>
          <a:xfrm>
            <a:off x="-222857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32B7EF76-94A6-4AAA-BD5E-5CF9731D4B1A}"/>
              </a:ext>
            </a:extLst>
          </p:cNvPr>
          <p:cNvSpPr/>
          <p:nvPr userDrawn="1"/>
        </p:nvSpPr>
        <p:spPr>
          <a:xfrm rot="10800000">
            <a:off x="8834814" y="2261903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89440D6-9A55-4787-B579-8FFD0755C6D4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14776" y="3239589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95499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Relationship Id="rId18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26E6B51D-CB0A-4E91-9A6C-433229868862}"/>
              </a:ext>
            </a:extLst>
          </p:cNvPr>
          <p:cNvSpPr/>
          <p:nvPr userDrawn="1"/>
        </p:nvSpPr>
        <p:spPr>
          <a:xfrm rot="10800000">
            <a:off x="8921143" y="2302961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DE33F1FB-D1DC-40E3-8128-01F1050E365D}"/>
              </a:ext>
            </a:extLst>
          </p:cNvPr>
          <p:cNvSpPr/>
          <p:nvPr userDrawn="1"/>
        </p:nvSpPr>
        <p:spPr>
          <a:xfrm rot="10800000">
            <a:off x="9799931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bg1">
                  <a:lumMod val="85000"/>
                  <a:alpha val="0"/>
                </a:schemeClr>
              </a:gs>
              <a:gs pos="100000">
                <a:schemeClr val="bg1">
                  <a:lumMod val="85000"/>
                  <a:alpha val="5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6503504"/>
            <a:ext cx="12192000" cy="38473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rgbClr val="002C77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FDA7CF6-2050-4A6C-BFA8-9DD0EF549C0D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52280" y="6595711"/>
            <a:ext cx="914688" cy="173098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0131"/>
          </a:xfrm>
          <a:prstGeom prst="rect">
            <a:avLst/>
          </a:prstGeom>
        </p:spPr>
        <p:txBody>
          <a:bodyPr vert="horz" lIns="0" tIns="45720" rIns="0" bIns="45720" rtlCol="0" anchor="t" anchorCtr="0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310108"/>
            <a:ext cx="10515600" cy="435133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380258" y="64871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AFAFAF"/>
                </a:solidFill>
              </a:defRPr>
            </a:lvl1pPr>
          </a:lstStyle>
          <a:p>
            <a:r>
              <a:rPr lang="en-US" dirty="0"/>
              <a:t>Name of Initiative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542356" y="6487182"/>
            <a:ext cx="4973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>
                <a:solidFill>
                  <a:srgbClr val="AFAFAF"/>
                </a:solidFill>
              </a:defRPr>
            </a:lvl1pPr>
          </a:lstStyle>
          <a:p>
            <a:fld id="{DD253308-F9C5-4FCB-8415-6DEE77C16A3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DC6A3B2-8B52-4A4F-A948-674C40D12939}"/>
              </a:ext>
            </a:extLst>
          </p:cNvPr>
          <p:cNvCxnSpPr>
            <a:cxnSpLocks/>
          </p:cNvCxnSpPr>
          <p:nvPr userDrawn="1"/>
        </p:nvCxnSpPr>
        <p:spPr>
          <a:xfrm flipV="1">
            <a:off x="11592746" y="6552811"/>
            <a:ext cx="97287" cy="213183"/>
          </a:xfrm>
          <a:prstGeom prst="line">
            <a:avLst/>
          </a:prstGeom>
          <a:ln w="25400">
            <a:solidFill>
              <a:srgbClr val="C509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037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4" r:id="rId2"/>
    <p:sldLayoutId id="2147483650" r:id="rId3"/>
    <p:sldLayoutId id="2147483658" r:id="rId4"/>
    <p:sldLayoutId id="2147483668" r:id="rId5"/>
    <p:sldLayoutId id="2147483669" r:id="rId6"/>
    <p:sldLayoutId id="2147483673" r:id="rId7"/>
    <p:sldLayoutId id="2147483672" r:id="rId8"/>
    <p:sldLayoutId id="2147483653" r:id="rId9"/>
    <p:sldLayoutId id="2147483656" r:id="rId10"/>
    <p:sldLayoutId id="2147483654" r:id="rId11"/>
    <p:sldLayoutId id="2147483662" r:id="rId12"/>
    <p:sldLayoutId id="2147483663" r:id="rId13"/>
    <p:sldLayoutId id="2147483655" r:id="rId14"/>
    <p:sldLayoutId id="2147483659" r:id="rId15"/>
    <p:sldLayoutId id="2147483661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rgbClr val="C5093B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2200" kern="1200">
          <a:solidFill>
            <a:schemeClr val="tx2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0.png"/><Relationship Id="rId3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1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2.png"/><Relationship Id="rId3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6.png"/><Relationship Id="rId3" Type="http://schemas.openxmlformats.org/officeDocument/2006/relationships/image" Target="../media/image24.png"/><Relationship Id="rId4" Type="http://schemas.openxmlformats.org/officeDocument/2006/relationships/image" Target="../media/image2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Relationship Id="rId4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5.png"/><Relationship Id="rId3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7.png"/><Relationship Id="rId3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1F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10607040" y="-457200"/>
            <a:ext cx="2377440" cy="7772400"/>
          </a:xfrm>
          <a:prstGeom prst="parallelogram">
            <a:avLst>
              <a:gd name="adj" fmla="val 55000"/>
            </a:avLst>
          </a:prstGeom>
          <a:solidFill>
            <a:srgbClr val="99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harton_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411480"/>
            <a:ext cx="3108960" cy="8778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2598003"/>
            <a:ext cx="10515600" cy="1661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5400" b="1" i="0" dirty="0">
                <a:solidFill>
                  <a:srgbClr val="FFFFFF"/>
                </a:solidFill>
                <a:latin typeface="Arial"/>
              </a:rPr>
              <a:t>Who Gains More From Sponsorship?</a:t>
            </a:r>
            <a:endParaRPr sz="54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77240" y="45262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Arial"/>
              </a:rPr>
              <a:t>Jose Cervantez  ·  Erika Kirgios  ·  Rosalind Chow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989320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 dirty="0">
                <a:solidFill>
                  <a:srgbClr val="CCD2E0"/>
                </a:solidFill>
                <a:latin typeface="Arial"/>
              </a:rPr>
              <a:t>April 10,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DE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7EE579-ACE7-BF23-19A1-3C427898D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Slide Number Placeholder 3">
            <a:extLst>
              <a:ext uri="{FF2B5EF4-FFF2-40B4-BE49-F238E27FC236}">
                <a16:creationId xmlns:a16="http://schemas.microsoft.com/office/drawing/2014/main" id="{670AA0C5-6E38-4C7E-9F69-E6FF8DE563B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A544AA-9E6C-497E-A204-F04F1600B26F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01" name="Rectangle 200"/>
          <p:cNvSpPr/>
          <p:nvPr/>
        </p:nvSpPr>
        <p:spPr>
          <a:xfrm>
            <a:off x="3584448" y="822960"/>
            <a:ext cx="5029200" cy="566928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2" name="Rectangle 201"/>
          <p:cNvSpPr/>
          <p:nvPr/>
        </p:nvSpPr>
        <p:spPr>
          <a:xfrm>
            <a:off x="3584448" y="822960"/>
            <a:ext cx="502920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GRAYBRIDGE UNIVERSITY  ·  Department of Behavioral Science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877056" y="1426463"/>
            <a:ext cx="4443984" cy="32369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400" b="0" i="0">
                <a:solidFill>
                  <a:srgbClr val="1F1F1F"/>
                </a:solidFill>
                <a:latin typeface="Calibri"/>
              </a:rPr>
              <a:t>I am pleased to recommend Nick Calder for admission to your doctoral program in organizational behavior. In my seminar and as a research assistant, Nick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3877056" y="5193792"/>
            <a:ext cx="416966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5" name="TextBox 204"/>
          <p:cNvSpPr txBox="1"/>
          <p:nvPr/>
        </p:nvSpPr>
        <p:spPr>
          <a:xfrm>
            <a:off x="3877056" y="5303520"/>
            <a:ext cx="444398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011F5B"/>
                </a:solidFill>
                <a:latin typeface="Calibri"/>
              </a:rPr>
              <a:t>Robert Keller</a:t>
            </a:r>
          </a:p>
          <a:p>
            <a:r>
              <a:rPr sz="1050" b="0" i="0">
                <a:solidFill>
                  <a:srgbClr val="4B5563"/>
                </a:solidFill>
                <a:latin typeface="Calibri"/>
              </a:rPr>
              <a:t>Professor, Department of Behavioral Science</a:t>
            </a:r>
          </a:p>
        </p:txBody>
      </p:sp>
    </p:spTree>
    <p:extLst>
      <p:ext uri="{BB962C8B-B14F-4D97-AF65-F5344CB8AC3E}">
        <p14:creationId xmlns:p14="http://schemas.microsoft.com/office/powerpoint/2010/main" val="609301019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84448" y="822960"/>
            <a:ext cx="5029200" cy="566928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3584448" y="822960"/>
            <a:ext cx="502920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GRAYBRIDGE UNIVERSITY  ·  Department of Behavioral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77056" y="1426463"/>
            <a:ext cx="4443984" cy="32369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400" b="0" i="0">
                <a:solidFill>
                  <a:srgbClr val="1F1F1F"/>
                </a:solidFill>
                <a:latin typeface="Calibri"/>
              </a:rPr>
              <a:t>I am pleased to recommend Nick Calder for admission to your doctoral program in organizational behavior. In my seminar and as a research assistant, Nick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5" name="Rectangle 4"/>
          <p:cNvSpPr/>
          <p:nvPr/>
        </p:nvSpPr>
        <p:spPr>
          <a:xfrm>
            <a:off x="3877056" y="5193792"/>
            <a:ext cx="416966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895344" y="5522976"/>
            <a:ext cx="1463040" cy="274320"/>
          </a:xfrm>
          <a:prstGeom prst="rect">
            <a:avLst/>
          </a:prstGeom>
          <a:solidFill>
            <a:srgbClr val="FCE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877056" y="5303520"/>
            <a:ext cx="444398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011F5B"/>
                </a:solidFill>
                <a:latin typeface="Calibri"/>
              </a:rPr>
              <a:t>Susan Keller</a:t>
            </a:r>
          </a:p>
          <a:p>
            <a:r>
              <a:rPr sz="1050" b="0" i="0">
                <a:solidFill>
                  <a:srgbClr val="4B5563"/>
                </a:solidFill>
                <a:latin typeface="Calibri"/>
              </a:rPr>
              <a:t>Professor, Department of Behavioral Science</a:t>
            </a:r>
          </a:p>
        </p:txBody>
      </p:sp>
      <p:sp>
        <p:nvSpPr>
          <p:cNvPr id="500" name="Slide Number Placeholder 3">
            <a:extLst>
              <a:ext uri="{FF2B5EF4-FFF2-40B4-BE49-F238E27FC236}">
                <a16:creationId xmlns:a16="http://schemas.microsoft.com/office/drawing/2014/main" id="{6476980E-6401-4B26-BBFB-DE841CAD000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05814CA-C4EE-4B6F-9028-7E9841FBD364}" type="slidenum">
              <a:rPr lang="en-US" smtClean="0"/>
              <a:pPr/>
              <a:t>2</a:t>
            </a:fld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429768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429768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GRAYBRIDGE UNIVERSITY  ·  Department of Behavioral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106424"/>
            <a:ext cx="3712464" cy="264261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Calibri"/>
              </a:rPr>
              <a:t>I am pleased to recommend Nick Calder for admission to your doctoral program in organizational behavior. In my seminar and as a research assistant, Nick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4279392"/>
            <a:ext cx="343814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95528" y="4389120"/>
            <a:ext cx="371246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011F5B"/>
                </a:solidFill>
                <a:latin typeface="Calibri"/>
              </a:rPr>
              <a:t>Robert Keller</a:t>
            </a:r>
          </a:p>
          <a:p>
            <a:r>
              <a:rPr sz="1050" b="0" i="0">
                <a:solidFill>
                  <a:srgbClr val="4B5563"/>
                </a:solidFill>
                <a:latin typeface="Calibri"/>
              </a:rPr>
              <a:t>Professor, Department of Behavioral Science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88352" y="502920"/>
            <a:ext cx="429768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388352" y="502920"/>
            <a:ext cx="429768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GRAYBRIDGE UNIVERSITY  ·  Department of Behavioral Science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1106424"/>
            <a:ext cx="3712464" cy="264261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Calibri"/>
              </a:rPr>
              <a:t>I am pleased to recommend Jose Cervantez for admission to your doctoral program in organizational behavior. In my seminar and as a research assistant, Jose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4279392"/>
            <a:ext cx="343814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80960" y="4389120"/>
            <a:ext cx="371246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011F5B"/>
                </a:solidFill>
                <a:latin typeface="Calibri"/>
              </a:rPr>
              <a:t>Robert Keller</a:t>
            </a:r>
          </a:p>
          <a:p>
            <a:r>
              <a:rPr sz="1050" b="0" i="0">
                <a:solidFill>
                  <a:srgbClr val="4B5563"/>
                </a:solidFill>
                <a:latin typeface="Calibri"/>
              </a:rPr>
              <a:t>Professor, Department of Behavioral Science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760720"/>
            <a:ext cx="10698480" cy="548640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/>
          <a:lstStyle/>
          <a:p>
            <a:pPr algn="ctr"/>
            <a:r>
              <a:rPr sz="2200" b="1" i="0">
                <a:solidFill>
                  <a:srgbClr val="011F5B"/>
                </a:solidFill>
                <a:latin typeface="Calibri"/>
              </a:rPr>
              <a:t>How do you read the new letter after one successful outcome?</a:t>
            </a:r>
          </a:p>
        </p:txBody>
      </p:sp>
      <p:sp>
        <p:nvSpPr>
          <p:cNvPr id="501" name="Slide Number Placeholder 3">
            <a:extLst>
              <a:ext uri="{FF2B5EF4-FFF2-40B4-BE49-F238E27FC236}">
                <a16:creationId xmlns:a16="http://schemas.microsoft.com/office/drawing/2014/main" id="{E3A33801-F2DB-488D-9785-2E371B473C9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573119C-1C34-4B02-80D5-42D3C11E0018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02" name="Rounded Rectangle 501"/>
          <p:cNvSpPr/>
          <p:nvPr/>
        </p:nvSpPr>
        <p:spPr>
          <a:xfrm>
            <a:off x="1965960" y="914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1</a:t>
            </a:r>
          </a:p>
        </p:txBody>
      </p:sp>
      <p:sp>
        <p:nvSpPr>
          <p:cNvPr id="503" name="Rounded Rectangle 502"/>
          <p:cNvSpPr/>
          <p:nvPr/>
        </p:nvSpPr>
        <p:spPr>
          <a:xfrm>
            <a:off x="8851392" y="914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2</a:t>
            </a:r>
          </a:p>
        </p:txBody>
      </p:sp>
      <p:sp>
        <p:nvSpPr>
          <p:cNvPr id="504" name="TextBox 503"/>
          <p:cNvSpPr txBox="1"/>
          <p:nvPr/>
        </p:nvSpPr>
        <p:spPr>
          <a:xfrm>
            <a:off x="5001768" y="1993392"/>
            <a:ext cx="2157984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1100" b="1" i="0">
                <a:solidFill>
                  <a:srgbClr val="011F5B"/>
                </a:solidFill>
                <a:latin typeface="Calibri"/>
              </a:rPr>
              <a:t>ONE YEAR LATER</a:t>
            </a:r>
          </a:p>
        </p:txBody>
      </p:sp>
      <p:sp>
        <p:nvSpPr>
          <p:cNvPr id="505" name="Right Arrow 504"/>
          <p:cNvSpPr/>
          <p:nvPr/>
        </p:nvSpPr>
        <p:spPr>
          <a:xfrm>
            <a:off x="5138928" y="2331720"/>
            <a:ext cx="1883664" cy="713232"/>
          </a:xfrm>
          <a:prstGeom prst="rightArrow">
            <a:avLst/>
          </a:prstGeom>
          <a:solidFill>
            <a:srgbClr val="EAF0FB"/>
          </a:solidFill>
          <a:ln w="22225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6" name="Rounded Rectangle 505"/>
          <p:cNvSpPr/>
          <p:nvPr/>
        </p:nvSpPr>
        <p:spPr>
          <a:xfrm>
            <a:off x="5138928" y="3246120"/>
            <a:ext cx="1883664" cy="457200"/>
          </a:xfrm>
          <a:prstGeom prst="roundRect">
            <a:avLst>
              <a:gd name="adj" fmla="val 50000"/>
            </a:avLst>
          </a:prstGeom>
          <a:solidFill>
            <a:srgbClr val="DF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 i="0">
                <a:solidFill>
                  <a:srgbClr val="116B45"/>
                </a:solidFill>
                <a:latin typeface="Calibri"/>
              </a:rPr>
              <a:t>SUCCEEDED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429768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429768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GRAYBRIDGE UNIVERSITY  ·  Department of Behavioral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106424"/>
            <a:ext cx="3712464" cy="264261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Calibri"/>
              </a:rPr>
              <a:t>I am pleased to recommend Nick Calder for admission to your doctoral program in organizational behavior. In my seminar and as a research assistant, Nick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4279392"/>
            <a:ext cx="343814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813816" y="4608576"/>
            <a:ext cx="1463040" cy="274320"/>
          </a:xfrm>
          <a:prstGeom prst="rect">
            <a:avLst/>
          </a:prstGeom>
          <a:solidFill>
            <a:srgbClr val="FCE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" y="4389120"/>
            <a:ext cx="371246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011F5B"/>
                </a:solidFill>
                <a:latin typeface="Calibri"/>
              </a:rPr>
              <a:t>Susan Keller</a:t>
            </a:r>
          </a:p>
          <a:p>
            <a:r>
              <a:rPr sz="1050" b="0" i="0">
                <a:solidFill>
                  <a:srgbClr val="4B5563"/>
                </a:solidFill>
                <a:latin typeface="Calibri"/>
              </a:rPr>
              <a:t>Professor, Department of Behavioral Science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7388352" y="502920"/>
            <a:ext cx="429768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388352" y="502920"/>
            <a:ext cx="429768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GRAYBRIDGE UNIVERSITY  ·  Department of Behavioral Science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1106424"/>
            <a:ext cx="3712464" cy="264261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Calibri"/>
              </a:rPr>
              <a:t>I am pleased to recommend Jose Cervantez for admission to your doctoral program in organizational behavior. In my seminar and as a research assistant, Jose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4279392"/>
            <a:ext cx="343814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699248" y="4608576"/>
            <a:ext cx="1463040" cy="274320"/>
          </a:xfrm>
          <a:prstGeom prst="rect">
            <a:avLst/>
          </a:prstGeom>
          <a:solidFill>
            <a:srgbClr val="FCE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680960" y="4389120"/>
            <a:ext cx="371246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011F5B"/>
                </a:solidFill>
                <a:latin typeface="Calibri"/>
              </a:rPr>
              <a:t>Susan Keller</a:t>
            </a:r>
          </a:p>
          <a:p>
            <a:r>
              <a:rPr sz="1050" b="0" i="0">
                <a:solidFill>
                  <a:srgbClr val="4B5563"/>
                </a:solidFill>
                <a:latin typeface="Calibri"/>
              </a:rPr>
              <a:t>Professor, Department of Behavioral Science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760720"/>
            <a:ext cx="10698480" cy="548640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/>
          <a:lstStyle/>
          <a:p>
            <a:pPr algn="ctr"/>
            <a:r>
              <a:rPr sz="2200" b="1" i="0">
                <a:solidFill>
                  <a:srgbClr val="011F5B"/>
                </a:solidFill>
                <a:latin typeface="Calibri"/>
              </a:rPr>
              <a:t>Does one success buy Susan the same credibility it bought Robert?</a:t>
            </a:r>
          </a:p>
        </p:txBody>
      </p:sp>
      <p:sp>
        <p:nvSpPr>
          <p:cNvPr id="502" name="Slide Number Placeholder 3">
            <a:extLst>
              <a:ext uri="{FF2B5EF4-FFF2-40B4-BE49-F238E27FC236}">
                <a16:creationId xmlns:a16="http://schemas.microsoft.com/office/drawing/2014/main" id="{9910DD83-63EE-4A67-94DD-9BC741E19C9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3BF3DC2-65B4-4B9A-9DF9-09CC026D010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03" name="Rounded Rectangle 502"/>
          <p:cNvSpPr/>
          <p:nvPr/>
        </p:nvSpPr>
        <p:spPr>
          <a:xfrm>
            <a:off x="1965960" y="914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1</a:t>
            </a:r>
          </a:p>
        </p:txBody>
      </p:sp>
      <p:sp>
        <p:nvSpPr>
          <p:cNvPr id="504" name="Rounded Rectangle 503"/>
          <p:cNvSpPr/>
          <p:nvPr/>
        </p:nvSpPr>
        <p:spPr>
          <a:xfrm>
            <a:off x="8851392" y="914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2</a:t>
            </a:r>
          </a:p>
        </p:txBody>
      </p:sp>
      <p:sp>
        <p:nvSpPr>
          <p:cNvPr id="505" name="TextBox 504"/>
          <p:cNvSpPr txBox="1"/>
          <p:nvPr/>
        </p:nvSpPr>
        <p:spPr>
          <a:xfrm>
            <a:off x="5001768" y="1993392"/>
            <a:ext cx="2157984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1100" b="1" i="0">
                <a:solidFill>
                  <a:srgbClr val="011F5B"/>
                </a:solidFill>
                <a:latin typeface="Calibri"/>
              </a:rPr>
              <a:t>ONE YEAR LATER</a:t>
            </a:r>
          </a:p>
        </p:txBody>
      </p:sp>
      <p:sp>
        <p:nvSpPr>
          <p:cNvPr id="506" name="Right Arrow 505"/>
          <p:cNvSpPr/>
          <p:nvPr/>
        </p:nvSpPr>
        <p:spPr>
          <a:xfrm>
            <a:off x="5138928" y="2331720"/>
            <a:ext cx="1883664" cy="713232"/>
          </a:xfrm>
          <a:prstGeom prst="rightArrow">
            <a:avLst/>
          </a:prstGeom>
          <a:solidFill>
            <a:srgbClr val="EAF0FB"/>
          </a:solidFill>
          <a:ln w="22225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7" name="Rounded Rectangle 506"/>
          <p:cNvSpPr/>
          <p:nvPr/>
        </p:nvSpPr>
        <p:spPr>
          <a:xfrm>
            <a:off x="5138928" y="3246120"/>
            <a:ext cx="1883664" cy="457200"/>
          </a:xfrm>
          <a:prstGeom prst="roundRect">
            <a:avLst>
              <a:gd name="adj" fmla="val 50000"/>
            </a:avLst>
          </a:prstGeom>
          <a:solidFill>
            <a:srgbClr val="DF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 i="0">
                <a:solidFill>
                  <a:srgbClr val="116B45"/>
                </a:solidFill>
                <a:latin typeface="Calibri"/>
              </a:rPr>
              <a:t>SUCCEEDED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11F5B"/>
                </a:solidFill>
                <a:latin typeface="Arial"/>
              </a:rPr>
              <a:t>What is sponsorship?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471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 dirty="0">
                <a:solidFill>
                  <a:srgbClr val="111827"/>
                </a:solidFill>
                <a:latin typeface="Arial"/>
              </a:rPr>
              <a:t>Sponsorship is support provided to influence other people's perceptions of a protégé's skills, abilities, performance, and potential — with the intention of helping the protégé in their career.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91835"/>
            <a:ext cx="10972800" cy="2354491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0" dirty="0">
                <a:solidFill>
                  <a:srgbClr val="111827"/>
                </a:solidFill>
                <a:latin typeface="Arial"/>
              </a:rPr>
              <a:t>•  Public advocacy and recommendations</a:t>
            </a:r>
          </a:p>
          <a:p>
            <a:pPr algn="l">
              <a:spcAft>
                <a:spcPts val="1400"/>
              </a:spcAft>
            </a:pPr>
            <a:r>
              <a:rPr sz="2200" b="0" dirty="0">
                <a:solidFill>
                  <a:srgbClr val="111827"/>
                </a:solidFill>
                <a:latin typeface="Arial"/>
              </a:rPr>
              <a:t>•  Endorsements to colleagues, clients, hiring committees</a:t>
            </a:r>
          </a:p>
          <a:p>
            <a:pPr algn="l">
              <a:spcAft>
                <a:spcPts val="1400"/>
              </a:spcAft>
            </a:pPr>
            <a:r>
              <a:rPr sz="2200" b="0" dirty="0">
                <a:solidFill>
                  <a:srgbClr val="111827"/>
                </a:solidFill>
                <a:latin typeface="Arial"/>
              </a:rPr>
              <a:t>•  Introductions to high-status others</a:t>
            </a:r>
          </a:p>
          <a:p>
            <a:pPr algn="l">
              <a:spcAft>
                <a:spcPts val="1400"/>
              </a:spcAft>
            </a:pPr>
            <a:r>
              <a:rPr sz="2200" b="0" dirty="0">
                <a:solidFill>
                  <a:srgbClr val="111827"/>
                </a:solidFill>
                <a:latin typeface="Arial"/>
              </a:rPr>
              <a:t>•  Vouching for skill, judgment, or fit</a:t>
            </a:r>
          </a:p>
        </p:txBody>
      </p:sp>
      <p:sp>
        <p:nvSpPr>
          <p:cNvPr id="201" name="Slide Number Placeholder 3">
            <a:extLst>
              <a:ext uri="{FF2B5EF4-FFF2-40B4-BE49-F238E27FC236}">
                <a16:creationId xmlns:a16="http://schemas.microsoft.com/office/drawing/2014/main" id="{2C1F1100-0B2F-4478-B42E-3A03F4C6745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2DED1AB-DF22-4DD2-A92E-4371DE267C73}" type="slidenum">
              <a:rPr lang="en-US" smtClean="0"/>
              <a:pPr/>
              <a:t>3</a:t>
            </a:fld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11F5B"/>
                </a:solidFill>
                <a:latin typeface="Arial"/>
              </a:rPr>
              <a:t>Sponsorship involves real risk for sponsors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6B7280"/>
                </a:solidFill>
                <a:latin typeface="Arial"/>
              </a:rPr>
              <a:t>When a sponsor stakes their reputation on a protégé: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2148840"/>
            <a:ext cx="5212080" cy="3337560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200"/>
              </a:spcAft>
            </a:pPr>
            <a:r>
              <a:rPr sz="2200" b="1" i="0" dirty="0">
                <a:solidFill>
                  <a:srgbClr val="011F5B"/>
                </a:solidFill>
                <a:latin typeface="Arial"/>
              </a:rPr>
              <a:t>When the protégé succeeds</a:t>
            </a:r>
          </a:p>
          <a:p>
            <a:pPr algn="l"/>
            <a:r>
              <a:rPr sz="600" b="0" i="0" dirty="0">
                <a:solidFill>
                  <a:srgbClr val="111827"/>
                </a:solidFill>
                <a:latin typeface="Arial"/>
              </a:rPr>
              <a:t> 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Sponsor gains credibility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Reputation lifts with the protégé</a:t>
            </a:r>
          </a:p>
          <a:p>
            <a:pPr algn="ctr"/>
            <a:r>
              <a:rPr sz="1800" b="0" i="0" dirty="0">
                <a:solidFill>
                  <a:srgbClr val="111827"/>
                </a:solidFill>
                <a:latin typeface="Arial"/>
              </a:rPr>
              <a:t>→  Network ties strengthen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2148840"/>
            <a:ext cx="5212080" cy="3337560"/>
          </a:xfrm>
          <a:prstGeom prst="roundRect">
            <a:avLst/>
          </a:prstGeom>
          <a:solidFill>
            <a:srgbClr val="FDE2E2"/>
          </a:solidFill>
          <a:ln w="19050">
            <a:solidFill>
              <a:srgbClr val="9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200"/>
              </a:spcAft>
            </a:pPr>
            <a:r>
              <a:rPr sz="2200" b="1" i="0" dirty="0">
                <a:solidFill>
                  <a:srgbClr val="990000"/>
                </a:solidFill>
                <a:latin typeface="Arial"/>
              </a:rPr>
              <a:t>When the protégé fails</a:t>
            </a:r>
          </a:p>
          <a:p>
            <a:pPr algn="l"/>
            <a:r>
              <a:rPr sz="600" b="0" i="0" dirty="0">
                <a:solidFill>
                  <a:srgbClr val="111827"/>
                </a:solidFill>
                <a:latin typeface="Arial"/>
              </a:rPr>
              <a:t> 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Sponsor loses credibility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Future endorsements are discounted</a:t>
            </a:r>
          </a:p>
          <a:p>
            <a:pPr algn="ctr"/>
            <a:r>
              <a:rPr sz="1800" b="0" i="0" dirty="0">
                <a:solidFill>
                  <a:srgbClr val="111827"/>
                </a:solidFill>
                <a:latin typeface="Arial"/>
              </a:rPr>
              <a:t>→  Network ties may weaken</a:t>
            </a:r>
          </a:p>
        </p:txBody>
      </p:sp>
      <p:sp>
        <p:nvSpPr>
          <p:cNvPr id="202" name="Slide Number Placeholder 3">
            <a:extLst>
              <a:ext uri="{FF2B5EF4-FFF2-40B4-BE49-F238E27FC236}">
                <a16:creationId xmlns:a16="http://schemas.microsoft.com/office/drawing/2014/main" id="{C0B996CF-7452-49BF-B277-569111839C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98D3A34-E81C-4A59-A5A3-AC6F3B05CDAF}" type="slidenum">
              <a:rPr lang="en-US" smtClean="0"/>
              <a:pPr/>
              <a:t>4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Research questions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01168" rIns="182880" bIns="164592" rtlCol="0" anchor="ctr"/>
          <a:lstStyle/>
          <a:p>
            <a:r>
              <a:rPr sz="2200" b="1" dirty="0">
                <a:solidFill>
                  <a:srgbClr val="990000"/>
                </a:solidFill>
                <a:latin typeface="Arial"/>
              </a:rPr>
              <a:t>RQ1    </a:t>
            </a:r>
            <a:r>
              <a:rPr lang="en-US" sz="2200" b="1" dirty="0">
                <a:solidFill>
                  <a:srgbClr val="011F5B"/>
                </a:solidFill>
              </a:rPr>
              <a:t>Are male and female sponsors trusted equally before any outcome is observed?</a:t>
            </a:r>
            <a:endParaRPr sz="2200" b="1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02920" y="29718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01168" rIns="182880" bIns="164592" rtlCol="0" anchor="ctr"/>
          <a:lstStyle/>
          <a:p>
            <a:r>
              <a:rPr sz="2200" b="1" dirty="0">
                <a:solidFill>
                  <a:srgbClr val="990000"/>
                </a:solidFill>
                <a:latin typeface="Arial"/>
              </a:rPr>
              <a:t>RQ2    </a:t>
            </a:r>
            <a:r>
              <a:rPr lang="en-US" sz="2200" b="1" dirty="0">
                <a:solidFill>
                  <a:srgbClr val="011F5B"/>
                </a:solidFill>
                <a:latin typeface="Arial"/>
              </a:rPr>
              <a:t>When a sponsor’s protégé succeeds or fails, does the sponsor’s gender shape how audiences react?</a:t>
            </a:r>
            <a:endParaRPr sz="2200" b="1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45720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01168" rIns="182880" bIns="164592" rtlCol="0" anchor="ctr"/>
          <a:lstStyle/>
          <a:p>
            <a:r>
              <a:rPr sz="2200" b="1" dirty="0">
                <a:solidFill>
                  <a:srgbClr val="990000"/>
                </a:solidFill>
                <a:latin typeface="Arial"/>
              </a:rPr>
              <a:t>RQ3    </a:t>
            </a:r>
            <a:r>
              <a:rPr lang="en-US" sz="2200" b="1" dirty="0">
                <a:solidFill>
                  <a:srgbClr val="011F5B"/>
                </a:solidFill>
                <a:latin typeface="Arial"/>
              </a:rPr>
              <a:t>Does it matter how confident the sponsor was when they made the endorsement?</a:t>
            </a:r>
          </a:p>
        </p:txBody>
      </p:sp>
      <p:sp>
        <p:nvSpPr>
          <p:cNvPr id="203" name="Slide Number Placeholder 3">
            <a:extLst>
              <a:ext uri="{FF2B5EF4-FFF2-40B4-BE49-F238E27FC236}">
                <a16:creationId xmlns:a16="http://schemas.microsoft.com/office/drawing/2014/main" id="{CB360B25-41EB-4CDC-B611-783C980A8F4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DB4104-3864-4371-B521-4C5BCF497C05}" type="slidenum">
              <a:rPr lang="en-US" smtClean="0"/>
              <a:pPr/>
              <a:t>5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lide Number Placeholder 3">
            <a:extLst>
              <a:ext uri="{FF2B5EF4-FFF2-40B4-BE49-F238E27FC236}">
                <a16:creationId xmlns:a16="http://schemas.microsoft.com/office/drawing/2014/main" id="{E0E0B616-1893-4626-88F5-27D4B80A421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8081EF9-35BA-4027-9F53-F6823E72E25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205" name="TextBox 204"/>
          <p:cNvSpPr txBox="1"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Three-stage lab experiment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384047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E5EAF3"/>
          </a:solidFill>
          <a:ln w="444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7" name="TextBox 206"/>
          <p:cNvSpPr txBox="1"/>
          <p:nvPr/>
        </p:nvSpPr>
        <p:spPr>
          <a:xfrm>
            <a:off x="612647" y="1691640"/>
            <a:ext cx="315468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612647" y="2468880"/>
            <a:ext cx="31546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2200" b="1" i="0">
                <a:solidFill>
                  <a:srgbClr val="00143D"/>
                </a:solidFill>
                <a:latin typeface="Calibri"/>
              </a:rPr>
              <a:t>Protégé performance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612647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Real participants take three performance tasks (Barron et al., 2025). We use the posted scores to build candidate profiles.</a:t>
            </a:r>
          </a:p>
        </p:txBody>
      </p:sp>
      <p:sp>
        <p:nvSpPr>
          <p:cNvPr id="210" name="Rounded Rectangle 209"/>
          <p:cNvSpPr/>
          <p:nvPr/>
        </p:nvSpPr>
        <p:spPr>
          <a:xfrm>
            <a:off x="4288536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1" name="TextBox 210"/>
          <p:cNvSpPr txBox="1"/>
          <p:nvPr/>
        </p:nvSpPr>
        <p:spPr>
          <a:xfrm>
            <a:off x="4517136" y="1691640"/>
            <a:ext cx="315468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2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4517136" y="2468880"/>
            <a:ext cx="31546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Sponsor endorsements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517136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Real sponsors view candidate pairs and rate which one will perform better, and how confident they are.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8193024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5" name="TextBox 214"/>
          <p:cNvSpPr txBox="1"/>
          <p:nvPr/>
        </p:nvSpPr>
        <p:spPr>
          <a:xfrm>
            <a:off x="8421624" y="1691640"/>
            <a:ext cx="315468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3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8421624" y="2468880"/>
            <a:ext cx="31546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Audience evaluation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8421624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Evaluators bet on a sponsor's endorsement, see the outcome, then bet on a second endorsement from the same sponsor.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Stage 1:  Where do the candidates come from?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8574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 dirty="0">
                <a:solidFill>
                  <a:srgbClr val="6B7280"/>
                </a:solidFill>
                <a:latin typeface="Arial"/>
              </a:rPr>
              <a:t>Real participants completed three professional-ability tasks (Barron et al., 2025).</a:t>
            </a:r>
          </a:p>
        </p:txBody>
      </p:sp>
      <p:pic>
        <p:nvPicPr>
          <p:cNvPr id="4" name="Picture 3" descr="stage1_tasks_crop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891" y="1192894"/>
            <a:ext cx="8107266" cy="4729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17220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1">
                <a:solidFill>
                  <a:srgbClr val="6B7280"/>
                </a:solidFill>
                <a:latin typeface="Arial"/>
              </a:rPr>
              <a:t>Word search  ·  General-knowledge quiz  ·  Logical-reasoning (Raven's matrices)</a:t>
            </a:r>
          </a:p>
        </p:txBody>
      </p:sp>
      <p:sp>
        <p:nvSpPr>
          <p:cNvPr id="205" name="Slide Number Placeholder 3">
            <a:extLst>
              <a:ext uri="{FF2B5EF4-FFF2-40B4-BE49-F238E27FC236}">
                <a16:creationId xmlns:a16="http://schemas.microsoft.com/office/drawing/2014/main" id="{E5E9CEA3-2FB5-40FF-8728-CB6B8DBBAF2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1B557A-551B-4BDC-AF29-067248B3603B}" type="slidenum">
              <a:rPr lang="en-US" smtClean="0"/>
              <a:pPr/>
              <a:t>7</a:t>
            </a:fld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Three-stage lab experiment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84047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2647" y="1691640"/>
            <a:ext cx="315468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7" y="2468880"/>
            <a:ext cx="31546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Protégé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7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Real participants take three performance tasks (Barron et al., 2025). We use the posted scores to build candidate profiles.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8536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E5EAF3"/>
          </a:solidFill>
          <a:ln w="444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17136" y="1691640"/>
            <a:ext cx="315468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2468880"/>
            <a:ext cx="31546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2200" b="1" i="0">
                <a:solidFill>
                  <a:srgbClr val="00143D"/>
                </a:solidFill>
                <a:latin typeface="Calibri"/>
              </a:rPr>
              <a:t>Sponsor endorsements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Real sponsors view candidate pairs and rate which one will perform better, and how confident they 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93024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421624" y="1691640"/>
            <a:ext cx="315468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1624" y="2468880"/>
            <a:ext cx="31546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Audience evaluation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1624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Evaluators bet on a sponsor's endorsement, see the outcome, then bet on a second endorsement from the same sponsor.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Stage 2:  Real sponsors made real endorsements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74519"/>
            <a:ext cx="4572000" cy="2451953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 dirty="0">
                <a:solidFill>
                  <a:srgbClr val="111827"/>
                </a:solidFill>
                <a:latin typeface="Arial"/>
              </a:rPr>
              <a:t>•  Real sponsors  →  real endorsements</a:t>
            </a:r>
          </a:p>
          <a:p>
            <a:pPr algn="l">
              <a:spcAft>
                <a:spcPts val="1000"/>
              </a:spcAft>
            </a:pPr>
            <a:r>
              <a:rPr sz="1800" b="0" dirty="0">
                <a:solidFill>
                  <a:srgbClr val="111827"/>
                </a:solidFill>
                <a:latin typeface="Arial"/>
              </a:rPr>
              <a:t>•  Each sponsor sees 10 candidate pairs and makes 10 endorsements</a:t>
            </a:r>
          </a:p>
          <a:p>
            <a:pPr algn="l">
              <a:spcAft>
                <a:spcPts val="1000"/>
              </a:spcAft>
            </a:pPr>
            <a:r>
              <a:rPr sz="1800" b="0" dirty="0">
                <a:solidFill>
                  <a:srgbClr val="111827"/>
                </a:solidFill>
                <a:latin typeface="Arial"/>
              </a:rPr>
              <a:t>•  Sponsor moves a slider to express which candidate they favor and how confident they are</a:t>
            </a:r>
          </a:p>
          <a:p>
            <a:pPr algn="l">
              <a:spcAft>
                <a:spcPts val="1000"/>
              </a:spcAft>
            </a:pPr>
            <a:r>
              <a:rPr sz="1800" b="0" dirty="0">
                <a:solidFill>
                  <a:srgbClr val="111827"/>
                </a:solidFill>
                <a:latin typeface="Arial"/>
              </a:rPr>
              <a:t>•  Their sliders become the endorsements that Stage 3 evaluators see</a:t>
            </a:r>
          </a:p>
          <a:p>
            <a:pPr algn="l">
              <a:spcAft>
                <a:spcPts val="1000"/>
              </a:spcAft>
            </a:pPr>
            <a:r>
              <a:rPr sz="1800" b="0" dirty="0">
                <a:solidFill>
                  <a:srgbClr val="111827"/>
                </a:solidFill>
                <a:latin typeface="Arial"/>
              </a:rPr>
              <a:t>•  We sample sponsors across gender to populate every Stage 3 cell</a:t>
            </a:r>
          </a:p>
        </p:txBody>
      </p:sp>
      <p:pic>
        <p:nvPicPr>
          <p:cNvPr id="5" name="Picture 4" descr="stage2_candidate_screen.png"/>
          <p:cNvPicPr>
            <a:picLocks noChangeAspect="1"/>
          </p:cNvPicPr>
          <p:nvPr/>
        </p:nvPicPr>
        <p:blipFill>
          <a:blip r:embed="rId3"/>
          <a:srcRect r="14676"/>
          <a:stretch>
            <a:fillRect/>
          </a:stretch>
        </p:blipFill>
        <p:spPr>
          <a:xfrm>
            <a:off x="5253825" y="1600200"/>
            <a:ext cx="6355079" cy="4580644"/>
          </a:xfrm>
          <a:prstGeom prst="rect">
            <a:avLst/>
          </a:prstGeom>
        </p:spPr>
      </p:pic>
      <p:sp>
        <p:nvSpPr>
          <p:cNvPr id="206" name="Slide Number Placeholder 3">
            <a:extLst>
              <a:ext uri="{FF2B5EF4-FFF2-40B4-BE49-F238E27FC236}">
                <a16:creationId xmlns:a16="http://schemas.microsoft.com/office/drawing/2014/main" id="{E2A5B9A1-29AB-40F9-A389-D33CD2E213E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F3E4F3A-6ECD-44AC-A881-BAD41C4B2FB0}" type="slidenum">
              <a:rPr lang="en-US" smtClean="0"/>
              <a:pPr/>
              <a:t>8</a:t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01CA0-C5D3-9BC4-6332-059F6F430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022A51-5408-42C4-EE93-20EF028FC3F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97251FF-702D-43A2-BD18-2BFA157F6458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2 incentive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11155680" cy="5029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600" b="0" i="0">
                <a:solidFill>
                  <a:srgbClr val="1F2937"/>
                </a:solidFill>
                <a:latin typeface="Calibri"/>
              </a:rPr>
              <a:t>Each endorsement could earn the sponsor up to </a:t>
            </a:r>
            <a:r>
              <a:rPr sz="2600" b="1" i="0">
                <a:solidFill>
                  <a:srgbClr val="00143D"/>
                </a:solidFill>
                <a:latin typeface="Calibri"/>
              </a:rPr>
              <a:t>$3.00.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27632"/>
            <a:ext cx="1115568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500" b="0" i="1">
                <a:solidFill>
                  <a:srgbClr val="5B657A"/>
                </a:solidFill>
                <a:latin typeface="Calibri"/>
              </a:rPr>
              <a:t>The amount depends on how confidently a downstream evaluator wagers on it — and only if the endorsed candidate truly scored higher.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04288"/>
            <a:ext cx="5349240" cy="841248"/>
          </a:xfrm>
          <a:prstGeom prst="rect">
            <a:avLst/>
          </a:prstGeom>
          <a:solidFill>
            <a:srgbClr val="FFFFFF"/>
          </a:solidFill>
          <a:ln w="25400">
            <a:solidFill>
              <a:srgbClr val="106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If </a:t>
            </a:r>
            <a:r>
              <a:rPr sz="2100" b="1" i="0">
                <a:solidFill>
                  <a:srgbClr val="106B45"/>
                </a:solidFill>
                <a:latin typeface="Calibri"/>
              </a:rPr>
              <a:t>right 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→  $3 × evaluator's wager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59" y="2304288"/>
            <a:ext cx="5349240" cy="841248"/>
          </a:xfrm>
          <a:prstGeom prst="rect">
            <a:avLst/>
          </a:prstGeom>
          <a:solidFill>
            <a:srgbClr val="FFFFFF"/>
          </a:solidFill>
          <a:ln w="25400">
            <a:solidFill>
              <a:srgbClr val="B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If </a:t>
            </a:r>
            <a:r>
              <a:rPr sz="2100" b="1" i="0">
                <a:solidFill>
                  <a:srgbClr val="B12121"/>
                </a:solidFill>
                <a:latin typeface="Calibri"/>
              </a:rPr>
              <a:t>wrong 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→  nothing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54680"/>
            <a:ext cx="1115568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300" b="0" i="1">
                <a:solidFill>
                  <a:srgbClr val="5B657A"/>
                </a:solidFill>
                <a:latin typeface="Calibri"/>
              </a:rPr>
              <a:t>evaluator wagers 50%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3520440"/>
            <a:ext cx="5788152" cy="201168"/>
          </a:xfrm>
          <a:prstGeom prst="rect">
            <a:avLst/>
          </a:prstGeom>
          <a:solidFill>
            <a:srgbClr val="EAF0FB"/>
          </a:solidFill>
          <a:ln w="9525">
            <a:solidFill>
              <a:srgbClr val="9AA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200400" y="3520440"/>
            <a:ext cx="2894076" cy="201168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5902452" y="3429000"/>
            <a:ext cx="384048" cy="38404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514600" y="3813048"/>
            <a:ext cx="64008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1200" b="0" i="0">
                <a:solidFill>
                  <a:srgbClr val="5B657A"/>
                </a:solidFill>
                <a:latin typeface="Calibri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4272" y="3813048"/>
            <a:ext cx="7315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200" b="0" i="0">
                <a:solidFill>
                  <a:srgbClr val="5B657A"/>
                </a:solidFill>
                <a:latin typeface="Calibr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160520"/>
            <a:ext cx="5349240" cy="7772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3200" b="1" i="0">
                <a:solidFill>
                  <a:srgbClr val="106B45"/>
                </a:solidFill>
                <a:latin typeface="Calibri"/>
              </a:rPr>
              <a:t>right:  $1.50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160520"/>
            <a:ext cx="5349240" cy="7772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B12121"/>
                </a:solidFill>
                <a:latin typeface="Calibri"/>
              </a:rPr>
              <a:t>wrong:  $0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5074920"/>
            <a:ext cx="178308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1500" b="1" i="0">
                <a:solidFill>
                  <a:srgbClr val="5B657A"/>
                </a:solidFill>
                <a:latin typeface="Calibri"/>
              </a:rPr>
              <a:t>wager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5074920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5074920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50%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5074920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100%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59" y="5367528"/>
            <a:ext cx="2331720" cy="658368"/>
          </a:xfrm>
          <a:prstGeom prst="rect">
            <a:avLst/>
          </a:prstGeom>
          <a:solidFill>
            <a:srgbClr val="DBE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2194560" y="5385816"/>
            <a:ext cx="178308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1500" b="1" i="0">
                <a:solidFill>
                  <a:srgbClr val="106B45"/>
                </a:solidFill>
                <a:latin typeface="Calibri"/>
              </a:rPr>
              <a:t>if right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5385816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5385816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$1.50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5385816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$3.00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5696712"/>
            <a:ext cx="178308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1500" b="1" i="0">
                <a:solidFill>
                  <a:srgbClr val="B12121"/>
                </a:solidFill>
                <a:latin typeface="Calibri"/>
              </a:rPr>
              <a:t>if wrong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5696712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5696712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41080" y="5696712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099048"/>
            <a:ext cx="1115568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200" b="0" i="1">
                <a:solidFill>
                  <a:srgbClr val="5B657A"/>
                </a:solidFill>
                <a:latin typeface="Calibri"/>
              </a:rPr>
              <a:t>Paid on one randomly selected endorsement.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2011680"/>
            <a:ext cx="11155680" cy="2560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200" b="1" i="1">
                <a:solidFill>
                  <a:srgbClr val="00143D"/>
                </a:solidFill>
                <a:latin typeface="Calibri"/>
              </a:rPr>
              <a:t>n = 200 sponsors  ·  10 endorsements each</a:t>
            </a:r>
          </a:p>
        </p:txBody>
      </p:sp>
    </p:spTree>
    <p:extLst>
      <p:ext uri="{BB962C8B-B14F-4D97-AF65-F5344CB8AC3E}">
        <p14:creationId xmlns:p14="http://schemas.microsoft.com/office/powerpoint/2010/main" val="2516457603"/>
      </p:ext>
    </p:extLst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Three-stage lab experiment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84047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2647" y="1691640"/>
            <a:ext cx="315468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7" y="2468880"/>
            <a:ext cx="31546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Protégé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7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Real participants take three performance tasks (Barron et al., 2025). We use the posted scores to build candidate profiles.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8536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17136" y="1691640"/>
            <a:ext cx="315468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2468880"/>
            <a:ext cx="31546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Sponsor endorsements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Real sponsors view candidate pairs and rate which one will perform better, and how confident they 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93024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E5EAF3"/>
          </a:solidFill>
          <a:ln w="444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421624" y="1691640"/>
            <a:ext cx="315468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1624" y="2468880"/>
            <a:ext cx="31546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2200" b="1" i="0">
                <a:solidFill>
                  <a:srgbClr val="00143D"/>
                </a:solidFill>
                <a:latin typeface="Calibri"/>
              </a:rPr>
              <a:t>Audience evaluation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1624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Evaluators bet on a sponsor's endorsement, see the outcome, then bet on a second endorsement from the same sponsor.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3D3016-2531-3594-F5D4-DE681615029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9429B0B-C5DE-407B-915A-353928DCD45E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3 incentive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11155680" cy="5029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600" b="0" i="0">
                <a:solidFill>
                  <a:srgbClr val="1F2937"/>
                </a:solidFill>
                <a:latin typeface="Calibri"/>
              </a:rPr>
              <a:t>For each decision, you start with a </a:t>
            </a:r>
            <a:r>
              <a:rPr sz="2600" b="1" i="0">
                <a:solidFill>
                  <a:srgbClr val="00143D"/>
                </a:solidFill>
                <a:latin typeface="Calibri"/>
              </a:rPr>
              <a:t>$0.50 bank.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27632"/>
            <a:ext cx="1115568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800" b="0" i="1">
                <a:solidFill>
                  <a:srgbClr val="5B657A"/>
                </a:solidFill>
                <a:latin typeface="Calibri"/>
              </a:rPr>
              <a:t>You wager part of your bank on the endorser being right.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03120"/>
            <a:ext cx="5349240" cy="841248"/>
          </a:xfrm>
          <a:prstGeom prst="rect">
            <a:avLst/>
          </a:prstGeom>
          <a:solidFill>
            <a:srgbClr val="FFFFFF"/>
          </a:solidFill>
          <a:ln w="25400">
            <a:solidFill>
              <a:srgbClr val="106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If </a:t>
            </a:r>
            <a:r>
              <a:rPr sz="2100" b="1" i="0">
                <a:solidFill>
                  <a:srgbClr val="106B45"/>
                </a:solidFill>
                <a:latin typeface="Calibri"/>
              </a:rPr>
              <a:t>right 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→  bank </a:t>
            </a:r>
            <a:r>
              <a:rPr sz="2100" b="1" i="0">
                <a:solidFill>
                  <a:srgbClr val="106B45"/>
                </a:solidFill>
                <a:latin typeface="Calibri"/>
              </a:rPr>
              <a:t>+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 your wager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59" y="2103120"/>
            <a:ext cx="5349240" cy="841248"/>
          </a:xfrm>
          <a:prstGeom prst="rect">
            <a:avLst/>
          </a:prstGeom>
          <a:solidFill>
            <a:srgbClr val="FFFFFF"/>
          </a:solidFill>
          <a:ln w="25400">
            <a:solidFill>
              <a:srgbClr val="B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If </a:t>
            </a:r>
            <a:r>
              <a:rPr sz="2100" b="1" i="0">
                <a:solidFill>
                  <a:srgbClr val="B12121"/>
                </a:solidFill>
                <a:latin typeface="Calibri"/>
              </a:rPr>
              <a:t>wrong 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→  bank </a:t>
            </a:r>
            <a:r>
              <a:rPr sz="2100" b="1" i="0">
                <a:solidFill>
                  <a:srgbClr val="B12121"/>
                </a:solidFill>
                <a:latin typeface="Calibri"/>
              </a:rPr>
              <a:t>−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 your wager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54680"/>
            <a:ext cx="1115568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300" b="0" i="1">
                <a:solidFill>
                  <a:srgbClr val="5B657A"/>
                </a:solidFill>
                <a:latin typeface="Calibri"/>
              </a:rPr>
              <a:t>evaluator wagers 50%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3520440"/>
            <a:ext cx="5788152" cy="201168"/>
          </a:xfrm>
          <a:prstGeom prst="rect">
            <a:avLst/>
          </a:prstGeom>
          <a:solidFill>
            <a:srgbClr val="EAF0FB"/>
          </a:solidFill>
          <a:ln w="9525">
            <a:solidFill>
              <a:srgbClr val="9AA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200400" y="3520440"/>
            <a:ext cx="2894076" cy="201168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5902452" y="3429000"/>
            <a:ext cx="384048" cy="38404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514600" y="3813048"/>
            <a:ext cx="64008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1200" b="0" i="0">
                <a:solidFill>
                  <a:srgbClr val="5B657A"/>
                </a:solidFill>
                <a:latin typeface="Calibri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4272" y="3813048"/>
            <a:ext cx="7315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200" b="0" i="0">
                <a:solidFill>
                  <a:srgbClr val="5B657A"/>
                </a:solidFill>
                <a:latin typeface="Calibr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160520"/>
            <a:ext cx="5349240" cy="7772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3200" b="1" i="0">
                <a:solidFill>
                  <a:srgbClr val="106B45"/>
                </a:solidFill>
                <a:latin typeface="Calibri"/>
              </a:rPr>
              <a:t>right:  $0.75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160520"/>
            <a:ext cx="5349240" cy="7772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B12121"/>
                </a:solidFill>
                <a:latin typeface="Calibri"/>
              </a:rPr>
              <a:t>wrong:  $0.25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5074920"/>
            <a:ext cx="178308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1500" b="1" i="0">
                <a:solidFill>
                  <a:srgbClr val="5B657A"/>
                </a:solidFill>
                <a:latin typeface="Calibri"/>
              </a:rPr>
              <a:t>wager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5074920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5074920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50%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5074920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100%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59" y="5367528"/>
            <a:ext cx="2331720" cy="658368"/>
          </a:xfrm>
          <a:prstGeom prst="rect">
            <a:avLst/>
          </a:prstGeom>
          <a:solidFill>
            <a:srgbClr val="DBE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2194560" y="5385816"/>
            <a:ext cx="178308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1500" b="1" i="0">
                <a:solidFill>
                  <a:srgbClr val="106B45"/>
                </a:solidFill>
                <a:latin typeface="Calibri"/>
              </a:rPr>
              <a:t>if right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5385816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5385816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5385816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$1.00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5696712"/>
            <a:ext cx="178308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1500" b="1" i="0">
                <a:solidFill>
                  <a:srgbClr val="B12121"/>
                </a:solidFill>
                <a:latin typeface="Calibri"/>
              </a:rPr>
              <a:t>if wrong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5696712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5696712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41080" y="5696712"/>
            <a:ext cx="2331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099048"/>
            <a:ext cx="1115568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200" b="0" i="1">
                <a:solidFill>
                  <a:srgbClr val="5B657A"/>
                </a:solidFill>
                <a:latin typeface="Calibri"/>
              </a:rPr>
              <a:t>One randomly selected decision determines the bonus.</a:t>
            </a:r>
          </a:p>
        </p:txBody>
      </p:sp>
    </p:spTree>
    <p:extLst>
      <p:ext uri="{BB962C8B-B14F-4D97-AF65-F5344CB8AC3E}">
        <p14:creationId xmlns:p14="http://schemas.microsoft.com/office/powerpoint/2010/main" val="31036757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88E67-56AB-B864-A4EF-C8F1CE3439E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E28759E-68AF-4058-96B1-5D194D483377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3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5568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600" b="0" i="1">
                <a:solidFill>
                  <a:srgbClr val="5B657A"/>
                </a:solidFill>
                <a:latin typeface="Calibri"/>
              </a:rPr>
              <a:t>n = 403 Prolific evaluators (passed 5/5 comprehension checks)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1115568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800" b="1" i="0">
                <a:solidFill>
                  <a:srgbClr val="00143D"/>
                </a:solidFill>
                <a:latin typeface="Calibri"/>
              </a:rPr>
              <a:t>Each evaluator is randomly assigned to ONE sponsor and sees: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10789920" cy="384048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 algn="l"/>
            <a:r>
              <a:rPr sz="1800" b="1" i="0">
                <a:solidFill>
                  <a:srgbClr val="011F5B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the sponsor's name + colored avatar (signals gender)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258568"/>
            <a:ext cx="10789920" cy="384048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 algn="l"/>
            <a:r>
              <a:rPr sz="1800" b="1" i="0">
                <a:solidFill>
                  <a:srgbClr val="011F5B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that sponsor's endorsement of one candidate from a pair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42615"/>
            <a:ext cx="10789920" cy="384048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 algn="l"/>
            <a:r>
              <a:rPr sz="1800" b="1" i="0">
                <a:solidFill>
                  <a:srgbClr val="011F5B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how confident the sponsor was on that endorsement (Strong / Weak)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026663"/>
            <a:ext cx="10789920" cy="384048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 algn="l"/>
            <a:r>
              <a:rPr sz="1800" b="1" i="0">
                <a:solidFill>
                  <a:srgbClr val="011F5B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a slider to wager part of a $0.50 bank on the endorser being right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502151"/>
            <a:ext cx="1115568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500" b="0" i="1">
                <a:solidFill>
                  <a:srgbClr val="5B657A"/>
                </a:solidFill>
                <a:latin typeface="Calibri"/>
              </a:rPr>
              <a:t>Each evaluator sees TWO decisions back-to-back, with the SAME sponsor on different candidate pairs: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19756" y="3959352"/>
            <a:ext cx="1920240" cy="713232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/>
            <a:r>
              <a:rPr sz="1700" b="1" i="0">
                <a:solidFill>
                  <a:srgbClr val="00143D"/>
                </a:solidFill>
                <a:latin typeface="Calibri"/>
              </a:rPr>
              <a:t>First wager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34356" y="3959352"/>
            <a:ext cx="1920240" cy="713232"/>
          </a:xfrm>
          <a:prstGeom prst="roundRect">
            <a:avLst>
              <a:gd name="adj" fmla="val 50000"/>
            </a:avLst>
          </a:prstGeom>
          <a:solidFill>
            <a:srgbClr val="DFF4E8"/>
          </a:solidFill>
          <a:ln w="25400">
            <a:solidFill>
              <a:srgbClr val="106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/>
            <a:r>
              <a:rPr sz="1700" b="1" i="0">
                <a:solidFill>
                  <a:srgbClr val="116B45"/>
                </a:solidFill>
                <a:latin typeface="Calibri"/>
              </a:rPr>
              <a:t>outcome revealed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48956" y="3959352"/>
            <a:ext cx="1920240" cy="713232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/>
            <a:r>
              <a:rPr sz="1700" b="1" i="0">
                <a:solidFill>
                  <a:srgbClr val="00143D"/>
                </a:solidFill>
                <a:latin typeface="Calibri"/>
              </a:rPr>
              <a:t>Second wager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585716" y="4224528"/>
            <a:ext cx="502920" cy="182880"/>
          </a:xfrm>
          <a:prstGeom prst="rightArrow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ight Arrow 16"/>
          <p:cNvSpPr/>
          <p:nvPr/>
        </p:nvSpPr>
        <p:spPr>
          <a:xfrm>
            <a:off x="7100316" y="4224528"/>
            <a:ext cx="502920" cy="182880"/>
          </a:xfrm>
          <a:prstGeom prst="rightArrow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920" y="4946904"/>
            <a:ext cx="11155680" cy="5029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400" b="1" i="0">
                <a:solidFill>
                  <a:srgbClr val="00143D"/>
                </a:solidFill>
                <a:latin typeface="Calibri"/>
              </a:rPr>
              <a:t>trust change  =  (Second wager)  −  (First wager)</a:t>
            </a:r>
          </a:p>
        </p:txBody>
      </p:sp>
    </p:spTree>
    <p:extLst>
      <p:ext uri="{BB962C8B-B14F-4D97-AF65-F5344CB8AC3E}">
        <p14:creationId xmlns:p14="http://schemas.microsoft.com/office/powerpoint/2010/main" val="8122630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11F5B"/>
                </a:solidFill>
                <a:latin typeface="Arial"/>
              </a:rPr>
              <a:t>Stage 3:  </a:t>
            </a:r>
            <a:r>
              <a:rPr lang="en-US" sz="3200" b="1" i="0" dirty="0">
                <a:solidFill>
                  <a:srgbClr val="011F5B"/>
                </a:solidFill>
                <a:latin typeface="Arial"/>
              </a:rPr>
              <a:t>Evaluators wager on sponsorship decisions from the previous stage</a:t>
            </a:r>
            <a:endParaRPr sz="3200" b="1" i="0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24712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dirty="0">
                <a:solidFill>
                  <a:srgbClr val="6B7280"/>
                </a:solidFill>
                <a:latin typeface="Arial"/>
              </a:rPr>
              <a:t>WE VARY THREE THINGS</a:t>
            </a:r>
          </a:p>
        </p:txBody>
      </p:sp>
      <p:sp>
        <p:nvSpPr>
          <p:cNvPr id="207" name="Slide Number Placeholder 3">
            <a:extLst>
              <a:ext uri="{FF2B5EF4-FFF2-40B4-BE49-F238E27FC236}">
                <a16:creationId xmlns:a16="http://schemas.microsoft.com/office/drawing/2014/main" id="{BA6A12A3-B136-4760-90AF-5858779DF3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C9464D6-C33F-4EF2-B99C-8982AA79C7A9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208" name="Rounded Rectangle 207"/>
          <p:cNvSpPr/>
          <p:nvPr/>
        </p:nvSpPr>
        <p:spPr>
          <a:xfrm>
            <a:off x="393192" y="1783080"/>
            <a:ext cx="370332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9" name="Rounded Rectangle 208"/>
          <p:cNvSpPr/>
          <p:nvPr/>
        </p:nvSpPr>
        <p:spPr>
          <a:xfrm>
            <a:off x="4242816" y="1783080"/>
            <a:ext cx="370332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" name="Rounded Rectangle 209"/>
          <p:cNvSpPr/>
          <p:nvPr/>
        </p:nvSpPr>
        <p:spPr>
          <a:xfrm>
            <a:off x="8092440" y="1783080"/>
            <a:ext cx="370332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1" name="TextBox 210"/>
          <p:cNvSpPr txBox="1"/>
          <p:nvPr/>
        </p:nvSpPr>
        <p:spPr>
          <a:xfrm>
            <a:off x="576072" y="1920240"/>
            <a:ext cx="333756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800" b="1" i="0">
                <a:solidFill>
                  <a:srgbClr val="00143D"/>
                </a:solidFill>
                <a:latin typeface="Calibri"/>
              </a:rPr>
              <a:t>1.  Sponsor gender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576072" y="2377440"/>
            <a:ext cx="3337560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050" b="0" i="1">
                <a:solidFill>
                  <a:srgbClr val="5B657A"/>
                </a:solidFill>
                <a:latin typeface="Calibri"/>
              </a:rPr>
              <a:t>The sponsor's first name + colored avatar signal their gender.</a:t>
            </a:r>
          </a:p>
        </p:txBody>
      </p:sp>
      <p:sp>
        <p:nvSpPr>
          <p:cNvPr id="213" name="Oval 212"/>
          <p:cNvSpPr/>
          <p:nvPr/>
        </p:nvSpPr>
        <p:spPr>
          <a:xfrm>
            <a:off x="667512" y="2971800"/>
            <a:ext cx="640080" cy="640080"/>
          </a:xfrm>
          <a:prstGeom prst="ellipse">
            <a:avLst/>
          </a:prstGeom>
          <a:solidFill>
            <a:srgbClr val="FCE7F3"/>
          </a:solidFill>
          <a:ln w="508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4" name="TextBox 213"/>
          <p:cNvSpPr txBox="1"/>
          <p:nvPr/>
        </p:nvSpPr>
        <p:spPr>
          <a:xfrm>
            <a:off x="1472184" y="3063240"/>
            <a:ext cx="164592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800" b="1" i="0">
                <a:solidFill>
                  <a:srgbClr val="EC4899"/>
                </a:solidFill>
                <a:latin typeface="Calibri"/>
              </a:rPr>
              <a:t>Woman</a:t>
            </a:r>
          </a:p>
        </p:txBody>
      </p:sp>
      <p:sp>
        <p:nvSpPr>
          <p:cNvPr id="215" name="Oval 214"/>
          <p:cNvSpPr/>
          <p:nvPr/>
        </p:nvSpPr>
        <p:spPr>
          <a:xfrm>
            <a:off x="667512" y="4114800"/>
            <a:ext cx="640080" cy="640080"/>
          </a:xfrm>
          <a:prstGeom prst="ellipse">
            <a:avLst/>
          </a:prstGeom>
          <a:solidFill>
            <a:srgbClr val="DBEAFE"/>
          </a:solidFill>
          <a:ln w="508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6" name="TextBox 215"/>
          <p:cNvSpPr txBox="1"/>
          <p:nvPr/>
        </p:nvSpPr>
        <p:spPr>
          <a:xfrm>
            <a:off x="1472184" y="4206240"/>
            <a:ext cx="164592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800" b="1" i="0">
                <a:solidFill>
                  <a:srgbClr val="3B82F6"/>
                </a:solidFill>
                <a:latin typeface="Calibri"/>
              </a:rPr>
              <a:t>Man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4425696" y="1920240"/>
            <a:ext cx="333756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800" b="1" i="0">
                <a:solidFill>
                  <a:srgbClr val="00143D"/>
                </a:solidFill>
                <a:latin typeface="Calibri"/>
              </a:rPr>
              <a:t>2.  Endorsement strength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4425696" y="2377440"/>
            <a:ext cx="3337560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050" b="0" i="1">
                <a:solidFill>
                  <a:srgbClr val="5B657A"/>
                </a:solidFill>
                <a:latin typeface="Calibri"/>
              </a:rPr>
              <a:t>Sponsors used a 0–100 slider to choose a candidate — pushed near one end = Strong (very sure), left near the middle = Weak (barely committed).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4951475" y="3017520"/>
            <a:ext cx="2286000" cy="182880"/>
          </a:xfrm>
          <a:prstGeom prst="roundRect">
            <a:avLst>
              <a:gd name="adj" fmla="val 50000"/>
            </a:avLst>
          </a:prstGeom>
          <a:solidFill>
            <a:srgbClr val="E5EAF3"/>
          </a:solidFill>
          <a:ln w="9525">
            <a:solidFill>
              <a:srgbClr val="9AA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0" name="Rounded Rectangle 219"/>
          <p:cNvSpPr/>
          <p:nvPr/>
        </p:nvSpPr>
        <p:spPr>
          <a:xfrm>
            <a:off x="4951475" y="3017520"/>
            <a:ext cx="2057400" cy="182880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1" name="TextBox 220"/>
          <p:cNvSpPr txBox="1"/>
          <p:nvPr/>
        </p:nvSpPr>
        <p:spPr>
          <a:xfrm>
            <a:off x="4425696" y="3291839"/>
            <a:ext cx="333756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800" b="1" i="0">
                <a:solidFill>
                  <a:srgbClr val="00143D"/>
                </a:solidFill>
                <a:latin typeface="Calibri"/>
              </a:rPr>
              <a:t>Strong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4425696" y="3611879"/>
            <a:ext cx="33375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200" b="0" i="1">
                <a:solidFill>
                  <a:srgbClr val="5B657A"/>
                </a:solidFill>
                <a:latin typeface="Calibri"/>
              </a:rPr>
              <a:t>very confident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4951475" y="4389120"/>
            <a:ext cx="2286000" cy="182880"/>
          </a:xfrm>
          <a:prstGeom prst="roundRect">
            <a:avLst>
              <a:gd name="adj" fmla="val 50000"/>
            </a:avLst>
          </a:prstGeom>
          <a:solidFill>
            <a:srgbClr val="E5EAF3"/>
          </a:solidFill>
          <a:ln w="9525">
            <a:solidFill>
              <a:srgbClr val="9AA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4" name="Rounded Rectangle 223"/>
          <p:cNvSpPr/>
          <p:nvPr/>
        </p:nvSpPr>
        <p:spPr>
          <a:xfrm>
            <a:off x="4951475" y="4389120"/>
            <a:ext cx="502920" cy="182880"/>
          </a:xfrm>
          <a:prstGeom prst="roundRect">
            <a:avLst>
              <a:gd name="adj" fmla="val 50000"/>
            </a:avLst>
          </a:prstGeom>
          <a:solidFill>
            <a:srgbClr val="B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5" name="TextBox 224"/>
          <p:cNvSpPr txBox="1"/>
          <p:nvPr/>
        </p:nvSpPr>
        <p:spPr>
          <a:xfrm>
            <a:off x="4425696" y="4663440"/>
            <a:ext cx="333756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800" b="1" i="0">
                <a:solidFill>
                  <a:srgbClr val="B12121"/>
                </a:solidFill>
                <a:latin typeface="Calibri"/>
              </a:rPr>
              <a:t>Weak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425696" y="4983480"/>
            <a:ext cx="33375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200" b="0" i="1">
                <a:solidFill>
                  <a:srgbClr val="5B657A"/>
                </a:solidFill>
                <a:latin typeface="Calibri"/>
              </a:rPr>
              <a:t>unsure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8275319" y="1920240"/>
            <a:ext cx="333756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800" b="1" i="0">
                <a:solidFill>
                  <a:srgbClr val="00143D"/>
                </a:solidFill>
                <a:latin typeface="Calibri"/>
              </a:rPr>
              <a:t>3.  Outcome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8275319" y="2377440"/>
            <a:ext cx="3337560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050" b="0" i="1">
                <a:solidFill>
                  <a:srgbClr val="5B657A"/>
                </a:solidFill>
                <a:latin typeface="Calibri"/>
              </a:rPr>
              <a:t>An endorsement was right if the endorsed candidate actually outscored the other on logical-reasoning.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9029700" y="3063239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DF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 i="0">
                <a:solidFill>
                  <a:srgbClr val="116B45"/>
                </a:solidFill>
                <a:latin typeface="Calibri"/>
              </a:rPr>
              <a:t>CORRECT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8275319" y="3611879"/>
            <a:ext cx="33375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200" b="0" i="1">
                <a:solidFill>
                  <a:srgbClr val="5B657A"/>
                </a:solidFill>
                <a:latin typeface="Calibri"/>
              </a:rPr>
              <a:t>endorsement was right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9029700" y="420624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D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400" b="1" i="0">
                <a:solidFill>
                  <a:srgbClr val="B12121"/>
                </a:solidFill>
                <a:latin typeface="Calibri"/>
              </a:rPr>
              <a:t>WRONG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8275319" y="4754879"/>
            <a:ext cx="33375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200" b="0" i="1">
                <a:solidFill>
                  <a:srgbClr val="5B657A"/>
                </a:solidFill>
                <a:latin typeface="Calibri"/>
              </a:rPr>
              <a:t>endorsement was wrong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1:  Initial wager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An evaluator sees one sponsor's confident endorsement and bets a fraction of their $0.50 bank.</a:t>
            </a:r>
          </a:p>
        </p:txBody>
      </p:sp>
      <p:sp>
        <p:nvSpPr>
          <p:cNvPr id="208" name="Slide Number Placeholder 3">
            <a:extLst>
              <a:ext uri="{FF2B5EF4-FFF2-40B4-BE49-F238E27FC236}">
                <a16:creationId xmlns:a16="http://schemas.microsoft.com/office/drawing/2014/main" id="{8D05B4F1-FC0E-4B35-B1ED-C478513F849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15EAEDD-FE21-4869-AE3E-8631C85A4022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209" name="Picture 208" descr="W_correct_strong_d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127" y="1417320"/>
            <a:ext cx="11521440" cy="435810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2:  Outcome reveal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The endorser was CORRECT — the evaluator's bank goes up.  (We also run a 'wrong' variant.)</a:t>
            </a:r>
          </a:p>
        </p:txBody>
      </p:sp>
      <p:sp>
        <p:nvSpPr>
          <p:cNvPr id="209" name="Slide Number Placeholder 3">
            <a:extLst>
              <a:ext uri="{FF2B5EF4-FFF2-40B4-BE49-F238E27FC236}">
                <a16:creationId xmlns:a16="http://schemas.microsoft.com/office/drawing/2014/main" id="{297B77C9-43B3-46C1-996A-821C66E057C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74A1E81-BBC2-4EE9-8643-FE6B041BEBD8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210" name="Picture 209" descr="W_correct_strong_d2_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127" y="1417320"/>
            <a:ext cx="11521440" cy="441655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3:  Second wager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The same sponsor, a different candidate pair.  How much does the evaluator wager now?</a:t>
            </a:r>
          </a:p>
        </p:txBody>
      </p:sp>
      <p:sp>
        <p:nvSpPr>
          <p:cNvPr id="210" name="Slide Number Placeholder 3">
            <a:extLst>
              <a:ext uri="{FF2B5EF4-FFF2-40B4-BE49-F238E27FC236}">
                <a16:creationId xmlns:a16="http://schemas.microsoft.com/office/drawing/2014/main" id="{C53DC1F7-5FD6-425C-9CF0-1889CF282E1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FFD34C8-AA75-4111-8E90-B6D0E4E619C5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211" name="Picture 210" descr="W_correct_strong_d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127" y="1417320"/>
            <a:ext cx="11521440" cy="4358109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9494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 dirty="0">
                <a:solidFill>
                  <a:srgbClr val="011F5B"/>
                </a:solidFill>
                <a:latin typeface="Arial"/>
              </a:rPr>
              <a:t>RQ1  —  How much did evaluators wager on the first decision?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b gender  </a:t>
            </a:r>
            <a:r>
              <a:rPr sz="1700" b="1">
                <a:solidFill>
                  <a:srgbClr val="011F5B"/>
                </a:solidFill>
                <a:latin typeface="Arial"/>
              </a:rPr>
              <a:t>-1.06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111827"/>
                </a:solidFill>
                <a:latin typeface="Arial"/>
              </a:rPr>
              <a:t>p  </a:t>
            </a:r>
            <a:r>
              <a:rPr sz="1700" b="1">
                <a:solidFill>
                  <a:srgbClr val="111827"/>
                </a:solidFill>
                <a:latin typeface="Arial"/>
              </a:rPr>
              <a:t>= .812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   </a:t>
            </a:r>
            <a:r>
              <a:rPr sz="1400" b="1">
                <a:solidFill>
                  <a:srgbClr val="6B7280"/>
                </a:solidFill>
                <a:latin typeface="Arial"/>
              </a:rPr>
              <a:t>no gender effect</a:t>
            </a:r>
          </a:p>
        </p:txBody>
      </p:sp>
      <p:sp>
        <p:nvSpPr>
          <p:cNvPr id="214" name="Slide Number Placeholder 3">
            <a:extLst>
              <a:ext uri="{FF2B5EF4-FFF2-40B4-BE49-F238E27FC236}">
                <a16:creationId xmlns:a16="http://schemas.microsoft.com/office/drawing/2014/main" id="{FC142386-DEDB-4088-90EC-5A012844630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9907A3C-3959-4662-8661-C84925F99490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215" name="Picture 214" descr="rq3_initial_tru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9494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11F5B"/>
                </a:solidFill>
                <a:latin typeface="Arial"/>
              </a:rPr>
              <a:t>RQ2  —  How much did one outcome change evaluator wagers?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Δ Male  </a:t>
            </a:r>
            <a:r>
              <a:rPr sz="1700" b="1">
                <a:solidFill>
                  <a:srgbClr val="011F5B"/>
                </a:solidFill>
                <a:latin typeface="Arial"/>
              </a:rPr>
              <a:t>+15.0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990000"/>
                </a:solidFill>
                <a:latin typeface="Arial"/>
              </a:rPr>
              <a:t>Δ Female  </a:t>
            </a:r>
            <a:r>
              <a:rPr sz="1700" b="1">
                <a:solidFill>
                  <a:srgbClr val="990000"/>
                </a:solidFill>
                <a:latin typeface="Arial"/>
              </a:rPr>
              <a:t>+4.3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b  </a:t>
            </a:r>
            <a:r>
              <a:rPr sz="1400" b="1">
                <a:solidFill>
                  <a:srgbClr val="111827"/>
                </a:solidFill>
                <a:latin typeface="Arial"/>
              </a:rPr>
              <a:t>-11.60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p  </a:t>
            </a:r>
            <a:r>
              <a:rPr sz="1400" b="1">
                <a:solidFill>
                  <a:srgbClr val="111827"/>
                </a:solidFill>
                <a:latin typeface="Arial"/>
              </a:rPr>
              <a:t>= .062</a:t>
            </a:r>
          </a:p>
        </p:txBody>
      </p:sp>
      <p:sp>
        <p:nvSpPr>
          <p:cNvPr id="211" name="Slide Number Placeholder 3">
            <a:extLst>
              <a:ext uri="{FF2B5EF4-FFF2-40B4-BE49-F238E27FC236}">
                <a16:creationId xmlns:a16="http://schemas.microsoft.com/office/drawing/2014/main" id="{29F8E95F-F92A-4D2C-BA95-C7E10742A51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01529C8-D463-4309-8F61-0C1C72F83BC2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F572ACD-6285-FBFE-44E4-6E94B4992440}"/>
              </a:ext>
            </a:extLst>
          </p:cNvPr>
          <p:cNvSpPr/>
          <p:nvPr/>
        </p:nvSpPr>
        <p:spPr>
          <a:xfrm>
            <a:off x="11542356" y="2378765"/>
            <a:ext cx="497364" cy="398227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2" name="Picture 211" descr="rq1_gender_x_outc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78638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 dirty="0">
                <a:solidFill>
                  <a:srgbClr val="011F5B"/>
                </a:solidFill>
                <a:latin typeface="Arial"/>
              </a:rPr>
              <a:t>RQ3  —  Strong endorsements: how did one outcome shift wagers?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Δ Male  </a:t>
            </a:r>
            <a:r>
              <a:rPr sz="1700" b="1">
                <a:solidFill>
                  <a:srgbClr val="011F5B"/>
                </a:solidFill>
                <a:latin typeface="Arial"/>
              </a:rPr>
              <a:t>+16.8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990000"/>
                </a:solidFill>
                <a:latin typeface="Arial"/>
              </a:rPr>
              <a:t>Δ Female  </a:t>
            </a:r>
            <a:r>
              <a:rPr sz="1700" b="1">
                <a:solidFill>
                  <a:srgbClr val="990000"/>
                </a:solidFill>
                <a:latin typeface="Arial"/>
              </a:rPr>
              <a:t>+6.0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b  </a:t>
            </a:r>
            <a:r>
              <a:rPr sz="1400" b="1">
                <a:solidFill>
                  <a:srgbClr val="111827"/>
                </a:solidFill>
                <a:latin typeface="Arial"/>
              </a:rPr>
              <a:t>-13.01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p  </a:t>
            </a:r>
            <a:r>
              <a:rPr sz="1400" b="1">
                <a:solidFill>
                  <a:srgbClr val="111827"/>
                </a:solidFill>
                <a:latin typeface="Arial"/>
              </a:rPr>
              <a:t>= .113</a:t>
            </a:r>
          </a:p>
        </p:txBody>
      </p:sp>
      <p:sp>
        <p:nvSpPr>
          <p:cNvPr id="212" name="Slide Number Placeholder 3">
            <a:extLst>
              <a:ext uri="{FF2B5EF4-FFF2-40B4-BE49-F238E27FC236}">
                <a16:creationId xmlns:a16="http://schemas.microsoft.com/office/drawing/2014/main" id="{85F90AF4-29B7-4FED-BD53-B1D1B7325F9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5697BAC-C556-4F17-8ED5-850E23E5430F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213" name="Picture 212" descr="rq2_strong_onl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78638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11F5B"/>
                </a:solidFill>
                <a:latin typeface="Arial"/>
              </a:rPr>
              <a:t>RQ3  —  Weak endorsements: how did one outcome shift wagers?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Δ Male  </a:t>
            </a:r>
            <a:r>
              <a:rPr sz="1700" b="1">
                <a:solidFill>
                  <a:srgbClr val="011F5B"/>
                </a:solidFill>
                <a:latin typeface="Arial"/>
              </a:rPr>
              <a:t>+12.6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990000"/>
                </a:solidFill>
                <a:latin typeface="Arial"/>
              </a:rPr>
              <a:t>Δ Female  </a:t>
            </a:r>
            <a:r>
              <a:rPr sz="1700" b="1">
                <a:solidFill>
                  <a:srgbClr val="990000"/>
                </a:solidFill>
                <a:latin typeface="Arial"/>
              </a:rPr>
              <a:t>+3.4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b  </a:t>
            </a:r>
            <a:r>
              <a:rPr sz="1400" b="1">
                <a:solidFill>
                  <a:srgbClr val="111827"/>
                </a:solidFill>
                <a:latin typeface="Arial"/>
              </a:rPr>
              <a:t>-9.50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p  </a:t>
            </a:r>
            <a:r>
              <a:rPr sz="1400" b="1">
                <a:solidFill>
                  <a:srgbClr val="111827"/>
                </a:solidFill>
                <a:latin typeface="Arial"/>
              </a:rPr>
              <a:t>= .322</a:t>
            </a:r>
          </a:p>
        </p:txBody>
      </p:sp>
      <p:sp>
        <p:nvSpPr>
          <p:cNvPr id="213" name="Slide Number Placeholder 3">
            <a:extLst>
              <a:ext uri="{FF2B5EF4-FFF2-40B4-BE49-F238E27FC236}">
                <a16:creationId xmlns:a16="http://schemas.microsoft.com/office/drawing/2014/main" id="{E8F6FB20-2327-4A2A-A726-3AFFD661037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4881CD6-2DEB-48EC-97C5-F84C6EF75BD9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214" name="Picture 213" descr="rq2_weak_on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200" b="1" i="0" dirty="0">
                <a:solidFill>
                  <a:srgbClr val="011F5B"/>
                </a:solidFill>
                <a:latin typeface="Arial"/>
              </a:rPr>
              <a:t>Summary</a:t>
            </a:r>
            <a:endParaRPr sz="3200" b="1" i="0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594203"/>
            <a:ext cx="5074920" cy="255454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 dirty="0">
                <a:solidFill>
                  <a:srgbClr val="111827"/>
                </a:solidFill>
                <a:latin typeface="Arial"/>
              </a:rPr>
              <a:t>•  Men</a:t>
            </a:r>
            <a:r>
              <a:rPr lang="en-US" sz="2400" b="0" dirty="0">
                <a:solidFill>
                  <a:srgbClr val="111827"/>
                </a:solidFill>
                <a:latin typeface="Arial"/>
              </a:rPr>
              <a:t>'</a:t>
            </a:r>
            <a:r>
              <a:rPr sz="2400" b="0" dirty="0">
                <a:solidFill>
                  <a:srgbClr val="111827"/>
                </a:solidFill>
                <a:latin typeface="Arial"/>
              </a:rPr>
              <a:t>s endorsements move trust by Δ = +15.0</a:t>
            </a:r>
          </a:p>
          <a:p>
            <a:pPr algn="l">
              <a:spcAft>
                <a:spcPts val="1200"/>
              </a:spcAft>
            </a:pPr>
            <a:r>
              <a:rPr sz="2400" b="0" dirty="0">
                <a:solidFill>
                  <a:srgbClr val="111827"/>
                </a:solidFill>
                <a:latin typeface="Arial"/>
              </a:rPr>
              <a:t>•  Women's endorsements move trust by Δ = +4.3</a:t>
            </a:r>
          </a:p>
          <a:p>
            <a:pPr algn="l">
              <a:spcAft>
                <a:spcPts val="1200"/>
              </a:spcAft>
            </a:pPr>
            <a:r>
              <a:rPr sz="2400" b="1" dirty="0">
                <a:solidFill>
                  <a:srgbClr val="111827"/>
                </a:solidFill>
                <a:latin typeface="Arial"/>
              </a:rPr>
              <a:t>•  Pre-outcome trust does NOT differ by gender</a:t>
            </a:r>
          </a:p>
          <a:p>
            <a:pPr algn="l">
              <a:spcAft>
                <a:spcPts val="1200"/>
              </a:spcAft>
            </a:pPr>
            <a:r>
              <a:rPr sz="2400" b="0" dirty="0">
                <a:solidFill>
                  <a:srgbClr val="111827"/>
                </a:solidFill>
                <a:latin typeface="Arial"/>
              </a:rPr>
              <a:t>•  Stronger endorsements amplify the asymmetry</a:t>
            </a:r>
          </a:p>
          <a:p>
            <a:pPr algn="l">
              <a:spcAft>
                <a:spcPts val="1200"/>
              </a:spcAft>
            </a:pPr>
            <a:endParaRPr sz="2400" b="0" dirty="0">
              <a:solidFill>
                <a:srgbClr val="111827"/>
              </a:solidFill>
              <a:latin typeface="Arial"/>
            </a:endParaRPr>
          </a:p>
        </p:txBody>
      </p:sp>
      <p:sp>
        <p:nvSpPr>
          <p:cNvPr id="215" name="Slide Number Placeholder 3">
            <a:extLst>
              <a:ext uri="{FF2B5EF4-FFF2-40B4-BE49-F238E27FC236}">
                <a16:creationId xmlns:a16="http://schemas.microsoft.com/office/drawing/2014/main" id="{E1D2B922-5A84-4186-A4F2-8EDED3FC579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DDCF55-CF0E-4DC0-9357-3E33BD739286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216" name="Picture 215" descr="synthesis_outcome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325880"/>
            <a:ext cx="64008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200" b="1" i="0" dirty="0">
                <a:solidFill>
                  <a:srgbClr val="011F5B"/>
                </a:solidFill>
                <a:latin typeface="Arial"/>
              </a:rPr>
              <a:t>Running story</a:t>
            </a:r>
            <a:endParaRPr sz="3200" b="1" i="0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247120" cy="4950073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285750" indent="-285750" algn="l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827"/>
                </a:solidFill>
                <a:latin typeface="Arial"/>
              </a:rPr>
              <a:t>Running story:</a:t>
            </a:r>
          </a:p>
          <a:p>
            <a:pPr marL="742950" lvl="1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111827"/>
                </a:solidFill>
                <a:latin typeface="Arial"/>
              </a:rPr>
              <a:t>Let’s assume sponsorship is stereotypically “male.”</a:t>
            </a:r>
          </a:p>
          <a:p>
            <a:pPr marL="1200150" lvl="2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827"/>
                </a:solidFill>
                <a:latin typeface="Arial"/>
              </a:rPr>
              <a:t>Men are updated in a roughly Bayesian manner. Successes push trust up, failures push it down, by similar magnitudes (it’s quite symmetrical for men). </a:t>
            </a:r>
          </a:p>
          <a:p>
            <a:pPr marL="1200150" lvl="2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827"/>
                </a:solidFill>
                <a:latin typeface="Arial"/>
              </a:rPr>
              <a:t>Women, however, are not prototypically seen as sponsors and therefore, we observe signal neglect. O</a:t>
            </a:r>
            <a:r>
              <a:rPr lang="en-US" dirty="0">
                <a:solidFill>
                  <a:srgbClr val="111827"/>
                </a:solidFill>
              </a:rPr>
              <a:t>utcomes barely move evaluator trust in either direction. We propose this is</a:t>
            </a:r>
            <a:r>
              <a:rPr lang="en-US" b="0" dirty="0">
                <a:solidFill>
                  <a:srgbClr val="111827"/>
                </a:solidFill>
                <a:latin typeface="Arial"/>
              </a:rPr>
              <a:t> because audiences lack a rule for translating outcomes into competence about women since they are in a non-prototypical role.</a:t>
            </a:r>
          </a:p>
          <a:p>
            <a:pPr marL="1657350" lvl="3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827"/>
                </a:solidFill>
                <a:latin typeface="Arial"/>
              </a:rPr>
              <a:t>Perhaps we would see our effects change as there are more “rounds.”</a:t>
            </a:r>
            <a:endParaRPr lang="en-US" b="0" dirty="0">
              <a:solidFill>
                <a:srgbClr val="111827"/>
              </a:solidFill>
              <a:latin typeface="Arial"/>
            </a:endParaRPr>
          </a:p>
          <a:p>
            <a:pPr marL="742950" lvl="1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111827"/>
                </a:solidFill>
                <a:latin typeface="Arial"/>
              </a:rPr>
              <a:t>Fairly different expectation from a lot of the other literature on double standards.</a:t>
            </a:r>
          </a:p>
          <a:p>
            <a:pPr marL="285750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827"/>
                </a:solidFill>
                <a:latin typeface="Arial"/>
              </a:rPr>
              <a:t>Women are just nice so they don’t know what they are doing</a:t>
            </a:r>
          </a:p>
          <a:p>
            <a:pPr marL="742950" lvl="1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111827"/>
                </a:solidFill>
                <a:latin typeface="Arial"/>
              </a:rPr>
              <a:t>Mechanism: Male sponsors have more variance in their endorsements, women have smaller variance – higher average</a:t>
            </a:r>
            <a:endParaRPr b="0" dirty="0">
              <a:solidFill>
                <a:srgbClr val="111827"/>
              </a:solidFill>
              <a:latin typeface="Arial"/>
            </a:endParaRPr>
          </a:p>
        </p:txBody>
      </p:sp>
      <p:sp>
        <p:nvSpPr>
          <p:cNvPr id="216" name="Slide Number Placeholder 3">
            <a:extLst>
              <a:ext uri="{FF2B5EF4-FFF2-40B4-BE49-F238E27FC236}">
                <a16:creationId xmlns:a16="http://schemas.microsoft.com/office/drawing/2014/main" id="{D660F081-DFF5-4F81-9684-C53659E3F2F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A55181A-24D2-4DCD-A06D-7E698208F682}" type="slidenum">
              <a:rPr lang="en-US" smtClean="0"/>
              <a:pPr/>
              <a:t>21</a:t>
            </a:fld>
            <a:endParaRPr lang="en-US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D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400" b="1" i="0">
                <a:solidFill>
                  <a:srgbClr val="011F5B"/>
                </a:solidFill>
                <a:latin typeface="Arial"/>
              </a:rPr>
              <a:t>Thank you</a:t>
            </a:r>
          </a:p>
        </p:txBody>
      </p:sp>
      <p:sp>
        <p:nvSpPr>
          <p:cNvPr id="217" name="Slide Number Placeholder 3">
            <a:extLst>
              <a:ext uri="{FF2B5EF4-FFF2-40B4-BE49-F238E27FC236}">
                <a16:creationId xmlns:a16="http://schemas.microsoft.com/office/drawing/2014/main" id="{576EA859-4E79-4EBE-9BC9-29E0716921D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D7839BF-A652-4943-866B-E3D688857907}" type="slidenum">
              <a:rPr lang="en-US" smtClean="0"/>
              <a:pPr/>
              <a:t>22</a:t>
            </a:fld>
            <a:endParaRPr lang="en-US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AAF2F33-A9B5-8037-3D3C-1A2E4FCF15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Women vs men’s assumed prior sponsorship endorsements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Women are less likely to denigrate a bad candidate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Men are more critical (on average) sponsors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consequence of this, women’s endorsements are not seen as credible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More rounds can “shut this off.”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But the takeaway is that do women need more time/seniority in order for their credibility to be taken seriously?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Do women have lower standards?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D3EF193-CB07-3F4F-1779-DB280500FC9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40F67D-B3CA-05DA-DA08-758C9000259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2035789-8015-4C15-A12A-01AF971F27F7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5C3BEE-486B-A19B-DA69-2C302C8345C8}"/>
              </a:ext>
            </a:extLst>
          </p:cNvPr>
          <p:cNvSpPr/>
          <p:nvPr/>
        </p:nvSpPr>
        <p:spPr>
          <a:xfrm>
            <a:off x="1795669" y="4634637"/>
            <a:ext cx="1186070" cy="17890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1C7BE0C-B5ED-CEAC-D0DA-68D88BB40CBE}"/>
              </a:ext>
            </a:extLst>
          </p:cNvPr>
          <p:cNvSpPr/>
          <p:nvPr/>
        </p:nvSpPr>
        <p:spPr>
          <a:xfrm>
            <a:off x="3475382" y="4237072"/>
            <a:ext cx="927652" cy="12920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42596"/>
      </p:ext>
    </p:extLst>
  </p:cSld>
  <p:clrMapOvr>
    <a:masterClrMapping/>
  </p:clrMapOvr>
</p:sld>
</file>

<file path=ppt/theme/theme1.xml><?xml version="1.0" encoding="utf-8"?>
<a:theme xmlns:a="http://schemas.openxmlformats.org/drawingml/2006/main" name="Wharton 2016 16:9">
  <a:themeElements>
    <a:clrScheme name="Wharton">
      <a:dk1>
        <a:srgbClr val="2D2C41"/>
      </a:dk1>
      <a:lt1>
        <a:srgbClr val="FFFFFF"/>
      </a:lt1>
      <a:dk2>
        <a:srgbClr val="011F5B"/>
      </a:dk2>
      <a:lt2>
        <a:srgbClr val="EEEDEA"/>
      </a:lt2>
      <a:accent1>
        <a:srgbClr val="011F5B"/>
      </a:accent1>
      <a:accent2>
        <a:srgbClr val="990000"/>
      </a:accent2>
      <a:accent3>
        <a:srgbClr val="026CB5"/>
      </a:accent3>
      <a:accent4>
        <a:srgbClr val="06AAFC"/>
      </a:accent4>
      <a:accent5>
        <a:srgbClr val="96227D"/>
      </a:accent5>
      <a:accent6>
        <a:srgbClr val="D7BC6A"/>
      </a:accent6>
      <a:hlink>
        <a:srgbClr val="06AAFC"/>
      </a:hlink>
      <a:folHlink>
        <a:srgbClr val="06AAFC"/>
      </a:folHlink>
    </a:clrScheme>
    <a:fontScheme name="Wharton 2016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Theme_4x3</Template>
  <TotalTime>8257</TotalTime>
  <Words>1099</Words>
  <Application>Microsoft Office PowerPoint</Application>
  <PresentationFormat>Widescreen</PresentationFormat>
  <Paragraphs>182</Paragraphs>
  <Slides>23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Garamond</vt:lpstr>
      <vt:lpstr>Georgia</vt:lpstr>
      <vt:lpstr>Wharton 2016 16:9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Matthew Byers</dc:creator>
  <cp:lastModifiedBy>josecerv</cp:lastModifiedBy>
  <cp:revision>92</cp:revision>
  <dcterms:created xsi:type="dcterms:W3CDTF">2016-03-10T13:41:29Z</dcterms:created>
  <dcterms:modified xsi:type="dcterms:W3CDTF">2026-04-07T22:06:24Z</dcterms:modified>
</cp:coreProperties>
</file>