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77" r:id="rId3"/>
    <p:sldId id="284" r:id="rId33"/>
    <p:sldId id="282" r:id="rId31"/>
    <p:sldId id="283" r:id="rId32"/>
    <p:sldId id="258" r:id="rId4"/>
    <p:sldId id="259" r:id="rId5"/>
    <p:sldId id="260" r:id="rId6"/>
    <p:sldId id="261" r:id="rId7"/>
    <p:sldId id="262" r:id="rId8"/>
    <p:sldId id="263" r:id="rId9"/>
    <p:sldId id="279" r:id="rId10"/>
    <p:sldId id="278" r:id="rId11"/>
    <p:sldId id="280" r:id="rId12"/>
    <p:sldId id="264" r:id="rId13"/>
    <p:sldId id="265" r:id="rId14"/>
    <p:sldId id="266" r:id="rId15"/>
    <p:sldId id="267" r:id="rId16"/>
    <p:sldId id="271" r:id="rId20"/>
    <p:sldId id="268" r:id="rId17"/>
    <p:sldId id="269" r:id="rId18"/>
    <p:sldId id="270" r:id="rId19"/>
    <p:sldId id="272" r:id="rId21"/>
    <p:sldId id="273" r:id="rId22"/>
    <p:sldId id="275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79"/>
            <p14:sldId id="278"/>
            <p14:sldId id="280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19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Letter of recommendation example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susan</a:t>
            </a:r>
            <a:r>
              <a:rPr lang="en-US" dirty="0"/>
              <a:t> vs bob – depending on who is writing the letter and then various track records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do people weigh the information differently whether it’s from </a:t>
            </a:r>
            <a:r>
              <a:rPr lang="en-US" dirty="0" err="1"/>
              <a:t>susan</a:t>
            </a:r>
            <a:r>
              <a:rPr lang="en-US" dirty="0"/>
              <a:t> vs bob</a:t>
            </a:r>
          </a:p>
          <a:p>
            <a:r>
              <a:rPr lang="en-US" dirty="0"/>
              <a:t>The thing we care about the most is the second letter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BA4E03-EB89-4039-8592-4AE86A57FA3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BFB7D3F-6111-475F-95CA-57840A544866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95AC04-E5D0-4040-BF50-30723AC2DFB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5" name="Right Arrow 504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6" name="Rounded Rectangle 505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EC69BD-B13A-41AA-A625-433C2A4275B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6" name="Right Arrow 505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7" name="Rounded Rectangle 506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13013AB-AD95-45ED-9471-8215DA5C7188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E27489-26D6-4A90-8085-4B95DD080010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EDBA634-3625-4C36-BDE7-A329D742BCE6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Three</a:t>
            </a:r>
            <a:r>
              <a:rPr sz="3200" b="1" i="0" dirty="0">
                <a:solidFill>
                  <a:srgbClr val="011F5B"/>
                </a:solidFill>
                <a:latin typeface="Arial"/>
              </a:rPr>
              <a:t>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We use the 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posted</a:t>
            </a:r>
            <a:r>
              <a:rPr sz="1500" dirty="0">
                <a:solidFill>
                  <a:srgbClr val="111827"/>
                </a:solidFill>
                <a:latin typeface="Arial"/>
              </a:rPr>
              <a:t> scores to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 better, and how confident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Evaluators bet on a sponsor's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endorsement, see the outcome,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then bet on a second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1F4919-111F-4293-BADB-482A3347A9B6}" type="slidenum">
              <a:rPr lang="en-US" smtClean="0"/>
              <a:pPr/>
              <a:t>6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844035-78A0-48CD-A1B4-1865DD3AD23F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8B3C5F-5C89-448E-A627-33D1752A6225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45282F-A917-93D9-F325-78A6817CD6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1593E03-F4AB-488B-BBDD-B11134A09294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3600" b="1" i="0">
                <a:solidFill>
                  <a:srgbClr val="011F5B"/>
                </a:solidFill>
                <a:latin typeface="Calibri"/>
              </a:rPr>
              <a:t>sponsor earns  =  $3  ×  evaluator wager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11155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400" b="0" i="1">
                <a:solidFill>
                  <a:srgbClr val="5B657A"/>
                </a:solidFill>
                <a:latin typeface="Calibri"/>
              </a:rPr>
              <a:t>only if the endorsed candidate scored higher on logical reasoning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4791456"/>
            <a:ext cx="1554480" cy="84124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evaluator wagers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834640"/>
            <a:ext cx="5788152" cy="20116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952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2834640"/>
            <a:ext cx="2894076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902452" y="274320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14600" y="31272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31272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3520440"/>
            <a:ext cx="365760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5600" b="1" i="0">
                <a:solidFill>
                  <a:srgbClr val="011F5B"/>
                </a:solidFill>
                <a:latin typeface="Calibri"/>
              </a:rPr>
              <a:t>$1.50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46320"/>
            <a:ext cx="160020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84632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11F5B"/>
                </a:solidFill>
                <a:latin typeface="Calibri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84632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11F5B"/>
                </a:solidFill>
                <a:latin typeface="Calibri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84632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11F5B"/>
                </a:solidFill>
                <a:latin typeface="Calibri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4632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11F5B"/>
                </a:solidFill>
                <a:latin typeface="Calibri"/>
              </a:rP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84632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11F5B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257800"/>
            <a:ext cx="160020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bonus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525780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25780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25780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25780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$2.25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257800"/>
            <a:ext cx="1554480" cy="3657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Paid on one randomly selected endorsement.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88E3C7-5C5B-4B3C-BA62-549FDAFD505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0" i="1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0F04575-80B0-4419-87DC-16961C0C370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984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Candidates completed three tasks: word-search, general-knowledge, and logical-reasoning.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Endorsers viewed two candidates and used a slider to predict which one would score higher on logical-reasoning.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An endorsement is “correct” when the endorsed candidate outscores a randomly selected other candidate on logical-reasoning.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endorsements from the SAME sponsor: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828800" cy="86868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1587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800" b="1" i="0">
                <a:solidFill>
                  <a:srgbClr val="011F5B"/>
                </a:solidFill>
                <a:latin typeface="Calibri"/>
              </a:rPr>
              <a:t>First wager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4648" y="4160520"/>
            <a:ext cx="1828800" cy="86868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1587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800" b="1" i="0">
                <a:solidFill>
                  <a:srgbClr val="011F5B"/>
                </a:solidFill>
                <a:latin typeface="Calibri"/>
              </a:rPr>
              <a:t>outcome revealed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0688" y="4160520"/>
            <a:ext cx="1828800" cy="86868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1587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800" b="1" i="0">
                <a:solidFill>
                  <a:srgbClr val="011F5B"/>
                </a:solidFill>
                <a:latin typeface="Calibri"/>
              </a:rPr>
              <a:t>Second wager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53128" y="4498848"/>
            <a:ext cx="685800" cy="182880"/>
          </a:xfrm>
          <a:prstGeom prst="rightArrow">
            <a:avLst/>
          </a:prstGeom>
          <a:solidFill>
            <a:srgbClr val="011F5B"/>
          </a:solidFill>
          <a:ln w="63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7059168" y="4498848"/>
            <a:ext cx="685800" cy="182880"/>
          </a:xfrm>
          <a:prstGeom prst="rightArrow">
            <a:avLst/>
          </a:prstGeom>
          <a:solidFill>
            <a:srgbClr val="011F5B"/>
          </a:solidFill>
          <a:ln w="63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24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4563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1.  Sponsor gender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11F5B"/>
                </a:solidFill>
                <a:latin typeface="Arial"/>
              </a:rPr>
              <a:t>•  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990000"/>
                </a:solidFill>
                <a:latin typeface="Arial"/>
              </a:rPr>
              <a:t>•  Woman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4187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 dirty="0">
                <a:solidFill>
                  <a:srgbClr val="011F5B"/>
                </a:solidFill>
                <a:latin typeface="Arial"/>
              </a:rPr>
              <a:t>2.  Endorsement strength</a:t>
            </a:r>
          </a:p>
          <a:p>
            <a:pPr algn="l">
              <a:spcBef>
                <a:spcPts val="10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Strong  (very confident)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Weak  (</a:t>
            </a:r>
            <a:r>
              <a:rPr lang="en-US" sz="1600" b="1" dirty="0">
                <a:solidFill>
                  <a:srgbClr val="111827"/>
                </a:solidFill>
                <a:latin typeface="Arial"/>
              </a:rPr>
              <a:t>low confidence</a:t>
            </a:r>
            <a:r>
              <a:rPr sz="1600" b="1" dirty="0">
                <a:solidFill>
                  <a:srgbClr val="111827"/>
                </a:solidFill>
                <a:latin typeface="Arial"/>
              </a:rPr>
              <a:t> / unsure)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811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3.  Outcome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47A4B"/>
                </a:solidFill>
                <a:latin typeface="Arial"/>
              </a:rPr>
              <a:t>•  Endorser was correct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C81E1E"/>
                </a:solidFill>
                <a:latin typeface="Arial"/>
              </a:rPr>
              <a:t>•  Endorser was wrong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979F254-CC43-4DA6-A247-E51DAF53351D}" type="slidenum">
              <a:rPr lang="en-US" smtClean="0"/>
              <a:pPr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21BCB3A-9FD1-45AD-8941-16949E503D39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B6EC54E-72C4-4E1D-869A-3A8AD1238830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A73E3F-3214-4D07-9808-33F9E49E9DBA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 — Pre-outcome trust by gender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005041-C5ED-42D8-A7D5-61EB6FD00C3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15" name="Picture 214" descr="rq3_initial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Gender × outcome on trust update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35DBE2-971A-430C-A639-4E83E36F7E47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RQ3 — Strong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1585569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Arial"/>
              </a:rPr>
              <a:t>very confident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C246EB-65F4-4FB3-8362-DDD224F9C84B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— Weak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410382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Weak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hedged / 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295F4C-C8FD-42C5-ABDA-B79C9CB8993C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313B65-40EB-4359-8EBE-0102D0AC60E7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49500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 are just nice so they don’t know what they are doing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Mechanism: Male sponsors have more variance in their endorsements, women have smaller variance – higher average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6D8F00B-6365-4624-A003-8AEFFC5403B8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FCE76-5F18-4151-80F4-4FEB3CB37DD9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AF2F33-A9B5-8037-3D3C-1A2E4FCF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Women vs men’s assumed prior sponsorship endorsements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Women are less likely to denigrate a bad candidate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Men are more critical (on average) sponsors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consequence of this, women’s endorsements are not seen as credible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More rounds can “shut this off.”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But the takeaway is that do women need more time/seniority in order for their credibility to be taken seriously?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Do women have lower standards?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EF193-CB07-3F4F-1779-DB280500FC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0F67D-B3CA-05DA-DA08-758C900025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D50795D-8A32-47A0-868B-E611D278CFA6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C3BEE-486B-A19B-DA69-2C302C8345C8}"/>
              </a:ext>
            </a:extLst>
          </p:cNvPr>
          <p:cNvSpPr/>
          <p:nvPr/>
        </p:nvSpPr>
        <p:spPr>
          <a:xfrm>
            <a:off x="1795669" y="4634637"/>
            <a:ext cx="1186070" cy="17890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C7BE0C-B5ED-CEAC-D0DA-68D88BB40CBE}"/>
              </a:ext>
            </a:extLst>
          </p:cNvPr>
          <p:cNvSpPr/>
          <p:nvPr/>
        </p:nvSpPr>
        <p:spPr>
          <a:xfrm>
            <a:off x="3475382" y="4237072"/>
            <a:ext cx="927652" cy="12920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42596"/>
      </p:ext>
    </p:extLst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8257</TotalTime>
  <Words>1099</Words>
  <Application>Microsoft Office PowerPoint</Application>
  <PresentationFormat>Widescreen</PresentationFormat>
  <Paragraphs>182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92</cp:revision>
  <dcterms:created xsi:type="dcterms:W3CDTF">2016-03-10T13:41:29Z</dcterms:created>
  <dcterms:modified xsi:type="dcterms:W3CDTF">2026-04-07T22:06:24Z</dcterms:modified>
</cp:coreProperties>
</file>