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256" r:id="rId2"/>
    <p:sldId id="301" r:id="rId3"/>
    <p:sldId id="277" r:id="rId4"/>
    <p:sldId id="284" r:id="rId5"/>
    <p:sldId id="282" r:id="rId6"/>
    <p:sldId id="283" r:id="rId7"/>
    <p:sldId id="258" r:id="rId8"/>
    <p:sldId id="259" r:id="rId9"/>
    <p:sldId id="260" r:id="rId10"/>
    <p:sldId id="261" r:id="rId11"/>
    <p:sldId id="262" r:id="rId12"/>
    <p:sldId id="285" r:id="rId13"/>
    <p:sldId id="263" r:id="rId14"/>
    <p:sldId id="279" r:id="rId15"/>
    <p:sldId id="286" r:id="rId16"/>
    <p:sldId id="280" r:id="rId17"/>
    <p:sldId id="278" r:id="rId18"/>
    <p:sldId id="264" r:id="rId19"/>
    <p:sldId id="265" r:id="rId20"/>
    <p:sldId id="266" r:id="rId21"/>
    <p:sldId id="267" r:id="rId22"/>
    <p:sldId id="271" r:id="rId23"/>
    <p:sldId id="268" r:id="rId24"/>
    <p:sldId id="269" r:id="rId25"/>
    <p:sldId id="270" r:id="rId26"/>
    <p:sldId id="272" r:id="rId27"/>
    <p:sldId id="273" r:id="rId28"/>
    <p:sldId id="275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301"/>
            <p14:sldId id="277"/>
            <p14:sldId id="284"/>
            <p14:sldId id="282"/>
            <p14:sldId id="283"/>
            <p14:sldId id="258"/>
            <p14:sldId id="259"/>
            <p14:sldId id="260"/>
            <p14:sldId id="261"/>
            <p14:sldId id="262"/>
            <p14:sldId id="285"/>
            <p14:sldId id="263"/>
            <p14:sldId id="279"/>
            <p14:sldId id="286"/>
            <p14:sldId id="280"/>
            <p14:sldId id="278"/>
            <p14:sldId id="264"/>
            <p14:sldId id="265"/>
            <p14:sldId id="266"/>
            <p14:sldId id="267"/>
            <p14:sldId id="271"/>
            <p14:sldId id="268"/>
            <p14:sldId id="269"/>
            <p14:sldId id="270"/>
            <p14:sldId id="272"/>
            <p14:sldId id="273"/>
            <p14:sldId id="275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56" autoAdjust="0"/>
    <p:restoredTop sz="78865" autoAdjust="0"/>
  </p:normalViewPr>
  <p:slideViewPr>
    <p:cSldViewPr snapToGrid="0">
      <p:cViewPr varScale="1">
        <p:scale>
          <a:sx n="115" d="100"/>
          <a:sy n="115" d="100"/>
        </p:scale>
        <p:origin x="67" y="3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handoutMaster" Target="handoutMasters/handout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912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RQ3 is chronologically 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294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Incentive compatible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02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Provide a little more setup in terms of the decisions that they are making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72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Flip the axes between male and female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manipulation check</a:t>
            </a:r>
            <a:br>
              <a:rPr lang="en-US" dirty="0"/>
            </a:br>
            <a:r>
              <a:rPr lang="en-US" dirty="0"/>
              <a:t>endowed them with money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8992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Male and female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4308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115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1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10607040" y="-457200"/>
            <a:ext cx="2377440" cy="7772400"/>
          </a:xfrm>
          <a:prstGeom prst="parallelogram">
            <a:avLst>
              <a:gd name="adj" fmla="val 55000"/>
            </a:avLst>
          </a:prstGeom>
          <a:solidFill>
            <a:srgbClr val="99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harton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3108960" cy="877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598003"/>
            <a:ext cx="10515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i="0" dirty="0">
                <a:solidFill>
                  <a:srgbClr val="FFFFFF"/>
                </a:solidFill>
                <a:latin typeface="Arial"/>
              </a:rPr>
              <a:t>Who Gains More From Sponsorship?</a:t>
            </a:r>
            <a:endParaRPr sz="54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Jose Cervantez  ·  Erika Kirgios  ·  Rosalind Chow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CCD2E0"/>
                </a:solidFill>
                <a:latin typeface="Arial"/>
              </a:rPr>
              <a:t>April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EF9B2-01F8-09E6-9908-0963AA8C10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8046720" cy="8229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Goals for this talk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1463040" cy="5486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11183112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0" i="1">
                <a:solidFill>
                  <a:srgbClr val="5B657A"/>
                </a:solidFill>
                <a:latin typeface="Arial"/>
              </a:rPr>
              <a:t>Two things we'd love feedback on today: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97479"/>
            <a:ext cx="164592" cy="1234439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606039"/>
            <a:ext cx="10972800" cy="15087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r>
              <a:rPr sz="2400" b="1" i="0">
                <a:solidFill>
                  <a:srgbClr val="00143D"/>
                </a:solidFill>
                <a:latin typeface="Arial"/>
              </a:rPr>
              <a:t>Experimental design</a:t>
            </a:r>
          </a:p>
          <a:p>
            <a:pPr>
              <a:spcBef>
                <a:spcPts val="400"/>
              </a:spcBef>
            </a:pPr>
            <a:r>
              <a:rPr sz="2100" b="0" i="0">
                <a:solidFill>
                  <a:srgbClr val="1F2937"/>
                </a:solidFill>
                <a:latin typeface="Arial"/>
              </a:rPr>
              <a:t>anything to flag before we scale up and preregister?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26280"/>
            <a:ext cx="164592" cy="1234439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4434840"/>
            <a:ext cx="10972800" cy="836126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r>
              <a:rPr sz="2400" b="1" i="0" dirty="0">
                <a:solidFill>
                  <a:srgbClr val="00143D"/>
                </a:solidFill>
                <a:latin typeface="Arial"/>
              </a:rPr>
              <a:t>Interpretation of </a:t>
            </a:r>
            <a:r>
              <a:rPr lang="en-US" sz="2400" b="1" i="0" dirty="0">
                <a:solidFill>
                  <a:srgbClr val="00143D"/>
                </a:solidFill>
                <a:latin typeface="Arial"/>
              </a:rPr>
              <a:t>our </a:t>
            </a:r>
            <a:r>
              <a:rPr sz="2400" b="1" i="0" dirty="0">
                <a:solidFill>
                  <a:srgbClr val="00143D"/>
                </a:solidFill>
                <a:latin typeface="Arial"/>
              </a:rPr>
              <a:t>pilot</a:t>
            </a:r>
            <a:r>
              <a:rPr lang="en-US" sz="2400" b="1" i="0" dirty="0">
                <a:solidFill>
                  <a:srgbClr val="00143D"/>
                </a:solidFill>
                <a:latin typeface="Arial"/>
              </a:rPr>
              <a:t> data</a:t>
            </a:r>
            <a:endParaRPr sz="2400" b="1" i="0" dirty="0">
              <a:solidFill>
                <a:srgbClr val="00143D"/>
              </a:solidFill>
              <a:latin typeface="Arial"/>
            </a:endParaRPr>
          </a:p>
          <a:p>
            <a:pPr>
              <a:spcBef>
                <a:spcPts val="400"/>
              </a:spcBef>
            </a:pPr>
            <a:r>
              <a:rPr sz="2100" b="0" i="0" dirty="0">
                <a:solidFill>
                  <a:srgbClr val="1F2937"/>
                </a:solidFill>
                <a:latin typeface="Arial"/>
              </a:rPr>
              <a:t>we have a running theory, but alternatives are very welcome.</a:t>
            </a:r>
          </a:p>
        </p:txBody>
      </p:sp>
    </p:spTree>
    <p:extLst>
      <p:ext uri="{BB962C8B-B14F-4D97-AF65-F5344CB8AC3E}">
        <p14:creationId xmlns:p14="http://schemas.microsoft.com/office/powerpoint/2010/main" val="377450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7EE579-ACE7-BF23-19A1-3C427898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lide Number Placeholder 3">
            <a:extLst>
              <a:ext uri="{FF2B5EF4-FFF2-40B4-BE49-F238E27FC236}">
                <a16:creationId xmlns:a16="http://schemas.microsoft.com/office/drawing/2014/main" id="{670AA0C5-6E38-4C7E-9F69-E6FF8DE56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410809A-3BFB-4B4E-9031-A9AE0018A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3877056" y="5303520"/>
            <a:ext cx="4443984" cy="50065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dirty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 dirty="0">
                <a:solidFill>
                  <a:srgbClr val="011F5B"/>
                </a:solidFill>
                <a:latin typeface="Calibri"/>
              </a:rPr>
              <a:t>Robert Keller</a:t>
            </a:r>
          </a:p>
        </p:txBody>
      </p:sp>
    </p:spTree>
    <p:extLst>
      <p:ext uri="{BB962C8B-B14F-4D97-AF65-F5344CB8AC3E}">
        <p14:creationId xmlns:p14="http://schemas.microsoft.com/office/powerpoint/2010/main" val="609301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895344" y="55229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77056" y="5303520"/>
            <a:ext cx="4443984" cy="50065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dirty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 dirty="0">
                <a:solidFill>
                  <a:srgbClr val="011F5B"/>
                </a:solidFill>
                <a:latin typeface="Calibri"/>
              </a:rPr>
              <a:t>Susan Keller</a:t>
            </a:r>
            <a:endParaRPr lang="en-US" sz="1300" b="1" i="1" dirty="0">
              <a:solidFill>
                <a:srgbClr val="011F5B"/>
              </a:solidFill>
              <a:latin typeface="Calibri"/>
            </a:endParaRPr>
          </a:p>
        </p:txBody>
      </p:sp>
      <p:sp>
        <p:nvSpPr>
          <p:cNvPr id="500" name="Slide Number Placeholder 3">
            <a:extLst>
              <a:ext uri="{FF2B5EF4-FFF2-40B4-BE49-F238E27FC236}">
                <a16:creationId xmlns:a16="http://schemas.microsoft.com/office/drawing/2014/main" id="{6476980E-6401-4B26-BBFB-DE841CAD00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862290F-98C8-47C1-94CB-85B874F7882D}" type="slidenum">
              <a:rPr lang="en-US" smtClean="0"/>
              <a:pPr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9CA3A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9CA3A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9CA3A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9CA3A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9CA3AF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9CA3AF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r>
              <a:rPr sz="2200" b="1" i="0" dirty="0">
                <a:solidFill>
                  <a:srgbClr val="011F5B"/>
                </a:solidFill>
                <a:latin typeface="Calibri"/>
              </a:rPr>
              <a:t>How do you read the new letter after one successful outcome?</a:t>
            </a:r>
          </a:p>
        </p:txBody>
      </p:sp>
      <p:sp>
        <p:nvSpPr>
          <p:cNvPr id="501" name="Slide Number Placeholder 3">
            <a:extLst>
              <a:ext uri="{FF2B5EF4-FFF2-40B4-BE49-F238E27FC236}">
                <a16:creationId xmlns:a16="http://schemas.microsoft.com/office/drawing/2014/main" id="{E3A33801-F2DB-488D-9785-2E371B473C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1805426-5748-4DD7-B75D-2DDFAB1BA0F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02" name="Rounded Rectangle 501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4" name="Rectangle 503"/>
          <p:cNvSpPr/>
          <p:nvPr/>
        </p:nvSpPr>
        <p:spPr>
          <a:xfrm rot="20940000">
            <a:off x="822959" y="2331720"/>
            <a:ext cx="3657600" cy="1188720"/>
          </a:xfrm>
          <a:prstGeom prst="rect">
            <a:avLst/>
          </a:prstGeom>
          <a:noFill/>
          <a:ln w="508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2800" b="1" i="0" dirty="0">
                <a:solidFill>
                  <a:srgbClr val="15803D"/>
                </a:solidFill>
                <a:latin typeface="Arial"/>
              </a:rPr>
              <a:t>GOOD STUDENT  ✓</a:t>
            </a:r>
          </a:p>
        </p:txBody>
      </p:sp>
      <p:sp>
        <p:nvSpPr>
          <p:cNvPr id="505" name="Rectangle 504"/>
          <p:cNvSpPr/>
          <p:nvPr/>
        </p:nvSpPr>
        <p:spPr>
          <a:xfrm rot="20940000">
            <a:off x="822959" y="3547872"/>
            <a:ext cx="36576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ctr"/>
          <a:lstStyle/>
          <a:p>
            <a:pPr algn="ctr"/>
            <a:r>
              <a:rPr sz="1300" b="1" i="1">
                <a:solidFill>
                  <a:srgbClr val="15803D"/>
                </a:solidFill>
                <a:latin typeface="Arial"/>
              </a:rPr>
              <a:t>one year later</a:t>
            </a:r>
          </a:p>
        </p:txBody>
      </p:sp>
      <p:sp>
        <p:nvSpPr>
          <p:cNvPr id="506" name="Oval 505"/>
          <p:cNvSpPr/>
          <p:nvPr/>
        </p:nvSpPr>
        <p:spPr>
          <a:xfrm>
            <a:off x="8531352" y="1737360"/>
            <a:ext cx="2011680" cy="2011680"/>
          </a:xfrm>
          <a:prstGeom prst="ellipse">
            <a:avLst/>
          </a:prstGeom>
          <a:noFill/>
          <a:ln w="1587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7200" b="1" i="0">
                <a:solidFill>
                  <a:srgbClr val="B0B7C3"/>
                </a:solidFill>
                <a:latin typeface="Arial"/>
              </a:rPr>
              <a:t>?</a:t>
            </a:r>
          </a:p>
        </p:txBody>
      </p:sp>
      <p:sp>
        <p:nvSpPr>
          <p:cNvPr id="507" name="Rectangle 506"/>
          <p:cNvSpPr/>
          <p:nvPr/>
        </p:nvSpPr>
        <p:spPr>
          <a:xfrm>
            <a:off x="8257031" y="3794759"/>
            <a:ext cx="25603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1300" b="1" i="1">
                <a:solidFill>
                  <a:srgbClr val="6B7280"/>
                </a:solidFill>
                <a:latin typeface="Arial"/>
              </a:rPr>
              <a:t>how do you read this one?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9CA3A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9CA3A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9CA3A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13816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9CA3A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9CA3AF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9CA3AF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699248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r>
              <a:rPr sz="2200" b="1" i="0" dirty="0">
                <a:solidFill>
                  <a:srgbClr val="011F5B"/>
                </a:solidFill>
                <a:latin typeface="Calibri"/>
              </a:rPr>
              <a:t>Does one success buy Susan the same credibility it bought Robert?</a:t>
            </a:r>
          </a:p>
        </p:txBody>
      </p:sp>
      <p:sp>
        <p:nvSpPr>
          <p:cNvPr id="502" name="Slide Number Placeholder 3">
            <a:extLst>
              <a:ext uri="{FF2B5EF4-FFF2-40B4-BE49-F238E27FC236}">
                <a16:creationId xmlns:a16="http://schemas.microsoft.com/office/drawing/2014/main" id="{9910DD83-63EE-4A67-94DD-9BC741E19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8C1727D-8A3F-4222-A3E5-09914707AEC3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03" name="Rounded Rectangle 502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5" name="Rectangle 504"/>
          <p:cNvSpPr/>
          <p:nvPr/>
        </p:nvSpPr>
        <p:spPr>
          <a:xfrm rot="20940000">
            <a:off x="822959" y="2331720"/>
            <a:ext cx="3657600" cy="1188720"/>
          </a:xfrm>
          <a:prstGeom prst="rect">
            <a:avLst/>
          </a:prstGeom>
          <a:noFill/>
          <a:ln w="508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2800" b="1" i="0">
                <a:solidFill>
                  <a:srgbClr val="15803D"/>
                </a:solidFill>
                <a:latin typeface="Arial"/>
              </a:rPr>
              <a:t>GOOD STUDENT  ✓</a:t>
            </a:r>
          </a:p>
        </p:txBody>
      </p:sp>
      <p:sp>
        <p:nvSpPr>
          <p:cNvPr id="506" name="Rectangle 505"/>
          <p:cNvSpPr/>
          <p:nvPr/>
        </p:nvSpPr>
        <p:spPr>
          <a:xfrm rot="20940000">
            <a:off x="822959" y="3547872"/>
            <a:ext cx="36576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ctr"/>
          <a:lstStyle/>
          <a:p>
            <a:pPr algn="ctr"/>
            <a:r>
              <a:rPr sz="1300" b="1" i="1">
                <a:solidFill>
                  <a:srgbClr val="15803D"/>
                </a:solidFill>
                <a:latin typeface="Arial"/>
              </a:rPr>
              <a:t>one year later</a:t>
            </a:r>
          </a:p>
        </p:txBody>
      </p:sp>
      <p:sp>
        <p:nvSpPr>
          <p:cNvPr id="507" name="Oval 506"/>
          <p:cNvSpPr/>
          <p:nvPr/>
        </p:nvSpPr>
        <p:spPr>
          <a:xfrm>
            <a:off x="8531352" y="1737360"/>
            <a:ext cx="2011680" cy="2011680"/>
          </a:xfrm>
          <a:prstGeom prst="ellipse">
            <a:avLst/>
          </a:prstGeom>
          <a:noFill/>
          <a:ln w="1587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7200" b="1" i="0">
                <a:solidFill>
                  <a:srgbClr val="B0B7C3"/>
                </a:solidFill>
                <a:latin typeface="Arial"/>
              </a:rPr>
              <a:t>?</a:t>
            </a:r>
          </a:p>
        </p:txBody>
      </p:sp>
      <p:sp>
        <p:nvSpPr>
          <p:cNvPr id="508" name="Rectangle 507"/>
          <p:cNvSpPr/>
          <p:nvPr/>
        </p:nvSpPr>
        <p:spPr>
          <a:xfrm>
            <a:off x="8257031" y="3794759"/>
            <a:ext cx="25603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1300" b="1" i="1">
                <a:solidFill>
                  <a:srgbClr val="6B7280"/>
                </a:solidFill>
                <a:latin typeface="Arial"/>
              </a:rPr>
              <a:t>how do you read this one?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What is sponsorship?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>
                <a:solidFill>
                  <a:srgbClr val="111827"/>
                </a:solidFill>
                <a:latin typeface="Arial"/>
              </a:rPr>
              <a:t>Sponsorship is support provided to influence other people's perceptions of a protégé's skills, abilities, performance, and potential, with the intention of helping the protégé in their career.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91835"/>
            <a:ext cx="10972800" cy="235449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Public advocacy and recommendations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Endorsements to colleagues, clients, hiring committees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Introductions to high-status others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Vouching for skill, judgment, or fit</a:t>
            </a:r>
          </a:p>
        </p:txBody>
      </p:sp>
      <p:sp>
        <p:nvSpPr>
          <p:cNvPr id="201" name="Slide Number Placeholder 3">
            <a:extLst>
              <a:ext uri="{FF2B5EF4-FFF2-40B4-BE49-F238E27FC236}">
                <a16:creationId xmlns:a16="http://schemas.microsoft.com/office/drawing/2014/main" id="{2C1F1100-0B2F-4478-B42E-3A03F4C674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DF99A4A-470F-4203-94F7-2F8E64E32661}" type="slidenum">
              <a:rPr lang="en-US" smtClean="0"/>
              <a:pPr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Sponsorship involves real risk for sponsors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6B7280"/>
                </a:solidFill>
                <a:latin typeface="Arial"/>
              </a:rPr>
              <a:t>When a sponsor stakes their reputation on a protégé: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5212080" cy="333756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011F5B"/>
                </a:solidFill>
                <a:latin typeface="Arial"/>
              </a:rPr>
              <a:t>When the protégé succeeds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gains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Reputation lifts with the protégé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strengthen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48840"/>
            <a:ext cx="5212080" cy="3337560"/>
          </a:xfrm>
          <a:prstGeom prst="roundRect">
            <a:avLst/>
          </a:prstGeom>
          <a:solidFill>
            <a:srgbClr val="FDE2E2"/>
          </a:solidFill>
          <a:ln w="1905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990000"/>
                </a:solidFill>
                <a:latin typeface="Arial"/>
              </a:rPr>
              <a:t>When the protégé fails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loses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Future endorsements are discounted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may weaken</a:t>
            </a:r>
          </a:p>
        </p:txBody>
      </p:sp>
      <p:sp>
        <p:nvSpPr>
          <p:cNvPr id="202" name="Slide Number Placeholder 3">
            <a:extLst>
              <a:ext uri="{FF2B5EF4-FFF2-40B4-BE49-F238E27FC236}">
                <a16:creationId xmlns:a16="http://schemas.microsoft.com/office/drawing/2014/main" id="{C0B996CF-7452-49BF-B277-569111839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1F17C1-29F7-4E56-9601-0C8C99D8C01E}" type="slidenum">
              <a:rPr lang="en-US" smtClean="0"/>
              <a:pPr/>
              <a:t>8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Research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RQ1    </a:t>
            </a:r>
            <a:r>
              <a:rPr lang="en-US" sz="2200" b="1" dirty="0">
                <a:solidFill>
                  <a:srgbClr val="011F5B"/>
                </a:solidFill>
              </a:rPr>
              <a:t>Are male and female sponsors trusted equally before any outcome is observed?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02920" y="29718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RQ2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When a sponsor’s protégé succeeds or fails, does the sponsor’s gender shape how audiences react?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RQ3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Does it matter how confident the sponsor was when they made the endorsement?</a:t>
            </a:r>
          </a:p>
        </p:txBody>
      </p:sp>
      <p:sp>
        <p:nvSpPr>
          <p:cNvPr id="203" name="Slide Number Placeholder 3">
            <a:extLst>
              <a:ext uri="{FF2B5EF4-FFF2-40B4-BE49-F238E27FC236}">
                <a16:creationId xmlns:a16="http://schemas.microsoft.com/office/drawing/2014/main" id="{CB360B25-41EB-4CDC-B611-783C980A8F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88AD538-F77B-44D6-BAE5-554C63FAB4BA}" type="slidenum">
              <a:rPr lang="en-US" smtClean="0"/>
              <a:pPr/>
              <a:t>9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lide Number Placeholder 3">
            <a:extLst>
              <a:ext uri="{FF2B5EF4-FFF2-40B4-BE49-F238E27FC236}">
                <a16:creationId xmlns:a16="http://schemas.microsoft.com/office/drawing/2014/main" id="{E0E0B616-1893-4626-88F5-27D4B80A42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A7DE0CE-2F4B-41B4-9E6F-4E09BD8E348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205" name="TextBox 204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Protégé performance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2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Sponsor endorsements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3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Audience evaluation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1:  Where do the candidates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8574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6B7280"/>
                </a:solidFill>
                <a:latin typeface="Arial"/>
              </a:rPr>
              <a:t>Real participants completed three professional-ability tasks (Barron et al., 2025).</a:t>
            </a:r>
          </a:p>
        </p:txBody>
      </p:sp>
      <p:pic>
        <p:nvPicPr>
          <p:cNvPr id="4" name="Picture 3" descr="stage1_tasks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891" y="1192894"/>
            <a:ext cx="8107266" cy="4729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Word search  ·  General-knowledge quiz  ·  Logical-reasoning (Raven's matrices)</a:t>
            </a:r>
          </a:p>
        </p:txBody>
      </p:sp>
      <p:sp>
        <p:nvSpPr>
          <p:cNvPr id="205" name="Slide Number Placeholder 3">
            <a:extLst>
              <a:ext uri="{FF2B5EF4-FFF2-40B4-BE49-F238E27FC236}">
                <a16:creationId xmlns:a16="http://schemas.microsoft.com/office/drawing/2014/main" id="{E5E9CEA3-2FB5-40FF-8728-CB6B8DBBAF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F7F67-5F11-4B5B-A115-046EA0C21CC5}" type="slidenum">
              <a:rPr lang="en-US" smtClean="0"/>
              <a:pPr/>
              <a:t>11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Protégé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Sponsor endorsements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Audience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2:  </a:t>
            </a:r>
            <a:r>
              <a:rPr lang="en-US" sz="3200" b="1" dirty="0">
                <a:solidFill>
                  <a:srgbClr val="011F5B"/>
                </a:solidFill>
                <a:latin typeface="Arial"/>
              </a:rPr>
              <a:t>Sponsors made decisions on two candidates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4572000" cy="29700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dirty="0">
                <a:solidFill>
                  <a:srgbClr val="111827"/>
                </a:solidFill>
                <a:latin typeface="Arial"/>
              </a:rPr>
              <a:t>•  </a:t>
            </a:r>
            <a:r>
              <a:rPr sz="1800" b="0" dirty="0">
                <a:solidFill>
                  <a:srgbClr val="111827"/>
                </a:solidFill>
                <a:latin typeface="Arial"/>
              </a:rPr>
              <a:t>Each sponsor sees 10 candidate pairs and makes 10 endorsements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Sponsor moves a slider to express which candidate they favor and how confident they are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Their sliders become the endorsements that Stage 3 evaluators see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We </a:t>
            </a:r>
            <a:r>
              <a:rPr lang="en-US" sz="1800" b="0" dirty="0">
                <a:solidFill>
                  <a:srgbClr val="111827"/>
                </a:solidFill>
                <a:latin typeface="Arial"/>
              </a:rPr>
              <a:t>created a lot of comparisons to increase the variance in sponsor decisions</a:t>
            </a:r>
            <a:endParaRPr sz="1800" b="0" dirty="0">
              <a:solidFill>
                <a:srgbClr val="111827"/>
              </a:solidFill>
              <a:latin typeface="Arial"/>
            </a:endParaRPr>
          </a:p>
        </p:txBody>
      </p:sp>
      <p:pic>
        <p:nvPicPr>
          <p:cNvPr id="5" name="Picture 4" descr="stage2_candidate_screen.png"/>
          <p:cNvPicPr>
            <a:picLocks noChangeAspect="1"/>
          </p:cNvPicPr>
          <p:nvPr/>
        </p:nvPicPr>
        <p:blipFill>
          <a:blip r:embed="rId3"/>
          <a:srcRect r="14676"/>
          <a:stretch>
            <a:fillRect/>
          </a:stretch>
        </p:blipFill>
        <p:spPr>
          <a:xfrm>
            <a:off x="5253825" y="1600200"/>
            <a:ext cx="6355079" cy="4580644"/>
          </a:xfrm>
          <a:prstGeom prst="rect">
            <a:avLst/>
          </a:prstGeom>
        </p:spPr>
      </p:pic>
      <p:sp>
        <p:nvSpPr>
          <p:cNvPr id="206" name="Slide Number Placeholder 3">
            <a:extLst>
              <a:ext uri="{FF2B5EF4-FFF2-40B4-BE49-F238E27FC236}">
                <a16:creationId xmlns:a16="http://schemas.microsoft.com/office/drawing/2014/main" id="{E2A5B9A1-29AB-40F9-A389-D33CD2E213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0DC4AF-1C01-4380-8C98-CD7D0FABA51B}" type="slidenum">
              <a:rPr lang="en-US" smtClean="0"/>
              <a:pPr/>
              <a:t>13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01CA0-C5D3-9BC4-6332-059F6F430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22A51-5408-42C4-EE93-20EF028FC3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B78FF10-2160-4389-9669-EF3A0C6F12B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>
                <a:solidFill>
                  <a:srgbClr val="1F2937"/>
                </a:solidFill>
                <a:latin typeface="Calibri"/>
              </a:rPr>
              <a:t>Each sponsor earns </a:t>
            </a:r>
            <a:r>
              <a:rPr sz="2600" b="1">
                <a:solidFill>
                  <a:srgbClr val="00143D"/>
                </a:solidFill>
                <a:latin typeface="Calibri"/>
              </a:rPr>
              <a:t>$1 flat</a:t>
            </a:r>
            <a:r>
              <a:rPr sz="2600">
                <a:solidFill>
                  <a:srgbClr val="1F2937"/>
                </a:solidFill>
                <a:latin typeface="Calibri"/>
              </a:rPr>
              <a:t> plus up to </a:t>
            </a:r>
            <a:r>
              <a:rPr sz="2600" b="1">
                <a:solidFill>
                  <a:srgbClr val="00143D"/>
                </a:solidFill>
                <a:latin typeface="Calibri"/>
              </a:rPr>
              <a:t>$3 bonus</a:t>
            </a:r>
            <a:r>
              <a:rPr sz="2600">
                <a:solidFill>
                  <a:srgbClr val="1F2937"/>
                </a:solidFill>
                <a:latin typeface="Calibri"/>
              </a:rPr>
              <a:t> per session.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500" i="1" dirty="0">
                <a:solidFill>
                  <a:srgbClr val="5B657A"/>
                </a:solidFill>
                <a:latin typeface="Calibri"/>
              </a:rPr>
              <a:t>The bonus is based on ONE randomly selected endorsement, paid only if the endorsed candidate actually scored higher, scaling with how much a downstream evaluator wagered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$3 × evaluator's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304288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no bonus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1" dirty="0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$1.50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 dirty="0">
                <a:solidFill>
                  <a:srgbClr val="B12121"/>
                </a:solidFill>
                <a:latin typeface="Calibri"/>
              </a:rPr>
              <a:t>wrong:  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$3.00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2011680"/>
            <a:ext cx="1115568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00" b="1" i="1">
                <a:solidFill>
                  <a:srgbClr val="00143D"/>
                </a:solidFill>
                <a:latin typeface="Calibri"/>
              </a:rPr>
              <a:t>n = 200 sponsors  ·  10 endorsements each</a:t>
            </a:r>
          </a:p>
        </p:txBody>
      </p:sp>
    </p:spTree>
    <p:extLst>
      <p:ext uri="{BB962C8B-B14F-4D97-AF65-F5344CB8AC3E}">
        <p14:creationId xmlns:p14="http://schemas.microsoft.com/office/powerpoint/2010/main" val="2516457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Protégé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Sponsor endorsements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Audience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88E67-56AB-B864-A4EF-C8F1CE3439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A7B10F6-D787-491A-A00D-F0F7AA9E4495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0" i="1" dirty="0">
                <a:solidFill>
                  <a:srgbClr val="5B657A"/>
                </a:solidFill>
                <a:latin typeface="Calibri"/>
              </a:rPr>
              <a:t>n = 403 Prolific evaluators (passed 5/5 comprehension checks</a:t>
            </a:r>
            <a:r>
              <a:rPr lang="en-US" sz="1800" b="0" i="1" dirty="0">
                <a:solidFill>
                  <a:srgbClr val="5B657A"/>
                </a:solidFill>
                <a:latin typeface="Calibri"/>
              </a:rPr>
              <a:t> and gender manipulation check</a:t>
            </a:r>
            <a:r>
              <a:rPr sz="1800" b="0" i="1" dirty="0">
                <a:solidFill>
                  <a:srgbClr val="5B657A"/>
                </a:solidFill>
                <a:latin typeface="Calibri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000" b="1" i="0" dirty="0">
                <a:solidFill>
                  <a:srgbClr val="00143D"/>
                </a:solidFill>
                <a:latin typeface="Calibri"/>
              </a:rPr>
              <a:t>Each evaluator is randomly assigned to ONE sponsor and sees: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the sponsor's name + colored avatar (signals gender)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78608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that sponsor's endorsement of one candidate from a pair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72384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how confident the sponsor was on that endorsement (Strong / Weak)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6160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a slider to wager part of a $0.50 bank on the endorser being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96512"/>
            <a:ext cx="11155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000" b="0" i="1">
                <a:solidFill>
                  <a:srgbClr val="5B657A"/>
                </a:solidFill>
                <a:latin typeface="Calibri"/>
              </a:rPr>
              <a:t>Each evaluator sees TWO decisions back-to-back, with the SAME sponsor on different candidate pairs: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5000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00143D"/>
                </a:solidFill>
                <a:latin typeface="Calibri"/>
              </a:rPr>
              <a:t>First wager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604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116B45"/>
                </a:solidFill>
                <a:latin typeface="Calibri"/>
              </a:rPr>
              <a:t>outcome revealed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00143D"/>
                </a:solidFill>
                <a:latin typeface="Calibri"/>
              </a:rPr>
              <a:t>Second wager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35424" y="4965192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ight Arrow 16"/>
          <p:cNvSpPr/>
          <p:nvPr/>
        </p:nvSpPr>
        <p:spPr>
          <a:xfrm>
            <a:off x="7141464" y="4965192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5650992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800" b="1" i="0">
                <a:solidFill>
                  <a:srgbClr val="00143D"/>
                </a:solidFill>
                <a:latin typeface="Calibri"/>
              </a:rPr>
              <a:t>trust change  =  (Second wager)  −  (First wager)</a:t>
            </a:r>
          </a:p>
        </p:txBody>
      </p:sp>
    </p:spTree>
    <p:extLst>
      <p:ext uri="{BB962C8B-B14F-4D97-AF65-F5344CB8AC3E}">
        <p14:creationId xmlns:p14="http://schemas.microsoft.com/office/powerpoint/2010/main" val="812263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 animBg="1"/>
      <p:bldP spid="14" grpId="0" animBg="1"/>
      <p:bldP spid="15" grpId="0" animBg="1"/>
      <p:bldP spid="16" grpId="0" animBg="1"/>
      <p:bldP spid="17" grpId="0" animBg="1"/>
      <p:bldP spid="1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D3016-2531-3594-F5D4-DE68161502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4D4DDC8-3CB5-462D-8BA5-B5D26B7390EA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For each decision, you start with a </a:t>
            </a:r>
            <a:r>
              <a:rPr sz="2600" b="1" i="0">
                <a:solidFill>
                  <a:srgbClr val="00143D"/>
                </a:solidFill>
                <a:latin typeface="Calibri"/>
              </a:rPr>
              <a:t>$0.50 bank.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0" i="1" dirty="0">
                <a:solidFill>
                  <a:srgbClr val="5B657A"/>
                </a:solidFill>
                <a:latin typeface="Calibri"/>
              </a:rPr>
              <a:t>You wager part of your bank on the endorser being right.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+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−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1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$0.75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B12121"/>
                </a:solidFill>
                <a:latin typeface="Calibri"/>
              </a:rPr>
              <a:t>wrong:  $0.25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99048"/>
            <a:ext cx="111556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One randomly selected decision determines the bonus.</a:t>
            </a:r>
          </a:p>
        </p:txBody>
      </p:sp>
    </p:spTree>
    <p:extLst>
      <p:ext uri="{BB962C8B-B14F-4D97-AF65-F5344CB8AC3E}">
        <p14:creationId xmlns:p14="http://schemas.microsoft.com/office/powerpoint/2010/main" val="3103675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3:  </a:t>
            </a:r>
            <a:r>
              <a:rPr lang="en-US" sz="3200" b="1" i="0" dirty="0">
                <a:solidFill>
                  <a:srgbClr val="011F5B"/>
                </a:solidFill>
                <a:latin typeface="Arial"/>
              </a:rPr>
              <a:t>Evaluators wager on sponsorship decisions from the previous stage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2471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6B7280"/>
                </a:solidFill>
                <a:latin typeface="Arial"/>
              </a:rPr>
              <a:t>WE VARY THREE THINGS</a:t>
            </a:r>
          </a:p>
        </p:txBody>
      </p:sp>
      <p:sp>
        <p:nvSpPr>
          <p:cNvPr id="207" name="Slide Number Placeholder 3">
            <a:extLst>
              <a:ext uri="{FF2B5EF4-FFF2-40B4-BE49-F238E27FC236}">
                <a16:creationId xmlns:a16="http://schemas.microsoft.com/office/drawing/2014/main" id="{BA6A12A3-B136-4760-90AF-5858779DF3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DA0BC19-D747-4BF2-BE3E-BA37F6138FD8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208" name="Rounded Rectangle 207"/>
          <p:cNvSpPr/>
          <p:nvPr/>
        </p:nvSpPr>
        <p:spPr>
          <a:xfrm>
            <a:off x="393192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9" name="Rounded Rectangle 208"/>
          <p:cNvSpPr/>
          <p:nvPr/>
        </p:nvSpPr>
        <p:spPr>
          <a:xfrm>
            <a:off x="4242816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0" name="Rounded Rectangle 209"/>
          <p:cNvSpPr/>
          <p:nvPr/>
        </p:nvSpPr>
        <p:spPr>
          <a:xfrm>
            <a:off x="8092440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576072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1.  Sponsor gender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576072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The sponsor's first name + colored avatar signal their gender.</a:t>
            </a:r>
          </a:p>
        </p:txBody>
      </p:sp>
      <p:sp>
        <p:nvSpPr>
          <p:cNvPr id="213" name="Oval 212"/>
          <p:cNvSpPr/>
          <p:nvPr/>
        </p:nvSpPr>
        <p:spPr>
          <a:xfrm>
            <a:off x="667512" y="2971800"/>
            <a:ext cx="640080" cy="640080"/>
          </a:xfrm>
          <a:prstGeom prst="ellipse">
            <a:avLst/>
          </a:prstGeom>
          <a:solidFill>
            <a:srgbClr val="FCE7F3"/>
          </a:solidFill>
          <a:ln w="508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1472184" y="3063240"/>
            <a:ext cx="164592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EC4899"/>
                </a:solidFill>
                <a:latin typeface="Calibri"/>
              </a:rPr>
              <a:t>Woman</a:t>
            </a:r>
          </a:p>
        </p:txBody>
      </p:sp>
      <p:sp>
        <p:nvSpPr>
          <p:cNvPr id="215" name="Oval 214"/>
          <p:cNvSpPr/>
          <p:nvPr/>
        </p:nvSpPr>
        <p:spPr>
          <a:xfrm>
            <a:off x="667512" y="4114800"/>
            <a:ext cx="640080" cy="640080"/>
          </a:xfrm>
          <a:prstGeom prst="ellipse">
            <a:avLst/>
          </a:prstGeom>
          <a:solidFill>
            <a:srgbClr val="DBEAFE"/>
          </a:solidFill>
          <a:ln w="508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6" name="TextBox 215"/>
          <p:cNvSpPr txBox="1"/>
          <p:nvPr/>
        </p:nvSpPr>
        <p:spPr>
          <a:xfrm>
            <a:off x="1472184" y="4206240"/>
            <a:ext cx="164592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3B82F6"/>
                </a:solidFill>
                <a:latin typeface="Calibri"/>
              </a:rPr>
              <a:t>Man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425696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2.  Endorsement strength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425696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Sponsors used a 0–100 slider to choose a candidate. Pushed near one end = Strong (very sure), left near the middle = Weak (barely committed).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8275319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3.  Outcome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275319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An endorsement was right if the endorsed candidate actually outscored the other on logical-reasoning.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9029700" y="3063239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CORRECT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275319" y="3611879"/>
            <a:ext cx="3337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right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029700" y="42062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D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400" b="1" i="0">
                <a:solidFill>
                  <a:srgbClr val="B12121"/>
                </a:solidFill>
                <a:latin typeface="Calibri"/>
              </a:rPr>
              <a:t>WRONG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8275319" y="4754879"/>
            <a:ext cx="3337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wrong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35424" y="3273552"/>
            <a:ext cx="3118104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1" i="0">
                <a:solidFill>
                  <a:srgbClr val="5B657A"/>
                </a:solidFill>
                <a:latin typeface="Calibri"/>
              </a:rPr>
              <a:t>ENDORSER CONFIDENCE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4535424" y="3584448"/>
            <a:ext cx="3118104" cy="201168"/>
          </a:xfrm>
          <a:prstGeom prst="roundRect">
            <a:avLst>
              <a:gd name="adj" fmla="val 50000"/>
            </a:avLst>
          </a:prstGeom>
          <a:solidFill>
            <a:srgbClr val="E5EAF3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5" name="Rounded Rectangle 234"/>
          <p:cNvSpPr/>
          <p:nvPr/>
        </p:nvSpPr>
        <p:spPr>
          <a:xfrm>
            <a:off x="4909596" y="3584448"/>
            <a:ext cx="342991" cy="201168"/>
          </a:xfrm>
          <a:prstGeom prst="roundRect">
            <a:avLst>
              <a:gd name="adj" fmla="val 50000"/>
            </a:avLst>
          </a:prstGeom>
          <a:solidFill>
            <a:srgbClr val="B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6" name="Rounded Rectangle 235"/>
          <p:cNvSpPr/>
          <p:nvPr/>
        </p:nvSpPr>
        <p:spPr>
          <a:xfrm>
            <a:off x="6936364" y="3584448"/>
            <a:ext cx="342991" cy="201168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7" name="TextBox 236"/>
          <p:cNvSpPr txBox="1"/>
          <p:nvPr/>
        </p:nvSpPr>
        <p:spPr>
          <a:xfrm>
            <a:off x="4443984" y="3803904"/>
            <a:ext cx="320040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5B657A"/>
                </a:solidFill>
                <a:latin typeface="Calibri"/>
              </a:rPr>
              <a:t>0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424928" y="3803904"/>
            <a:ext cx="320040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5B657A"/>
                </a:solidFill>
                <a:latin typeface="Calibri"/>
              </a:rPr>
              <a:t>100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55312" y="4005072"/>
            <a:ext cx="1051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B12121"/>
                </a:solidFill>
                <a:latin typeface="Calibri"/>
              </a:rPr>
              <a:t>Weak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55312" y="4261104"/>
            <a:ext cx="1051560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0" i="1">
                <a:solidFill>
                  <a:srgbClr val="5B657A"/>
                </a:solidFill>
                <a:latin typeface="Calibri"/>
              </a:rPr>
              <a:t>12–23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6582079" y="4005072"/>
            <a:ext cx="1051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00143D"/>
                </a:solidFill>
                <a:latin typeface="Calibri"/>
              </a:rPr>
              <a:t>Strong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6582079" y="4261104"/>
            <a:ext cx="1051560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0" i="1">
                <a:solidFill>
                  <a:srgbClr val="5B657A"/>
                </a:solidFill>
                <a:latin typeface="Calibri"/>
              </a:rPr>
              <a:t>77–88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1:  Initial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An evaluator sees one sponsor's confident endorsement and bets a fraction of their $0.50 bank.</a:t>
            </a:r>
          </a:p>
        </p:txBody>
      </p:sp>
      <p:sp>
        <p:nvSpPr>
          <p:cNvPr id="208" name="Slide Number Placeholder 3">
            <a:extLst>
              <a:ext uri="{FF2B5EF4-FFF2-40B4-BE49-F238E27FC236}">
                <a16:creationId xmlns:a16="http://schemas.microsoft.com/office/drawing/2014/main" id="{8D05B4F1-FC0E-4B35-B1ED-C478513F8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C039CF3-F676-4ABB-AB5D-181C9A12C2F1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209" name="Picture 208" descr="W_correct_strong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2:  Outcome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endorser was CORRECT. The evaluator's bank goes up.  (We also run a 'wrong' variant.)</a:t>
            </a:r>
          </a:p>
        </p:txBody>
      </p:sp>
      <p:sp>
        <p:nvSpPr>
          <p:cNvPr id="209" name="Slide Number Placeholder 3">
            <a:extLst>
              <a:ext uri="{FF2B5EF4-FFF2-40B4-BE49-F238E27FC236}">
                <a16:creationId xmlns:a16="http://schemas.microsoft.com/office/drawing/2014/main" id="{297B77C9-43B3-46C1-996A-821C66E057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32AE8C2-DFC8-4962-A512-91142A2F63A4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210" name="Picture 209" descr="W_correct_strong_d2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41655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3:  Second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same sponsor, a different candidate pair.  How much does the evaluator wager now?</a:t>
            </a:r>
          </a:p>
        </p:txBody>
      </p:sp>
      <p:sp>
        <p:nvSpPr>
          <p:cNvPr id="210" name="Slide Number Placeholder 3">
            <a:extLst>
              <a:ext uri="{FF2B5EF4-FFF2-40B4-BE49-F238E27FC236}">
                <a16:creationId xmlns:a16="http://schemas.microsoft.com/office/drawing/2014/main" id="{C53DC1F7-5FD6-425C-9CF0-1889CF282E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D95FE1-4089-45B4-A36C-0256011A0793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211" name="Picture 210" descr="W_correct_strong_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003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RQ1</a:t>
            </a:r>
            <a:r>
              <a:rPr lang="en-US" sz="2600" b="1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How much did evaluators wager on the first decision?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b gender  </a:t>
            </a:r>
            <a:r>
              <a:rPr sz="1700" b="1">
                <a:solidFill>
                  <a:srgbClr val="011F5B"/>
                </a:solidFill>
                <a:latin typeface="Arial"/>
              </a:rPr>
              <a:t>-1.06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11827"/>
                </a:solidFill>
                <a:latin typeface="Arial"/>
              </a:rPr>
              <a:t>p  </a:t>
            </a:r>
            <a:r>
              <a:rPr sz="1700" b="1">
                <a:solidFill>
                  <a:srgbClr val="111827"/>
                </a:solidFill>
                <a:latin typeface="Arial"/>
              </a:rPr>
              <a:t>= .812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   </a:t>
            </a:r>
            <a:r>
              <a:rPr sz="1400" b="1">
                <a:solidFill>
                  <a:srgbClr val="6B7280"/>
                </a:solidFill>
                <a:latin typeface="Arial"/>
              </a:rPr>
              <a:t>no gender effect</a:t>
            </a:r>
          </a:p>
        </p:txBody>
      </p:sp>
      <p:sp>
        <p:nvSpPr>
          <p:cNvPr id="214" name="Slide Number Placeholder 3">
            <a:extLst>
              <a:ext uri="{FF2B5EF4-FFF2-40B4-BE49-F238E27FC236}">
                <a16:creationId xmlns:a16="http://schemas.microsoft.com/office/drawing/2014/main" id="{FC142386-DEDB-4088-90EC-5A01284463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152DB2A-018C-4FE0-9B70-C71C0852F319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215" name="Picture 214" descr="rq1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461DB-4C47-456E-19EE-7DBC80297E3B}"/>
              </a:ext>
            </a:extLst>
          </p:cNvPr>
          <p:cNvSpPr/>
          <p:nvPr/>
        </p:nvSpPr>
        <p:spPr>
          <a:xfrm>
            <a:off x="5126636" y="1645920"/>
            <a:ext cx="6913084" cy="46874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04D4AA-5082-AA77-8301-0E45446B466A}"/>
              </a:ext>
            </a:extLst>
          </p:cNvPr>
          <p:cNvSpPr/>
          <p:nvPr/>
        </p:nvSpPr>
        <p:spPr>
          <a:xfrm>
            <a:off x="8027232" y="112425"/>
            <a:ext cx="4012487" cy="36901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003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RQ2</a:t>
            </a:r>
            <a:r>
              <a:rPr lang="en-US" sz="2600" b="1" i="0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How much did one outcome change evaluator wagers?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+15.0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+4.3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-11.60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.062</a:t>
            </a:r>
          </a:p>
        </p:txBody>
      </p:sp>
      <p:sp>
        <p:nvSpPr>
          <p:cNvPr id="211" name="Slide Number Placeholder 3">
            <a:extLst>
              <a:ext uri="{FF2B5EF4-FFF2-40B4-BE49-F238E27FC236}">
                <a16:creationId xmlns:a16="http://schemas.microsoft.com/office/drawing/2014/main" id="{29F8E95F-F92A-4D2C-BA95-C7E10742A5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9AB970C-8672-4988-8838-61247889C57C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72ACD-6285-FBFE-44E4-6E94B4992440}"/>
              </a:ext>
            </a:extLst>
          </p:cNvPr>
          <p:cNvSpPr/>
          <p:nvPr/>
        </p:nvSpPr>
        <p:spPr>
          <a:xfrm>
            <a:off x="11542356" y="2378765"/>
            <a:ext cx="497364" cy="39822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2" name="Picture 211" descr="rq1_gender_x_out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D570E96-E54B-5B65-93B9-023303B58143}"/>
              </a:ext>
            </a:extLst>
          </p:cNvPr>
          <p:cNvSpPr/>
          <p:nvPr/>
        </p:nvSpPr>
        <p:spPr>
          <a:xfrm>
            <a:off x="6272299" y="2450891"/>
            <a:ext cx="5536812" cy="298604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EE36CA-69EA-93EE-7DED-EE6F60649D93}"/>
              </a:ext>
            </a:extLst>
          </p:cNvPr>
          <p:cNvSpPr/>
          <p:nvPr/>
        </p:nvSpPr>
        <p:spPr>
          <a:xfrm>
            <a:off x="7452359" y="167515"/>
            <a:ext cx="4494801" cy="15394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10015512" y="261068"/>
            <a:ext cx="1775526" cy="128016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011F5B"/>
                </a:solidFill>
                <a:latin typeface="Arial"/>
              </a:rPr>
              <a:t>Δ Male  </a:t>
            </a:r>
            <a:r>
              <a:rPr sz="1500" b="1" dirty="0">
                <a:solidFill>
                  <a:srgbClr val="011F5B"/>
                </a:solidFill>
                <a:latin typeface="Arial"/>
              </a:rPr>
              <a:t>+16.8</a:t>
            </a:r>
          </a:p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990000"/>
                </a:solidFill>
                <a:latin typeface="Arial"/>
              </a:rPr>
              <a:t>Δ Female  </a:t>
            </a:r>
            <a:r>
              <a:rPr sz="1500" b="1" dirty="0">
                <a:solidFill>
                  <a:srgbClr val="990000"/>
                </a:solidFill>
                <a:latin typeface="Arial"/>
              </a:rPr>
              <a:t>+6.0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b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-13.01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p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= .113</a:t>
            </a:r>
          </a:p>
        </p:txBody>
      </p:sp>
      <p:sp>
        <p:nvSpPr>
          <p:cNvPr id="212" name="Slide Number Placeholder 3">
            <a:extLst>
              <a:ext uri="{FF2B5EF4-FFF2-40B4-BE49-F238E27FC236}">
                <a16:creationId xmlns:a16="http://schemas.microsoft.com/office/drawing/2014/main" id="{85F90AF4-29B7-4FED-BD53-B1D1B7325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36629C-C071-45B7-8387-2682D7526E9A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213" name="Picture 212" descr="rq2_strong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6FB179C-7B51-1FA0-AC3E-667344EA1151}"/>
              </a:ext>
            </a:extLst>
          </p:cNvPr>
          <p:cNvGrpSpPr/>
          <p:nvPr/>
        </p:nvGrpSpPr>
        <p:grpSpPr>
          <a:xfrm>
            <a:off x="7580694" y="274320"/>
            <a:ext cx="2434818" cy="1280160"/>
            <a:chOff x="7580694" y="274320"/>
            <a:chExt cx="2434818" cy="12801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4842B0D-1563-5F77-5B18-9D0F0FD8C625}"/>
                </a:ext>
              </a:extLst>
            </p:cNvPr>
            <p:cNvGrpSpPr/>
            <p:nvPr/>
          </p:nvGrpSpPr>
          <p:grpSpPr>
            <a:xfrm>
              <a:off x="7580694" y="274320"/>
              <a:ext cx="2434818" cy="1280160"/>
              <a:chOff x="6766560" y="292608"/>
              <a:chExt cx="2434818" cy="1280160"/>
            </a:xfrm>
          </p:grpSpPr>
          <p:sp>
            <p:nvSpPr>
              <p:cNvPr id="214" name="Rounded Rectangle 213"/>
              <p:cNvSpPr/>
              <p:nvPr/>
            </p:nvSpPr>
            <p:spPr>
              <a:xfrm>
                <a:off x="6766560" y="292608"/>
                <a:ext cx="2331720" cy="1243584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2700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5" name="TextBox 214"/>
              <p:cNvSpPr txBox="1"/>
              <p:nvPr/>
            </p:nvSpPr>
            <p:spPr>
              <a:xfrm>
                <a:off x="6894576" y="347472"/>
                <a:ext cx="2075687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5B657A"/>
                    </a:solidFill>
                    <a:latin typeface="Arial"/>
                  </a:rPr>
                  <a:t>ENDORSER CONFIDENCE</a:t>
                </a:r>
              </a:p>
            </p:txBody>
          </p:sp>
          <p:sp>
            <p:nvSpPr>
              <p:cNvPr id="216" name="Rounded Rectangle 215"/>
              <p:cNvSpPr/>
              <p:nvPr/>
            </p:nvSpPr>
            <p:spPr>
              <a:xfrm>
                <a:off x="6894576" y="640080"/>
                <a:ext cx="2075687" cy="201168"/>
              </a:xfrm>
              <a:prstGeom prst="roundRect">
                <a:avLst>
                  <a:gd name="adj" fmla="val 50000"/>
                </a:avLst>
              </a:prstGeom>
              <a:solidFill>
                <a:srgbClr val="E5EAF3"/>
              </a:solidFill>
              <a:ln w="9525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8" name="TextBox 217"/>
              <p:cNvSpPr txBox="1"/>
              <p:nvPr/>
            </p:nvSpPr>
            <p:spPr>
              <a:xfrm>
                <a:off x="6803136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l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0</a:t>
                </a:r>
              </a:p>
            </p:txBody>
          </p:sp>
          <p:sp>
            <p:nvSpPr>
              <p:cNvPr id="219" name="TextBox 218"/>
              <p:cNvSpPr txBox="1"/>
              <p:nvPr/>
            </p:nvSpPr>
            <p:spPr>
              <a:xfrm>
                <a:off x="8741663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r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100</a:t>
                </a:r>
              </a:p>
            </p:txBody>
          </p:sp>
          <p:sp>
            <p:nvSpPr>
              <p:cNvPr id="220" name="TextBox 219"/>
              <p:cNvSpPr txBox="1"/>
              <p:nvPr/>
            </p:nvSpPr>
            <p:spPr>
              <a:xfrm>
                <a:off x="8012658" y="1060704"/>
                <a:ext cx="1188720" cy="29260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400" b="1" i="0" dirty="0">
                    <a:solidFill>
                      <a:srgbClr val="00143D"/>
                    </a:solidFill>
                    <a:latin typeface="Arial"/>
                  </a:rPr>
                  <a:t>Strong</a:t>
                </a:r>
              </a:p>
            </p:txBody>
          </p:sp>
          <p:sp>
            <p:nvSpPr>
              <p:cNvPr id="221" name="TextBox 220"/>
              <p:cNvSpPr txBox="1"/>
              <p:nvPr/>
            </p:nvSpPr>
            <p:spPr>
              <a:xfrm>
                <a:off x="8012658" y="1335024"/>
                <a:ext cx="1188720" cy="237744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100" b="0" i="1">
                    <a:solidFill>
                      <a:srgbClr val="5B657A"/>
                    </a:solidFill>
                    <a:latin typeface="Arial"/>
                  </a:rPr>
                  <a:t>77–88</a:t>
                </a:r>
              </a:p>
            </p:txBody>
          </p:sp>
        </p:grpSp>
        <p:sp>
          <p:nvSpPr>
            <p:cNvPr id="217" name="Rounded Rectangle 216"/>
            <p:cNvSpPr/>
            <p:nvPr/>
          </p:nvSpPr>
          <p:spPr>
            <a:xfrm>
              <a:off x="9224374" y="635044"/>
              <a:ext cx="228325" cy="201168"/>
            </a:xfrm>
            <a:prstGeom prst="roundRect">
              <a:avLst>
                <a:gd name="adj" fmla="val 50000"/>
              </a:avLst>
            </a:prstGeom>
            <a:solidFill>
              <a:srgbClr val="011F5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</p:grpSp>
      <p:sp>
        <p:nvSpPr>
          <p:cNvPr id="222" name="TextBox 221"/>
          <p:cNvSpPr txBox="1"/>
          <p:nvPr/>
        </p:nvSpPr>
        <p:spPr>
          <a:xfrm>
            <a:off x="502920" y="274320"/>
            <a:ext cx="6126480" cy="110799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RQ3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:</a:t>
            </a:r>
            <a:r>
              <a:rPr sz="2200" b="1" dirty="0">
                <a:solidFill>
                  <a:srgbClr val="011F5B"/>
                </a:solidFill>
                <a:latin typeface="Arial"/>
              </a:rPr>
              <a:t> </a:t>
            </a:r>
            <a:endParaRPr lang="en-US" sz="2200" b="1" dirty="0">
              <a:solidFill>
                <a:srgbClr val="011F5B"/>
              </a:solidFill>
              <a:latin typeface="Arial"/>
            </a:endParaRPr>
          </a:p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Strong endorsements:  how did one outcome shift wagers?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10171308" y="274320"/>
            <a:ext cx="1696013" cy="128016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011F5B"/>
                </a:solidFill>
                <a:latin typeface="Arial"/>
              </a:rPr>
              <a:t>Δ Male  </a:t>
            </a:r>
            <a:r>
              <a:rPr sz="1500" b="1" dirty="0">
                <a:solidFill>
                  <a:srgbClr val="011F5B"/>
                </a:solidFill>
                <a:latin typeface="Arial"/>
              </a:rPr>
              <a:t>+12.6</a:t>
            </a:r>
          </a:p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990000"/>
                </a:solidFill>
                <a:latin typeface="Arial"/>
              </a:rPr>
              <a:t>Δ Female  </a:t>
            </a:r>
            <a:r>
              <a:rPr sz="1500" b="1" dirty="0">
                <a:solidFill>
                  <a:srgbClr val="990000"/>
                </a:solidFill>
                <a:latin typeface="Arial"/>
              </a:rPr>
              <a:t>+3.4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b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-9.50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p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= .322</a:t>
            </a:r>
          </a:p>
        </p:txBody>
      </p:sp>
      <p:sp>
        <p:nvSpPr>
          <p:cNvPr id="213" name="Slide Number Placeholder 3">
            <a:extLst>
              <a:ext uri="{FF2B5EF4-FFF2-40B4-BE49-F238E27FC236}">
                <a16:creationId xmlns:a16="http://schemas.microsoft.com/office/drawing/2014/main" id="{E8F6FB20-2327-4A2A-A726-3AFFD66103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428904-08A1-459C-98CB-C622996A5981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214" name="Picture 213" descr="rq2_weak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146E6D1-13B7-F946-D9F4-EB852BB0D84E}"/>
              </a:ext>
            </a:extLst>
          </p:cNvPr>
          <p:cNvGrpSpPr/>
          <p:nvPr/>
        </p:nvGrpSpPr>
        <p:grpSpPr>
          <a:xfrm>
            <a:off x="7624244" y="274320"/>
            <a:ext cx="2434819" cy="1280160"/>
            <a:chOff x="6663461" y="292608"/>
            <a:chExt cx="2434819" cy="12801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6A38D61-7FDB-212F-A9E7-B35CD01CE104}"/>
                </a:ext>
              </a:extLst>
            </p:cNvPr>
            <p:cNvGrpSpPr/>
            <p:nvPr/>
          </p:nvGrpSpPr>
          <p:grpSpPr>
            <a:xfrm>
              <a:off x="6663461" y="292608"/>
              <a:ext cx="2434819" cy="1280160"/>
              <a:chOff x="6663461" y="292608"/>
              <a:chExt cx="2434819" cy="1280160"/>
            </a:xfrm>
          </p:grpSpPr>
          <p:sp>
            <p:nvSpPr>
              <p:cNvPr id="215" name="Rounded Rectangle 214"/>
              <p:cNvSpPr/>
              <p:nvPr/>
            </p:nvSpPr>
            <p:spPr>
              <a:xfrm>
                <a:off x="6766560" y="292608"/>
                <a:ext cx="2331720" cy="1243584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2700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6" name="TextBox 215"/>
              <p:cNvSpPr txBox="1"/>
              <p:nvPr/>
            </p:nvSpPr>
            <p:spPr>
              <a:xfrm>
                <a:off x="6894576" y="347472"/>
                <a:ext cx="2075687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5B657A"/>
                    </a:solidFill>
                    <a:latin typeface="Arial"/>
                  </a:rPr>
                  <a:t>ENDORSER CONFIDENCE</a:t>
                </a:r>
              </a:p>
            </p:txBody>
          </p:sp>
          <p:sp>
            <p:nvSpPr>
              <p:cNvPr id="217" name="Rounded Rectangle 216"/>
              <p:cNvSpPr/>
              <p:nvPr/>
            </p:nvSpPr>
            <p:spPr>
              <a:xfrm>
                <a:off x="6894576" y="640080"/>
                <a:ext cx="2075687" cy="201168"/>
              </a:xfrm>
              <a:prstGeom prst="roundRect">
                <a:avLst>
                  <a:gd name="adj" fmla="val 50000"/>
                </a:avLst>
              </a:prstGeom>
              <a:solidFill>
                <a:srgbClr val="E5EAF3"/>
              </a:solidFill>
              <a:ln w="9525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9" name="TextBox 218"/>
              <p:cNvSpPr txBox="1"/>
              <p:nvPr/>
            </p:nvSpPr>
            <p:spPr>
              <a:xfrm>
                <a:off x="6803136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l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0</a:t>
                </a:r>
              </a:p>
            </p:txBody>
          </p:sp>
          <p:sp>
            <p:nvSpPr>
              <p:cNvPr id="220" name="TextBox 219"/>
              <p:cNvSpPr txBox="1"/>
              <p:nvPr/>
            </p:nvSpPr>
            <p:spPr>
              <a:xfrm>
                <a:off x="8741663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r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100</a:t>
                </a:r>
              </a:p>
            </p:txBody>
          </p:sp>
          <p:sp>
            <p:nvSpPr>
              <p:cNvPr id="221" name="TextBox 220"/>
              <p:cNvSpPr txBox="1"/>
              <p:nvPr/>
            </p:nvSpPr>
            <p:spPr>
              <a:xfrm>
                <a:off x="6663461" y="1060704"/>
                <a:ext cx="1188720" cy="29260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400" b="1" i="0">
                    <a:solidFill>
                      <a:srgbClr val="B12121"/>
                    </a:solidFill>
                    <a:latin typeface="Arial"/>
                  </a:rPr>
                  <a:t>Weak</a:t>
                </a:r>
              </a:p>
            </p:txBody>
          </p:sp>
          <p:sp>
            <p:nvSpPr>
              <p:cNvPr id="222" name="TextBox 221"/>
              <p:cNvSpPr txBox="1"/>
              <p:nvPr/>
            </p:nvSpPr>
            <p:spPr>
              <a:xfrm>
                <a:off x="6663461" y="1335024"/>
                <a:ext cx="1188720" cy="237744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100" b="0" i="1">
                    <a:solidFill>
                      <a:srgbClr val="5B657A"/>
                    </a:solidFill>
                    <a:latin typeface="Arial"/>
                  </a:rPr>
                  <a:t>12–23</a:t>
                </a:r>
              </a:p>
            </p:txBody>
          </p:sp>
        </p:grpSp>
        <p:sp>
          <p:nvSpPr>
            <p:cNvPr id="218" name="Rounded Rectangle 217"/>
            <p:cNvSpPr/>
            <p:nvPr/>
          </p:nvSpPr>
          <p:spPr>
            <a:xfrm>
              <a:off x="7143658" y="640080"/>
              <a:ext cx="228325" cy="201168"/>
            </a:xfrm>
            <a:prstGeom prst="roundRect">
              <a:avLst>
                <a:gd name="adj" fmla="val 50000"/>
              </a:avLst>
            </a:prstGeom>
            <a:solidFill>
              <a:srgbClr val="B1212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</p:grpSp>
      <p:sp>
        <p:nvSpPr>
          <p:cNvPr id="223" name="TextBox 222"/>
          <p:cNvSpPr txBox="1"/>
          <p:nvPr/>
        </p:nvSpPr>
        <p:spPr>
          <a:xfrm>
            <a:off x="502920" y="274320"/>
            <a:ext cx="6126480" cy="110799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RQ3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Weak endorsements:  how did one outcome shift wagers?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Summary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594203"/>
            <a:ext cx="5074920" cy="403187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dirty="0">
                <a:solidFill>
                  <a:srgbClr val="111827"/>
                </a:solidFill>
              </a:rPr>
              <a:t>•  </a:t>
            </a:r>
            <a:r>
              <a:rPr lang="en-US" sz="2400" dirty="0">
                <a:solidFill>
                  <a:srgbClr val="111827"/>
                </a:solidFill>
              </a:rPr>
              <a:t>Male and female sponsors are trusted equally at baseline </a:t>
            </a:r>
            <a:endParaRPr lang="en-US" sz="2400" b="0" dirty="0">
              <a:solidFill>
                <a:srgbClr val="111827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Men</a:t>
            </a:r>
            <a:r>
              <a:rPr lang="en-US" sz="2400" dirty="0">
                <a:solidFill>
                  <a:srgbClr val="111827"/>
                </a:solidFill>
                <a:latin typeface="Arial"/>
              </a:rPr>
              <a:t>'</a:t>
            </a:r>
            <a:r>
              <a:rPr sz="2400" b="0" dirty="0">
                <a:solidFill>
                  <a:srgbClr val="111827"/>
                </a:solidFill>
                <a:latin typeface="Arial"/>
              </a:rPr>
              <a:t>s endorsements move trust by Δ = +15.0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Women's endorsements move trust by Δ = +4.3</a:t>
            </a:r>
          </a:p>
          <a:p>
            <a:pPr algn="l">
              <a:spcAft>
                <a:spcPts val="1200"/>
              </a:spcAft>
            </a:pPr>
            <a:r>
              <a:rPr lang="en-US" sz="2400" b="0" dirty="0">
                <a:solidFill>
                  <a:srgbClr val="111827"/>
                </a:solidFill>
                <a:latin typeface="Arial"/>
              </a:rPr>
              <a:t>•  Stronger endorsements amplify the asymmetry</a:t>
            </a:r>
          </a:p>
          <a:p>
            <a:pPr algn="l">
              <a:spcAft>
                <a:spcPts val="1200"/>
              </a:spcAft>
            </a:pPr>
            <a:endParaRPr sz="2400"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5" name="Slide Number Placeholder 3">
            <a:extLst>
              <a:ext uri="{FF2B5EF4-FFF2-40B4-BE49-F238E27FC236}">
                <a16:creationId xmlns:a16="http://schemas.microsoft.com/office/drawing/2014/main" id="{E1D2B922-5A84-4186-A4F2-8EDED3FC57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013D87F-5244-47F4-B4B2-87FD3047BE5E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216" name="Picture 215" descr="synthesis_outcom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25880"/>
            <a:ext cx="640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lide Number Placeholder 3">
            <a:extLst>
              <a:ext uri="{FF2B5EF4-FFF2-40B4-BE49-F238E27FC236}">
                <a16:creationId xmlns:a16="http://schemas.microsoft.com/office/drawing/2014/main" id="{D660F081-DFF5-4F81-9684-C53659E3F2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BDE2B18-7325-4203-8945-01CBD09AEDA2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217" name="TextBox 216"/>
          <p:cNvSpPr txBox="1"/>
          <p:nvPr/>
        </p:nvSpPr>
        <p:spPr>
          <a:xfrm>
            <a:off x="502920" y="274320"/>
            <a:ext cx="11183112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Running story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02920" y="960120"/>
            <a:ext cx="11183112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000" b="0" i="1">
                <a:solidFill>
                  <a:srgbClr val="5B657A"/>
                </a:solidFill>
                <a:latin typeface="Arial"/>
              </a:rPr>
              <a:t>Same starting wager, different weight on the outcome.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502920" y="154533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TextBox 219"/>
          <p:cNvSpPr txBox="1"/>
          <p:nvPr/>
        </p:nvSpPr>
        <p:spPr>
          <a:xfrm>
            <a:off x="758952" y="141732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People hold different priors for men vs women.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Men are assumed critical; women are assumed nicer on average. But the priors don't bite at the first wager (b = -1.06, p = .81), because evaluators anchor automatically on the strength label.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502920" y="273405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TextBox 221"/>
          <p:cNvSpPr txBox="1"/>
          <p:nvPr/>
        </p:nvSpPr>
        <p:spPr>
          <a:xfrm>
            <a:off x="758952" y="260604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Women's endorsements cluster high + narrow.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"She would have said it either way" makes her outcome barely informative, so evaluators discount the update (consistent with the muted effects in the stronger confidence cells).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392277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TextBox 223"/>
          <p:cNvSpPr txBox="1"/>
          <p:nvPr/>
        </p:nvSpPr>
        <p:spPr>
          <a:xfrm>
            <a:off x="758952" y="379476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Men's endorsements spread wide.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When men endorse with confidence it carries information that can be both praised or penalized, and the outcome moves trust accordingly.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502920" y="511149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TextBox 225"/>
          <p:cNvSpPr txBox="1"/>
          <p:nvPr/>
        </p:nvSpPr>
        <p:spPr>
          <a:xfrm>
            <a:off x="758952" y="498348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Next direction: telegraph their standards.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Signaling "I only recommend the top 10%" breaks the assumed clustering, so the outcome can be re-read as informative.</a:t>
            </a:r>
          </a:p>
        </p:txBody>
      </p:sp>
      <p:pic>
        <p:nvPicPr>
          <p:cNvPr id="227" name="Picture 2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417320"/>
            <a:ext cx="4937760" cy="3035808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7178040" y="4471416"/>
            <a:ext cx="4937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Arial"/>
              </a:rPr>
              <a:t>Hypothesized prior distributions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 i="0">
                <a:solidFill>
                  <a:srgbClr val="011F5B"/>
                </a:solidFill>
                <a:latin typeface="Arial"/>
              </a:rPr>
              <a:t>Thank you</a:t>
            </a:r>
          </a:p>
        </p:txBody>
      </p:sp>
      <p:sp>
        <p:nvSpPr>
          <p:cNvPr id="217" name="Slide Number Placeholder 3">
            <a:extLst>
              <a:ext uri="{FF2B5EF4-FFF2-40B4-BE49-F238E27FC236}">
                <a16:creationId xmlns:a16="http://schemas.microsoft.com/office/drawing/2014/main" id="{576EA859-4E79-4EBE-9BC9-29E0716921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F9FAA71-D419-44AE-8FB2-35FB403C2DE2}" type="slidenum">
              <a:rPr lang="en-US" smtClean="0"/>
              <a:pPr/>
              <a:t>28</a:t>
            </a:fld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377440"/>
            <a:ext cx="111831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00143D"/>
                </a:solidFill>
                <a:latin typeface="Calibr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566160"/>
            <a:ext cx="11183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5B657A"/>
                </a:solidFill>
                <a:latin typeface="Calibri"/>
              </a:rPr>
              <a:t>Instruction screens from the Stage 2 &amp; Stage 3 Qualtrics surveys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Endorser role</a:t>
            </a:r>
          </a:p>
        </p:txBody>
      </p:sp>
      <p:pic>
        <p:nvPicPr>
          <p:cNvPr id="3" name="Picture 2" descr="stage2_01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356" y="960120"/>
            <a:ext cx="967223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Earnings ($1 flat + $3 bonus)</a:t>
            </a:r>
          </a:p>
        </p:txBody>
      </p:sp>
      <p:pic>
        <p:nvPicPr>
          <p:cNvPr id="3" name="Picture 2" descr="stage2_02_earn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7902" y="960120"/>
            <a:ext cx="663314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Task objective + slider</a:t>
            </a:r>
          </a:p>
        </p:txBody>
      </p:sp>
      <p:pic>
        <p:nvPicPr>
          <p:cNvPr id="3" name="Picture 2" descr="stage2_03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3575"/>
            <a:ext cx="11183112" cy="408804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Study purpose</a:t>
            </a:r>
          </a:p>
        </p:txBody>
      </p:sp>
      <p:pic>
        <p:nvPicPr>
          <p:cNvPr id="3" name="Picture 2" descr="stage3_01_pur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8052"/>
            <a:ext cx="11183112" cy="265909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What evaluators see</a:t>
            </a:r>
          </a:p>
        </p:txBody>
      </p:sp>
      <p:pic>
        <p:nvPicPr>
          <p:cNvPr id="3" name="Picture 2" descr="stage3_02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680" y="960120"/>
            <a:ext cx="825759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Endorser motivation</a:t>
            </a:r>
          </a:p>
        </p:txBody>
      </p:sp>
      <p:pic>
        <p:nvPicPr>
          <p:cNvPr id="3" name="Picture 2" descr="stage3_03_mot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9443"/>
            <a:ext cx="11183112" cy="47963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Two-decision framing</a:t>
            </a:r>
          </a:p>
        </p:txBody>
      </p:sp>
      <p:pic>
        <p:nvPicPr>
          <p:cNvPr id="3" name="Picture 2" descr="stage3_04_two_deci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8569"/>
            <a:ext cx="11183112" cy="157806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$0.50 bank wager mechanics</a:t>
            </a:r>
          </a:p>
        </p:txBody>
      </p:sp>
      <p:pic>
        <p:nvPicPr>
          <p:cNvPr id="3" name="Picture 2" descr="stage3_05_w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723" y="960120"/>
            <a:ext cx="811950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CQ1  ·  Bank amount</a:t>
            </a:r>
          </a:p>
        </p:txBody>
      </p:sp>
      <p:pic>
        <p:nvPicPr>
          <p:cNvPr id="3" name="Picture 2" descr="stage3_cq1_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CQ2  ·  Wager calculation</a:t>
            </a:r>
          </a:p>
        </p:txBody>
      </p:sp>
      <p:pic>
        <p:nvPicPr>
          <p:cNvPr id="3" name="Picture 2" descr="stage3_cq2_w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CQ3  ·  Bonus calculation</a:t>
            </a:r>
          </a:p>
        </p:txBody>
      </p:sp>
      <p:pic>
        <p:nvPicPr>
          <p:cNvPr id="3" name="Picture 2" descr="stage3_cq3_bon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CQ4  ·  Task question</a:t>
            </a:r>
          </a:p>
        </p:txBody>
      </p:sp>
      <p:pic>
        <p:nvPicPr>
          <p:cNvPr id="3" name="Picture 2" descr="stage3_cq4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04122"/>
            <a:ext cx="11183112" cy="510695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CQ5  ·  Comparison question</a:t>
            </a:r>
          </a:p>
        </p:txBody>
      </p:sp>
      <p:pic>
        <p:nvPicPr>
          <p:cNvPr id="3" name="Picture 2" descr="stage3_cq5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04122"/>
            <a:ext cx="11183112" cy="51069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8314</TotalTime>
  <Words>2073</Words>
  <Application>Microsoft Office PowerPoint</Application>
  <PresentationFormat>Widescreen</PresentationFormat>
  <Paragraphs>304</Paragraphs>
  <Slides>42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Garamond</vt:lpstr>
      <vt:lpstr>Georgia</vt:lpstr>
      <vt:lpstr>Wharton 2016 16:9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josecerv</cp:lastModifiedBy>
  <cp:revision>98</cp:revision>
  <dcterms:created xsi:type="dcterms:W3CDTF">2016-03-10T13:41:29Z</dcterms:created>
  <dcterms:modified xsi:type="dcterms:W3CDTF">2026-04-08T13:47:00Z</dcterms:modified>
</cp:coreProperties>
</file>