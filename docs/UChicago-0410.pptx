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77" r:id="rId3"/>
    <p:sldId id="284" r:id="rId33"/>
    <p:sldId id="282" r:id="rId31"/>
    <p:sldId id="283" r:id="rId32"/>
    <p:sldId id="258" r:id="rId4"/>
    <p:sldId id="259" r:id="rId5"/>
    <p:sldId id="260" r:id="rId6"/>
    <p:sldId id="261" r:id="rId7"/>
    <p:sldId id="262" r:id="rId8"/>
    <p:sldId id="263" r:id="rId9"/>
    <p:sldId id="279" r:id="rId10"/>
    <p:sldId id="278" r:id="rId11"/>
    <p:sldId id="280" r:id="rId12"/>
    <p:sldId id="264" r:id="rId13"/>
    <p:sldId id="265" r:id="rId14"/>
    <p:sldId id="266" r:id="rId15"/>
    <p:sldId id="267" r:id="rId16"/>
    <p:sldId id="271" r:id="rId20"/>
    <p:sldId id="268" r:id="rId17"/>
    <p:sldId id="269" r:id="rId18"/>
    <p:sldId id="270" r:id="rId19"/>
    <p:sldId id="272" r:id="rId21"/>
    <p:sldId id="273" r:id="rId22"/>
    <p:sldId id="275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277"/>
            <p14:sldId id="258"/>
            <p14:sldId id="259"/>
            <p14:sldId id="260"/>
            <p14:sldId id="261"/>
            <p14:sldId id="262"/>
            <p14:sldId id="263"/>
            <p14:sldId id="279"/>
            <p14:sldId id="278"/>
            <p14:sldId id="280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19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Letter of recommendation example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susan</a:t>
            </a:r>
            <a:r>
              <a:rPr lang="en-US" dirty="0"/>
              <a:t> vs bob – depending on who is writing the letter and then various track records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do people weigh the information differently whether it’s from </a:t>
            </a:r>
            <a:r>
              <a:rPr lang="en-US" dirty="0" err="1"/>
              <a:t>susan</a:t>
            </a:r>
            <a:r>
              <a:rPr lang="en-US" dirty="0"/>
              <a:t> vs bob</a:t>
            </a:r>
          </a:p>
          <a:p>
            <a:r>
              <a:rPr lang="en-US" dirty="0"/>
              <a:t>The thing we care about the most is the second letter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1E47CCA-68FB-412A-B804-3CB318872DD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7DCE3DD-F53E-4074-B825-2EB678F57870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A0B802A-5AAE-45BC-BC8A-AE39B83C91A0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5" name="Right Arrow 504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6" name="Rounded Rectangle 505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C203F7-3303-4778-8B5A-83D51D44706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6" name="Right Arrow 505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7" name="Rounded Rectangle 506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F172CCD-2A3A-478D-8F98-D1CA1E48D67D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D0E735B-3425-48F6-BB31-4470FCA4DF8F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8E7D469-2B7A-4ACB-A157-AF80BC1031B2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Three</a:t>
            </a:r>
            <a:r>
              <a:rPr sz="3200" b="1" i="0" dirty="0">
                <a:solidFill>
                  <a:srgbClr val="011F5B"/>
                </a:solidFill>
                <a:latin typeface="Arial"/>
              </a:rPr>
              <a:t>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5419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1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Protégé performance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participants take three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performance tasks (Barron et al., 2025).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We use the 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posted</a:t>
            </a:r>
            <a:r>
              <a:rPr sz="1500" dirty="0">
                <a:solidFill>
                  <a:srgbClr val="111827"/>
                </a:solidFill>
                <a:latin typeface="Arial"/>
              </a:rPr>
              <a:t> scores to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build candidate profiles.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9907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2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Sponsor endorsements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sponsors view candidate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pairs and rate which one will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 better, and how confident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they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4395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3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Audience evaluation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Evaluators bet on a sponsor's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endorsement, see the outcome,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then bet on a second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from the same sponsor.</a:t>
            </a:r>
          </a:p>
        </p:txBody>
      </p:sp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4E3F97F-5C6E-4F84-942C-87BA52CDDB18}" type="slidenum">
              <a:rPr lang="en-US" smtClean="0"/>
              <a:pPr/>
              <a:t>6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33B578A-5069-41C7-B44B-BBCAE1B54D41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4519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Each sponsor sees one candidate pair from Stage 1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99AF71D-9C57-480F-8983-A52A71A7AE30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FE141A2-985C-45CE-BC8B-826415B8688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Each endorsement could earn the sponsor up to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$3.00.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500" b="0" i="1">
                <a:solidFill>
                  <a:srgbClr val="5B657A"/>
                </a:solidFill>
                <a:latin typeface="Calibri"/>
              </a:rPr>
              <a:t>The amount depends on how confidently a downstream evaluator wagers on it — and only if the endorsed candidate truly scored higher.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Paid on one randomly selected endorsement.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A8FB8B8-6742-43DB-982A-BE508B9FD65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0" i="1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A04BBA2-B4A7-4C88-ADF7-36A5469907FA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600" b="0" i="1">
                <a:solidFill>
                  <a:srgbClr val="5B657A"/>
                </a:solidFill>
                <a:latin typeface="Calibri"/>
              </a:rPr>
              <a:t>n = 403 Prolific evaluators (passed 5/5 comprehension checks)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42615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26663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1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5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97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43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489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85716" y="4224528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7100316" y="4224528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946904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4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F6251-1296-4B6B-8061-EF8D9DFF4E9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1">
                <a:solidFill>
                  <a:srgbClr val="5B657A"/>
                </a:solidFill>
                <a:latin typeface="Calibri"/>
              </a:rPr>
              <a:t>(name + colored avatar)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1">
                <a:solidFill>
                  <a:srgbClr val="5B657A"/>
                </a:solidFill>
                <a:latin typeface="Calibri"/>
              </a:rPr>
              <a:t>(how confident the sponsor was)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4951475" y="3017520"/>
            <a:ext cx="2286000" cy="182880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ounded Rectangle 219"/>
          <p:cNvSpPr/>
          <p:nvPr/>
        </p:nvSpPr>
        <p:spPr>
          <a:xfrm>
            <a:off x="4951475" y="3017520"/>
            <a:ext cx="2057400" cy="182880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TextBox 220"/>
          <p:cNvSpPr txBox="1"/>
          <p:nvPr/>
        </p:nvSpPr>
        <p:spPr>
          <a:xfrm>
            <a:off x="4425696" y="3291839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8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425696" y="3611879"/>
            <a:ext cx="33375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very confident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51475" y="4389120"/>
            <a:ext cx="2286000" cy="182880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ounded Rectangle 223"/>
          <p:cNvSpPr/>
          <p:nvPr/>
        </p:nvSpPr>
        <p:spPr>
          <a:xfrm>
            <a:off x="4951475" y="438912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TextBox 224"/>
          <p:cNvSpPr txBox="1"/>
          <p:nvPr/>
        </p:nvSpPr>
        <p:spPr>
          <a:xfrm>
            <a:off x="4425696" y="4663440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8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425696" y="4983480"/>
            <a:ext cx="33375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unsure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1">
                <a:solidFill>
                  <a:srgbClr val="5B657A"/>
                </a:solidFill>
                <a:latin typeface="Calibri"/>
              </a:rPr>
              <a:t>(was the endorsement right?)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BB3FA40-0FA2-4F08-9091-55C8362B0EBB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3D4049-3CAA-4EC0-A6B0-F5B1000348F1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AC21F2C-C742-4EAF-9DCA-81A145DB03F2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  —  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B429047-D323-46C7-80A8-D3D7839C5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15" name="Picture 214" descr="rq3_initial_t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 —  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00C941-EDAE-4A63-B5E3-727810D9A25B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RQ3 — Strong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1585569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Strong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Arial"/>
              </a:rPr>
              <a:t>very confident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797C8F1-32CA-45E2-AC0F-E9A069B484B9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— Weak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410382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Weak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Arial"/>
              </a:rPr>
              <a:t>unsure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B2F5F96-ED41-4409-A830-A8C5C9F69FBD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b="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2400" b="1" dirty="0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0FA9B-A343-44C8-86C1-3D64FE4D8E5F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Running story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49500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 algn="l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Running story: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Let’s assume sponsorship is stereotypically “male.”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Men are updated in a roughly Bayesian manner. Successes push trust up, failures push it down, by similar magnitudes (it’s quite symmetrical for men). 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Women, however, are not prototypically seen as sponsors and therefore, we observe signal neglect. O</a:t>
            </a:r>
            <a:r>
              <a:rPr lang="en-US" dirty="0">
                <a:solidFill>
                  <a:srgbClr val="111827"/>
                </a:solidFill>
              </a:rPr>
              <a:t>utcomes barely move evaluator trust in either direction. We propose this is</a:t>
            </a:r>
            <a:r>
              <a:rPr lang="en-US" b="0" dirty="0">
                <a:solidFill>
                  <a:srgbClr val="111827"/>
                </a:solidFill>
                <a:latin typeface="Arial"/>
              </a:rPr>
              <a:t> because audiences lack a rule for translating outcomes into competence about women since they are in a non-prototypical role.</a:t>
            </a:r>
          </a:p>
          <a:p>
            <a:pPr marL="1657350" lvl="3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Perhaps we would see our effects change as there are more “rounds.”</a:t>
            </a:r>
            <a:endParaRPr lang="en-US" b="0" dirty="0">
              <a:solidFill>
                <a:srgbClr val="111827"/>
              </a:solidFill>
              <a:latin typeface="Arial"/>
            </a:endParaRP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Fairly different expectation from a lot of the other literature on double standards.</a:t>
            </a: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 are just nice so they don’t know what they are doing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Mechanism: Male sponsors have more variance in their endorsements, women have smaller variance – higher average</a:t>
            </a:r>
            <a:endParaRPr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1627EE3-3217-437F-A2DC-9F0D01B00429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CA3884-E741-4C09-ACB1-7CB8EBC8984B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AF2F33-A9B5-8037-3D3C-1A2E4FCF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Women vs men’s assumed prior sponsorship endorsements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Women are less likely to denigrate a bad candidate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Men are more critical (on average) sponsors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consequence of this, women’s endorsements are not seen as credible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More rounds can “shut this off.”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But the takeaway is that do women need more time/seniority in order for their credibility to be taken seriously?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Do women have lower standards?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3EF193-CB07-3F4F-1779-DB280500FC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0F67D-B3CA-05DA-DA08-758C900025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08515D-EECB-4F76-91B6-EB75DC62E15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C3BEE-486B-A19B-DA69-2C302C8345C8}"/>
              </a:ext>
            </a:extLst>
          </p:cNvPr>
          <p:cNvSpPr/>
          <p:nvPr/>
        </p:nvSpPr>
        <p:spPr>
          <a:xfrm>
            <a:off x="1795669" y="4634637"/>
            <a:ext cx="1186070" cy="17890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C7BE0C-B5ED-CEAC-D0DA-68D88BB40CBE}"/>
              </a:ext>
            </a:extLst>
          </p:cNvPr>
          <p:cNvSpPr/>
          <p:nvPr/>
        </p:nvSpPr>
        <p:spPr>
          <a:xfrm>
            <a:off x="3475382" y="4237072"/>
            <a:ext cx="927652" cy="12920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42596"/>
      </p:ext>
    </p:extLst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8257</TotalTime>
  <Words>1099</Words>
  <Application>Microsoft Office PowerPoint</Application>
  <PresentationFormat>Widescreen</PresentationFormat>
  <Paragraphs>182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92</cp:revision>
  <dcterms:created xsi:type="dcterms:W3CDTF">2016-03-10T13:41:29Z</dcterms:created>
  <dcterms:modified xsi:type="dcterms:W3CDTF">2026-04-07T22:06:24Z</dcterms:modified>
</cp:coreProperties>
</file>