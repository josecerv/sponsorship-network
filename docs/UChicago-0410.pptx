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01" r:id="rId3"/>
    <p:sldId id="277" r:id="rId4"/>
    <p:sldId id="284" r:id="rId5"/>
    <p:sldId id="282" r:id="rId6"/>
    <p:sldId id="283" r:id="rId7"/>
    <p:sldId id="258" r:id="rId8"/>
    <p:sldId id="259" r:id="rId9"/>
    <p:sldId id="260" r:id="rId10"/>
    <p:sldId id="261" r:id="rId11"/>
    <p:sldId id="262" r:id="rId12"/>
    <p:sldId id="285" r:id="rId13"/>
    <p:sldId id="263" r:id="rId14"/>
    <p:sldId id="279" r:id="rId15"/>
    <p:sldId id="286" r:id="rId16"/>
    <p:sldId id="280" r:id="rId17"/>
    <p:sldId id="278" r:id="rId18"/>
    <p:sldId id="264" r:id="rId19"/>
    <p:sldId id="265" r:id="rId20"/>
    <p:sldId id="266" r:id="rId21"/>
    <p:sldId id="267" r:id="rId22"/>
    <p:sldId id="271" r:id="rId23"/>
    <p:sldId id="268" r:id="rId24"/>
    <p:sldId id="269" r:id="rId25"/>
    <p:sldId id="270" r:id="rId26"/>
    <p:sldId id="272" r:id="rId27"/>
    <p:sldId id="273" r:id="rId28"/>
    <p:sldId id="27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01"/>
            <p14:sldId id="277"/>
            <p14:sldId id="284"/>
            <p14:sldId id="282"/>
            <p14:sldId id="283"/>
            <p14:sldId id="258"/>
            <p14:sldId id="259"/>
            <p14:sldId id="260"/>
            <p14:sldId id="261"/>
            <p14:sldId id="262"/>
            <p14:sldId id="285"/>
            <p14:sldId id="263"/>
            <p14:sldId id="279"/>
            <p14:sldId id="286"/>
            <p14:sldId id="280"/>
            <p14:sldId id="278"/>
            <p14:sldId id="264"/>
            <p14:sldId id="265"/>
            <p14:sldId id="266"/>
            <p14:sldId id="267"/>
            <p14:sldId id="271"/>
            <p14:sldId id="268"/>
            <p14:sldId id="269"/>
            <p14:sldId id="270"/>
            <p14:sldId id="272"/>
            <p14:sldId id="273"/>
            <p14:sldId id="275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78865" autoAdjust="0"/>
  </p:normalViewPr>
  <p:slideViewPr>
    <p:cSldViewPr snapToGrid="0">
      <p:cViewPr varScale="1">
        <p:scale>
          <a:sx n="102" d="100"/>
          <a:sy n="102" d="100"/>
        </p:scale>
        <p:origin x="58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EF9B2-01F8-09E6-9908-0963AA8C10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Goals for this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463040" cy="5486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8311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0" i="1">
                <a:solidFill>
                  <a:srgbClr val="5B657A"/>
                </a:solidFill>
                <a:latin typeface="Arial"/>
              </a:rPr>
              <a:t>Two things we'd love feedback on today: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79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39"/>
            <a:ext cx="10972800" cy="15087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>
                <a:solidFill>
                  <a:srgbClr val="00143D"/>
                </a:solidFill>
                <a:latin typeface="Arial"/>
              </a:rPr>
              <a:t>Experimental design</a:t>
            </a:r>
          </a:p>
          <a:p>
            <a:pPr>
              <a:spcBef>
                <a:spcPts val="400"/>
              </a:spcBef>
            </a:pPr>
            <a:r>
              <a:rPr sz="2100" b="0" i="0">
                <a:solidFill>
                  <a:srgbClr val="1F2937"/>
                </a:solidFill>
                <a:latin typeface="Arial"/>
              </a:rPr>
              <a:t>anything to flag before we scale up and preregister?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10972800" cy="83612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 dirty="0">
                <a:solidFill>
                  <a:srgbClr val="00143D"/>
                </a:solidFill>
                <a:latin typeface="Arial"/>
              </a:rPr>
              <a:t>Interpretation of 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our </a:t>
            </a:r>
            <a:r>
              <a:rPr sz="2400" b="1" i="0" dirty="0">
                <a:solidFill>
                  <a:srgbClr val="00143D"/>
                </a:solidFill>
                <a:latin typeface="Arial"/>
              </a:rPr>
              <a:t>pilot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 data</a:t>
            </a:r>
            <a:endParaRPr sz="2400" b="1" i="0" dirty="0">
              <a:solidFill>
                <a:srgbClr val="00143D"/>
              </a:solidFill>
              <a:latin typeface="Arial"/>
            </a:endParaRPr>
          </a:p>
          <a:p>
            <a:pPr>
              <a:spcBef>
                <a:spcPts val="400"/>
              </a:spcBef>
            </a:pPr>
            <a:r>
              <a:rPr sz="2100" b="0" i="0" dirty="0">
                <a:solidFill>
                  <a:srgbClr val="1F2937"/>
                </a:solidFill>
                <a:latin typeface="Arial"/>
              </a:rPr>
              <a:t>we have a running theory, but alternatives are very welcome.</a:t>
            </a:r>
          </a:p>
        </p:txBody>
      </p:sp>
    </p:spTree>
    <p:extLst>
      <p:ext uri="{BB962C8B-B14F-4D97-AF65-F5344CB8AC3E}">
        <p14:creationId xmlns:p14="http://schemas.microsoft.com/office/powerpoint/2010/main" val="37745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  <a:endParaRPr lang="en-US" sz="1300" b="1" i="1" dirty="0">
              <a:solidFill>
                <a:srgbClr val="011F5B"/>
              </a:solidFill>
              <a:latin typeface="Calibri"/>
            </a:endParaRP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9CA3AF"/>
                </a:solidFill>
                <a:latin typeface="Calibri"/>
              </a:rPr>
              <a:t>Robert Keller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 dirty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 dirty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Rectangle 503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 dirty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6" name="Oval 505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 dirty="0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 animBg="1"/>
      <p:bldP spid="11" grpId="0"/>
      <p:bldP spid="16" grpId="0" animBg="1"/>
      <p:bldP spid="503" grpId="0" animBg="1"/>
      <p:bldP spid="506" grpId="0" animBg="1"/>
      <p:bldP spid="50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9CA3AF"/>
                </a:solidFill>
                <a:latin typeface="Calibri"/>
              </a:rPr>
              <a:t>Susan Keller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6" name="Rectangle 505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7" name="Oval 506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potential,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2:  </a:t>
            </a:r>
            <a:r>
              <a:rPr lang="en-US" sz="3200" b="1" dirty="0">
                <a:solidFill>
                  <a:srgbClr val="011F5B"/>
                </a:solidFill>
                <a:latin typeface="Arial"/>
              </a:rPr>
              <a:t>Sponsors made decisions on two candidates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9700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</a:t>
            </a:r>
            <a:r>
              <a:rPr sz="1800" b="0" dirty="0">
                <a:solidFill>
                  <a:srgbClr val="111827"/>
                </a:solidFill>
                <a:latin typeface="Arial"/>
              </a:rPr>
              <a:t>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</a:t>
            </a:r>
            <a:r>
              <a:rPr lang="en-US" sz="1800" b="0" dirty="0">
                <a:solidFill>
                  <a:srgbClr val="111827"/>
                </a:solidFill>
                <a:latin typeface="Arial"/>
              </a:rPr>
              <a:t>created a lot of comparisons to increase the variance in sponsor decisions</a:t>
            </a:r>
            <a:endParaRPr sz="1800" b="0" dirty="0">
              <a:solidFill>
                <a:srgbClr val="111827"/>
              </a:solidFill>
              <a:latin typeface="Arial"/>
            </a:endParaRP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500" i="1" dirty="0">
                <a:solidFill>
                  <a:srgbClr val="5B657A"/>
                </a:solidFill>
                <a:latin typeface="Calibri"/>
              </a:rPr>
              <a:t>The bonus is based on ONE randomly selected endorsement,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 dirty="0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 dirty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n = 403 (passed 5/5 comprehension checks</a:t>
            </a:r>
            <a:r>
              <a:rPr lang="en-US" sz="1800" b="0" i="1" dirty="0">
                <a:solidFill>
                  <a:srgbClr val="5B657A"/>
                </a:solidFill>
                <a:latin typeface="Calibri"/>
              </a:rPr>
              <a:t> and gender manipulation check</a:t>
            </a:r>
            <a:r>
              <a:rPr sz="1800" b="0" i="1" dirty="0">
                <a:solidFill>
                  <a:srgbClr val="5B657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1" i="0" dirty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10789920" cy="34471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 dirty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 dirty="0">
                <a:solidFill>
                  <a:srgbClr val="1F2937"/>
                </a:solidFill>
                <a:latin typeface="Calibri"/>
              </a:rPr>
              <a:t>the sponsor</a:t>
            </a:r>
            <a:r>
              <a:rPr lang="en-US" sz="2000" b="0" i="0" dirty="0">
                <a:solidFill>
                  <a:srgbClr val="1F2937"/>
                </a:solidFill>
                <a:latin typeface="Calibri"/>
              </a:rPr>
              <a:t>'</a:t>
            </a:r>
            <a:r>
              <a:rPr sz="2000" b="0" i="0" dirty="0">
                <a:solidFill>
                  <a:srgbClr val="1F2937"/>
                </a:solidFill>
                <a:latin typeface="Calibri"/>
              </a:rPr>
              <a:t>s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72384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96512"/>
            <a:ext cx="11155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3542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714146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650992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8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candidate.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08" grpId="0" animBg="1"/>
      <p:bldP spid="209" grpId="0" animBg="1"/>
      <p:bldP spid="210" grpId="0" animBg="1"/>
      <p:bldP spid="211" grpId="0"/>
      <p:bldP spid="212" grpId="0"/>
      <p:bldP spid="213" grpId="0" animBg="1"/>
      <p:bldP spid="214" grpId="0"/>
      <p:bldP spid="215" grpId="0" animBg="1"/>
      <p:bldP spid="216" grpId="0"/>
      <p:bldP spid="217" grpId="0"/>
      <p:bldP spid="218" grpId="0"/>
      <p:bldP spid="227" grpId="0"/>
      <p:bldP spid="228" grpId="0"/>
      <p:bldP spid="229" grpId="0" animBg="1"/>
      <p:bldP spid="230" grpId="0"/>
      <p:bldP spid="231" grpId="0" animBg="1"/>
      <p:bldP spid="232" grpId="0"/>
      <p:bldP spid="233" grpId="0"/>
      <p:bldP spid="234" grpId="0" animBg="1"/>
      <p:bldP spid="235" grpId="0" animBg="1"/>
      <p:bldP spid="236" grpId="0" animBg="1"/>
      <p:bldP spid="237" grpId="0"/>
      <p:bldP spid="238" grpId="0"/>
      <p:bldP spid="239" grpId="0"/>
      <p:bldP spid="240" grpId="0"/>
      <p:bldP spid="241" grpId="0"/>
      <p:bldP spid="24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CORRECT.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</a:t>
            </a:r>
            <a:r>
              <a:rPr lang="en-US" sz="26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215" name="Picture 214" descr="rq1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461DB-4C47-456E-19EE-7DBC80297E3B}"/>
              </a:ext>
            </a:extLst>
          </p:cNvPr>
          <p:cNvSpPr/>
          <p:nvPr/>
        </p:nvSpPr>
        <p:spPr>
          <a:xfrm>
            <a:off x="5126636" y="1645920"/>
            <a:ext cx="6913084" cy="46874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04D4AA-5082-AA77-8301-0E45446B466A}"/>
              </a:ext>
            </a:extLst>
          </p:cNvPr>
          <p:cNvSpPr/>
          <p:nvPr/>
        </p:nvSpPr>
        <p:spPr>
          <a:xfrm>
            <a:off x="8027232" y="112425"/>
            <a:ext cx="4012487" cy="36901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RQ2</a:t>
            </a:r>
            <a:r>
              <a:rPr lang="en-US" sz="2600" b="1" i="0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570E96-E54B-5B65-93B9-023303B58143}"/>
              </a:ext>
            </a:extLst>
          </p:cNvPr>
          <p:cNvSpPr/>
          <p:nvPr/>
        </p:nvSpPr>
        <p:spPr>
          <a:xfrm>
            <a:off x="6272299" y="2450891"/>
            <a:ext cx="5536812" cy="29860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EE36CA-69EA-93EE-7DED-EE6F60649D93}"/>
              </a:ext>
            </a:extLst>
          </p:cNvPr>
          <p:cNvSpPr/>
          <p:nvPr/>
        </p:nvSpPr>
        <p:spPr>
          <a:xfrm>
            <a:off x="7452359" y="167515"/>
            <a:ext cx="4494801" cy="1539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13E46E-C1C0-0BD7-26FB-032B248E1155}"/>
              </a:ext>
            </a:extLst>
          </p:cNvPr>
          <p:cNvSpPr/>
          <p:nvPr/>
        </p:nvSpPr>
        <p:spPr>
          <a:xfrm>
            <a:off x="1065714" y="2503357"/>
            <a:ext cx="5206585" cy="32508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015512" y="261068"/>
            <a:ext cx="1775526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6FB179C-7B51-1FA0-AC3E-667344EA1151}"/>
              </a:ext>
            </a:extLst>
          </p:cNvPr>
          <p:cNvGrpSpPr/>
          <p:nvPr/>
        </p:nvGrpSpPr>
        <p:grpSpPr>
          <a:xfrm>
            <a:off x="7580694" y="274320"/>
            <a:ext cx="2434818" cy="1280160"/>
            <a:chOff x="7580694" y="274320"/>
            <a:chExt cx="2434818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4842B0D-1563-5F77-5B18-9D0F0FD8C625}"/>
                </a:ext>
              </a:extLst>
            </p:cNvPr>
            <p:cNvGrpSpPr/>
            <p:nvPr/>
          </p:nvGrpSpPr>
          <p:grpSpPr>
            <a:xfrm>
              <a:off x="7580694" y="274320"/>
              <a:ext cx="2434818" cy="1280160"/>
              <a:chOff x="6766560" y="292608"/>
              <a:chExt cx="2434818" cy="1280160"/>
            </a:xfrm>
          </p:grpSpPr>
          <p:sp>
            <p:nvSpPr>
              <p:cNvPr id="214" name="Rounded Rectangle 213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6" name="Rounded Rectangle 215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8" name="TextBox 217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012658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 dirty="0">
                    <a:solidFill>
                      <a:srgbClr val="00143D"/>
                    </a:solidFill>
                    <a:latin typeface="Arial"/>
                  </a:rPr>
                  <a:t>Strong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8012658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77–88</a:t>
                </a:r>
              </a:p>
            </p:txBody>
          </p:sp>
        </p:grpSp>
        <p:sp>
          <p:nvSpPr>
            <p:cNvPr id="217" name="Rounded Rectangle 216"/>
            <p:cNvSpPr/>
            <p:nvPr/>
          </p:nvSpPr>
          <p:spPr>
            <a:xfrm>
              <a:off x="9224374" y="635044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011F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2" name="TextBox 221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  <a:r>
              <a:rPr sz="2200" b="1" dirty="0">
                <a:solidFill>
                  <a:srgbClr val="011F5B"/>
                </a:solidFill>
                <a:latin typeface="Arial"/>
              </a:rPr>
              <a:t> </a:t>
            </a:r>
            <a:endParaRPr lang="en-US" sz="2200" b="1" dirty="0">
              <a:solidFill>
                <a:srgbClr val="011F5B"/>
              </a:solidFill>
              <a:latin typeface="Arial"/>
            </a:endParaRP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Strong endorsements:  how did one outcome shift wagers?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171308" y="274320"/>
            <a:ext cx="1696013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46E6D1-13B7-F946-D9F4-EB852BB0D84E}"/>
              </a:ext>
            </a:extLst>
          </p:cNvPr>
          <p:cNvGrpSpPr/>
          <p:nvPr/>
        </p:nvGrpSpPr>
        <p:grpSpPr>
          <a:xfrm>
            <a:off x="7624244" y="274320"/>
            <a:ext cx="2434819" cy="1280160"/>
            <a:chOff x="6663461" y="292608"/>
            <a:chExt cx="2434819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6A38D61-7FDB-212F-A9E7-B35CD01CE104}"/>
                </a:ext>
              </a:extLst>
            </p:cNvPr>
            <p:cNvGrpSpPr/>
            <p:nvPr/>
          </p:nvGrpSpPr>
          <p:grpSpPr>
            <a:xfrm>
              <a:off x="6663461" y="292608"/>
              <a:ext cx="2434819" cy="1280160"/>
              <a:chOff x="6663461" y="292608"/>
              <a:chExt cx="2434819" cy="1280160"/>
            </a:xfrm>
          </p:grpSpPr>
          <p:sp>
            <p:nvSpPr>
              <p:cNvPr id="215" name="Rounded Rectangle 214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7" name="Rounded Rectangle 216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6663461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>
                    <a:solidFill>
                      <a:srgbClr val="B12121"/>
                    </a:solidFill>
                    <a:latin typeface="Arial"/>
                  </a:rPr>
                  <a:t>Weak</a:t>
                </a:r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6663461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12–23</a:t>
                </a:r>
              </a:p>
            </p:txBody>
          </p:sp>
        </p:grpSp>
        <p:sp>
          <p:nvSpPr>
            <p:cNvPr id="218" name="Rounded Rectangle 217"/>
            <p:cNvSpPr/>
            <p:nvPr/>
          </p:nvSpPr>
          <p:spPr>
            <a:xfrm>
              <a:off x="7143658" y="640080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B1212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3" name="TextBox 222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Weak endorsements:  how did one outcome shift wagers?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40318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>
                <a:solidFill>
                  <a:srgbClr val="111827"/>
                </a:solidFill>
              </a:rPr>
              <a:t>•  </a:t>
            </a:r>
            <a:r>
              <a:rPr lang="en-US" sz="2400" dirty="0">
                <a:solidFill>
                  <a:srgbClr val="111827"/>
                </a:solidFill>
              </a:rPr>
              <a:t>Male and female sponsors are trusted equally at baseline </a:t>
            </a:r>
            <a:endParaRPr lang="en-US" sz="2400" b="0" dirty="0">
              <a:solidFill>
                <a:srgbClr val="111827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lang="en-US"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17" name="TextBox 216"/>
          <p:cNvSpPr txBox="1"/>
          <p:nvPr/>
        </p:nvSpPr>
        <p:spPr>
          <a:xfrm>
            <a:off x="502920" y="27432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Running story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2920" y="960120"/>
            <a:ext cx="11183112" cy="34471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lang="en-US" sz="2000" b="0" i="1" dirty="0">
                <a:solidFill>
                  <a:srgbClr val="5B657A"/>
                </a:solidFill>
                <a:latin typeface="Arial"/>
              </a:rPr>
              <a:t>We theorize people have differen</a:t>
            </a:r>
            <a:r>
              <a:rPr lang="en-US" sz="2000" i="1" dirty="0">
                <a:solidFill>
                  <a:srgbClr val="5B657A"/>
                </a:solidFill>
                <a:latin typeface="Arial"/>
              </a:rPr>
              <a:t>t beliefs about men and women’s sponsorship endorsements</a:t>
            </a:r>
            <a:endParaRPr sz="2000" b="0" i="1" dirty="0">
              <a:solidFill>
                <a:srgbClr val="5B657A"/>
              </a:solidFill>
              <a:latin typeface="Arial"/>
            </a:endParaRPr>
          </a:p>
        </p:txBody>
      </p:sp>
      <p:sp>
        <p:nvSpPr>
          <p:cNvPr id="219" name="Rectangle 218"/>
          <p:cNvSpPr/>
          <p:nvPr/>
        </p:nvSpPr>
        <p:spPr>
          <a:xfrm>
            <a:off x="502920" y="154533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0" name="TextBox 219"/>
          <p:cNvSpPr txBox="1"/>
          <p:nvPr/>
        </p:nvSpPr>
        <p:spPr>
          <a:xfrm>
            <a:off x="758952" y="1417320"/>
            <a:ext cx="6327648" cy="856645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 dirty="0">
                <a:solidFill>
                  <a:srgbClr val="00143D"/>
                </a:solidFill>
                <a:latin typeface="Arial"/>
              </a:rPr>
              <a:t>Without a track record, people stay reserved.</a:t>
            </a:r>
          </a:p>
          <a:p>
            <a:pPr>
              <a:spcBef>
                <a:spcPts val="200"/>
              </a:spcBef>
            </a:pPr>
            <a:r>
              <a:rPr sz="1600" b="0" i="0" dirty="0">
                <a:solidFill>
                  <a:srgbClr val="1F2937"/>
                </a:solidFill>
                <a:latin typeface="Arial"/>
              </a:rPr>
              <a:t>RQ1 is null (b = -1.06, p = .81). </a:t>
            </a:r>
            <a:r>
              <a:rPr lang="en-US" sz="1600" b="0" i="0" dirty="0">
                <a:solidFill>
                  <a:srgbClr val="1F2937"/>
                </a:solidFill>
                <a:latin typeface="Arial"/>
              </a:rPr>
              <a:t>It’s unlikely to detect explicit discrimination when gender is such a dominant signal.</a:t>
            </a:r>
            <a:endParaRPr sz="1600" b="0" i="0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221" name="Rectangle 220"/>
          <p:cNvSpPr/>
          <p:nvPr/>
        </p:nvSpPr>
        <p:spPr>
          <a:xfrm>
            <a:off x="502920" y="273405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2" name="TextBox 221"/>
          <p:cNvSpPr txBox="1"/>
          <p:nvPr/>
        </p:nvSpPr>
        <p:spPr>
          <a:xfrm>
            <a:off x="758952" y="2606040"/>
            <a:ext cx="6327648" cy="1102866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 dirty="0">
                <a:solidFill>
                  <a:srgbClr val="00143D"/>
                </a:solidFill>
                <a:latin typeface="Arial"/>
              </a:rPr>
              <a:t>Women's endorsements: more generous on average.</a:t>
            </a:r>
          </a:p>
          <a:p>
            <a:pPr>
              <a:spcBef>
                <a:spcPts val="200"/>
              </a:spcBef>
            </a:pPr>
            <a:r>
              <a:rPr sz="1600" b="0" i="0" dirty="0">
                <a:solidFill>
                  <a:srgbClr val="1F2937"/>
                </a:solidFill>
                <a:latin typeface="Arial"/>
              </a:rPr>
              <a:t>A generous endorsement is hard to read signal from, so evaluators discount their endorsements (consistent with the effects among sponsors in the stronger confidence cells).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392277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4" name="TextBox 223"/>
          <p:cNvSpPr txBox="1"/>
          <p:nvPr/>
        </p:nvSpPr>
        <p:spPr>
          <a:xfrm>
            <a:off x="758952" y="379476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Men's endorsements: more critical but spread out.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Evaluators read men's confident calls as carrying information that can be both praised or penalized, so trust moves accordingly.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511149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6" name="TextBox 225"/>
          <p:cNvSpPr txBox="1"/>
          <p:nvPr/>
        </p:nvSpPr>
        <p:spPr>
          <a:xfrm>
            <a:off x="758951" y="4983480"/>
            <a:ext cx="7987483" cy="856645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lang="en-US" sz="1900" b="1" dirty="0">
                <a:solidFill>
                  <a:srgbClr val="00143D"/>
                </a:solidFill>
                <a:latin typeface="Arial"/>
              </a:rPr>
              <a:t>Possible suggestion to change beliefs?</a:t>
            </a:r>
            <a:r>
              <a:rPr sz="1900" b="1" i="0" dirty="0">
                <a:solidFill>
                  <a:srgbClr val="00143D"/>
                </a:solidFill>
                <a:latin typeface="Arial"/>
              </a:rPr>
              <a:t>: telegraph their standards.</a:t>
            </a:r>
          </a:p>
          <a:p>
            <a:pPr>
              <a:spcBef>
                <a:spcPts val="200"/>
              </a:spcBef>
            </a:pPr>
            <a:r>
              <a:rPr sz="1600" b="0" i="0" dirty="0">
                <a:solidFill>
                  <a:srgbClr val="1F2937"/>
                </a:solidFill>
                <a:latin typeface="Arial"/>
              </a:rPr>
              <a:t>Implication: women can't build credibility without more experience. But signaling </a:t>
            </a:r>
            <a:r>
              <a:rPr lang="en-US" sz="1600" b="0" i="0" dirty="0">
                <a:solidFill>
                  <a:srgbClr val="1F2937"/>
                </a:solidFill>
                <a:latin typeface="Arial"/>
              </a:rPr>
              <a:t>"</a:t>
            </a:r>
            <a:r>
              <a:rPr sz="1600" b="0" i="0" dirty="0">
                <a:solidFill>
                  <a:srgbClr val="1F2937"/>
                </a:solidFill>
                <a:latin typeface="Arial"/>
              </a:rPr>
              <a:t>I only recommend the top 10%" could let outcomes be re-read as informative.</a:t>
            </a:r>
          </a:p>
        </p:txBody>
      </p:sp>
      <p:pic>
        <p:nvPicPr>
          <p:cNvPr id="227" name="Picture 2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937760" cy="3035808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7178040" y="4471416"/>
            <a:ext cx="493776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Arial"/>
              </a:rPr>
              <a:t>Hypothesized prior distributions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8370</TotalTime>
  <Words>2071</Words>
  <Application>Microsoft Office PowerPoint</Application>
  <PresentationFormat>Widescreen</PresentationFormat>
  <Paragraphs>298</Paragraphs>
  <Slides>42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Cervantez, Jose A.</cp:lastModifiedBy>
  <cp:revision>104</cp:revision>
  <dcterms:created xsi:type="dcterms:W3CDTF">2016-03-10T13:41:29Z</dcterms:created>
  <dcterms:modified xsi:type="dcterms:W3CDTF">2026-04-10T14:07:02Z</dcterms:modified>
</cp:coreProperties>
</file>