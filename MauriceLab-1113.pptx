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19" r:id="rId3"/>
    <p:sldId id="320" r:id="rId4"/>
    <p:sldId id="321" r:id="rId5"/>
    <p:sldId id="322" r:id="rId6"/>
    <p:sldId id="323" r:id="rId7"/>
    <p:sldId id="324" r:id="rId8"/>
    <p:sldId id="325" r:id="rId9"/>
    <p:sldId id="326" r:id="rId10"/>
    <p:sldId id="327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60" autoAdjust="0"/>
    <p:restoredTop sz="96283"/>
  </p:normalViewPr>
  <p:slideViewPr>
    <p:cSldViewPr snapToGrid="0">
      <p:cViewPr varScale="1">
        <p:scale>
          <a:sx n="115" d="100"/>
          <a:sy n="115" d="100"/>
        </p:scale>
        <p:origin x="29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07383"/>
          </a:xfrm>
        </p:spPr>
        <p:txBody>
          <a:bodyPr/>
          <a:lstStyle/>
          <a:p>
            <a:r>
              <a:rPr lang="en-US" dirty="0"/>
              <a:t>Jose Cervantez, Erika Kirgios, Rosalind Chow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474874"/>
          </a:xfrm>
        </p:spPr>
        <p:txBody>
          <a:bodyPr/>
          <a:lstStyle/>
          <a:p>
            <a:r>
              <a:rPr lang="en-US" dirty="0"/>
              <a:t>November 13, 2025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27BD59-CAF8-ED41-AEBB-456ED013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671" y="3231203"/>
            <a:ext cx="10135871" cy="1311128"/>
          </a:xfrm>
        </p:spPr>
        <p:txBody>
          <a:bodyPr/>
          <a:lstStyle/>
          <a:p>
            <a:r>
              <a:rPr lang="en-US" sz="4400" b="1" i="0" cap="none" dirty="0">
                <a:latin typeface="Arial" panose="020B0604020202020204" pitchFamily="34" charset="0"/>
                <a:cs typeface="Arial" panose="020B0604020202020204" pitchFamily="34" charset="0"/>
              </a:rPr>
              <a:t>Who Builds Social Capital Through Sponsorship? </a:t>
            </a:r>
          </a:p>
        </p:txBody>
      </p:sp>
    </p:spTree>
    <p:extLst>
      <p:ext uri="{BB962C8B-B14F-4D97-AF65-F5344CB8AC3E}">
        <p14:creationId xmlns:p14="http://schemas.microsoft.com/office/powerpoint/2010/main" val="1546370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DBF5B-E994-58DF-30BE-90EBBE7C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61180033-AF51-242D-F29E-290CA4C5DC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FBED5A7-F2F0-2CFA-C1CE-452DC19AC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9" name="Picture 8" descr="A person in a suit and tie&#10;&#10;AI-generated content may be incorrect.">
            <a:extLst>
              <a:ext uri="{FF2B5EF4-FFF2-40B4-BE49-F238E27FC236}">
                <a16:creationId xmlns:a16="http://schemas.microsoft.com/office/drawing/2014/main" id="{00F1812E-DBC1-BA1B-020C-8EC073DC34E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115" y="1914849"/>
            <a:ext cx="2623930" cy="2623930"/>
          </a:xfrm>
          <a:prstGeom prst="rect">
            <a:avLst/>
          </a:prstGeom>
        </p:spPr>
      </p:pic>
      <p:pic>
        <p:nvPicPr>
          <p:cNvPr id="11" name="Picture 10" descr="A cartoon of a person smiling&#10;&#10;AI-generated content may be incorrect.">
            <a:extLst>
              <a:ext uri="{FF2B5EF4-FFF2-40B4-BE49-F238E27FC236}">
                <a16:creationId xmlns:a16="http://schemas.microsoft.com/office/drawing/2014/main" id="{90BDD2C0-79FB-491D-155E-F3EC478C559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97" y="1914849"/>
            <a:ext cx="2623930" cy="2623930"/>
          </a:xfrm>
          <a:prstGeom prst="rect">
            <a:avLst/>
          </a:prstGeom>
        </p:spPr>
      </p:pic>
      <p:pic>
        <p:nvPicPr>
          <p:cNvPr id="13" name="Picture 12" descr="A person in a blue shirt and tie&#10;&#10;AI-generated content may be incorrect.">
            <a:extLst>
              <a:ext uri="{FF2B5EF4-FFF2-40B4-BE49-F238E27FC236}">
                <a16:creationId xmlns:a16="http://schemas.microsoft.com/office/drawing/2014/main" id="{7BE7B399-9FC0-C0AB-5FB2-CDE554F5FCD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769" y="2100719"/>
            <a:ext cx="2623930" cy="2623930"/>
          </a:xfrm>
          <a:prstGeom prst="rect">
            <a:avLst/>
          </a:prstGeom>
        </p:spPr>
      </p:pic>
      <p:sp>
        <p:nvSpPr>
          <p:cNvPr id="22" name="Cloud 21">
            <a:extLst>
              <a:ext uri="{FF2B5EF4-FFF2-40B4-BE49-F238E27FC236}">
                <a16:creationId xmlns:a16="http://schemas.microsoft.com/office/drawing/2014/main" id="{7AA67EBC-EBCC-6080-0858-10897C2F8BB6}"/>
              </a:ext>
            </a:extLst>
          </p:cNvPr>
          <p:cNvSpPr/>
          <p:nvPr/>
        </p:nvSpPr>
        <p:spPr>
          <a:xfrm>
            <a:off x="4096624" y="759904"/>
            <a:ext cx="2383692" cy="1591449"/>
          </a:xfrm>
          <a:prstGeom prst="cloud">
            <a:avLst/>
          </a:prstGeom>
          <a:solidFill>
            <a:schemeClr val="accent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He’s great! </a:t>
            </a:r>
          </a:p>
        </p:txBody>
      </p:sp>
      <p:pic>
        <p:nvPicPr>
          <p:cNvPr id="31" name="Picture 30" descr="A person in a blue shirt and tie&#10;&#10;AI-generated content may be incorrect.">
            <a:extLst>
              <a:ext uri="{FF2B5EF4-FFF2-40B4-BE49-F238E27FC236}">
                <a16:creationId xmlns:a16="http://schemas.microsoft.com/office/drawing/2014/main" id="{D604F8F8-9BE4-BF49-9884-F6E9AD6694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42" t="14546" r="6339" b="15055"/>
          <a:stretch>
            <a:fillRect/>
          </a:stretch>
        </p:blipFill>
        <p:spPr>
          <a:xfrm>
            <a:off x="6546085" y="1837884"/>
            <a:ext cx="3165297" cy="3149599"/>
          </a:xfrm>
          <a:prstGeom prst="rect">
            <a:avLst/>
          </a:prstGeom>
        </p:spPr>
      </p:pic>
      <p:pic>
        <p:nvPicPr>
          <p:cNvPr id="7" name="Graphic 6" descr="Thumbs Down with solid fill">
            <a:extLst>
              <a:ext uri="{FF2B5EF4-FFF2-40B4-BE49-F238E27FC236}">
                <a16:creationId xmlns:a16="http://schemas.microsoft.com/office/drawing/2014/main" id="{DF9E8C08-F377-CB7B-E6B6-4905224F2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9524" y="1186319"/>
            <a:ext cx="914400" cy="914400"/>
          </a:xfrm>
          <a:prstGeom prst="rect">
            <a:avLst/>
          </a:prstGeom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E9627B6E-9CE9-A645-120E-1451596CD140}"/>
              </a:ext>
            </a:extLst>
          </p:cNvPr>
          <p:cNvSpPr/>
          <p:nvPr/>
        </p:nvSpPr>
        <p:spPr>
          <a:xfrm>
            <a:off x="3037398" y="643345"/>
            <a:ext cx="6361044" cy="1145698"/>
          </a:xfrm>
          <a:custGeom>
            <a:avLst/>
            <a:gdLst>
              <a:gd name="connsiteX0" fmla="*/ 6361044 w 6361044"/>
              <a:gd name="connsiteY0" fmla="*/ 1010526 h 1145698"/>
              <a:gd name="connsiteX1" fmla="*/ 2146852 w 6361044"/>
              <a:gd name="connsiteY1" fmla="*/ 711 h 1145698"/>
              <a:gd name="connsiteX2" fmla="*/ 0 w 6361044"/>
              <a:gd name="connsiteY2" fmla="*/ 1145698 h 1145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61044" h="1145698">
                <a:moveTo>
                  <a:pt x="6361044" y="1010526"/>
                </a:moveTo>
                <a:cubicBezTo>
                  <a:pt x="4784035" y="494354"/>
                  <a:pt x="3207026" y="-21818"/>
                  <a:pt x="2146852" y="711"/>
                </a:cubicBezTo>
                <a:cubicBezTo>
                  <a:pt x="1086678" y="23240"/>
                  <a:pt x="543339" y="584469"/>
                  <a:pt x="0" y="1145698"/>
                </a:cubicBezTo>
              </a:path>
            </a:pathLst>
          </a:custGeom>
          <a:noFill/>
          <a:ln w="2857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26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AF90D-39B8-EF39-2634-C273071A1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sponsorship?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CCBFF-376D-B480-EDB1-4BA397508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08"/>
            <a:ext cx="6262315" cy="4351338"/>
          </a:xfrm>
        </p:spPr>
        <p:txBody>
          <a:bodyPr>
            <a:noAutofit/>
          </a:bodyPr>
          <a:lstStyle/>
          <a:p>
            <a:r>
              <a:rPr lang="en-US" sz="2000" dirty="0"/>
              <a:t>Support provided to influence other people’s perceptions of a protégé’s skills, abilities, performance, and potential with the intention of helping the protege in their career, specifically by enhancing positive perceptions or reducing negative perceptions.</a:t>
            </a:r>
          </a:p>
          <a:p>
            <a:r>
              <a:rPr lang="en-US" sz="2000" dirty="0"/>
              <a:t>Some examples include: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Advocating for protégés for specific opportunities (presentations, positions, projects)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Drawing attention to protégés’ skills and achievements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Making strategic introductions to influential individuals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C6E9E6-958E-51A9-D323-C3AA6BF1DF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10CED2-3CDF-3F84-61EF-F42054097D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6" descr="A black and white image of a person standing on a pyramid&#10;&#10;AI-generated content may be incorrect.">
            <a:extLst>
              <a:ext uri="{FF2B5EF4-FFF2-40B4-BE49-F238E27FC236}">
                <a16:creationId xmlns:a16="http://schemas.microsoft.com/office/drawing/2014/main" id="{ED924FFB-BB0C-CC40-B452-6D4C6EAC2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5582" y="605190"/>
            <a:ext cx="4710485" cy="471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9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70FEA-0036-BBE3-0591-D78454DC6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08"/>
            <a:ext cx="6172200" cy="4351338"/>
          </a:xfrm>
        </p:spPr>
        <p:txBody>
          <a:bodyPr/>
          <a:lstStyle/>
          <a:p>
            <a:r>
              <a:rPr lang="en-US" dirty="0"/>
              <a:t>Compared to other forms of career support (i.e., mentorship), sponsorship is a stronger predictor of advancement.</a:t>
            </a:r>
          </a:p>
          <a:p>
            <a:r>
              <a:rPr lang="en-US" dirty="0"/>
              <a:t>Leads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Promotions and raises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High-visibility assignments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Access to leadership roles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Critical professional connections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6FFABF-A813-3D2C-2446-D098B60E3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sponsorship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41A3D3-3684-0025-CAC6-2FD54E74C5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271987-5356-DB6E-D42C-5847FA9C63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Graphic 7" descr="Money outline">
            <a:extLst>
              <a:ext uri="{FF2B5EF4-FFF2-40B4-BE49-F238E27FC236}">
                <a16:creationId xmlns:a16="http://schemas.microsoft.com/office/drawing/2014/main" id="{4CAF3267-F6F4-D7A2-33A0-02E86D0AB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37658" y="2815051"/>
            <a:ext cx="1764430" cy="1764430"/>
          </a:xfrm>
          <a:prstGeom prst="rect">
            <a:avLst/>
          </a:prstGeom>
        </p:spPr>
      </p:pic>
      <p:pic>
        <p:nvPicPr>
          <p:cNvPr id="12" name="Graphic 11" descr="Social network with solid fill">
            <a:extLst>
              <a:ext uri="{FF2B5EF4-FFF2-40B4-BE49-F238E27FC236}">
                <a16:creationId xmlns:a16="http://schemas.microsoft.com/office/drawing/2014/main" id="{7CF9DE3F-D492-CA88-3B30-D8D5B1E573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99434" y="2692621"/>
            <a:ext cx="1947014" cy="1947014"/>
          </a:xfrm>
          <a:prstGeom prst="rect">
            <a:avLst/>
          </a:prstGeom>
        </p:spPr>
      </p:pic>
      <p:pic>
        <p:nvPicPr>
          <p:cNvPr id="14" name="Graphic 13" descr="Handshake with solid fill">
            <a:extLst>
              <a:ext uri="{FF2B5EF4-FFF2-40B4-BE49-F238E27FC236}">
                <a16:creationId xmlns:a16="http://schemas.microsoft.com/office/drawing/2014/main" id="{549F3989-2DD3-71D1-17E9-13C0076050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25692" y="553402"/>
            <a:ext cx="2491409" cy="249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6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557A-710A-0ED5-15C9-F5B7EFB12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FBB8F-67A5-D127-7D10-8B56ED73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decision to sponsor has several tradeoffs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435D-F359-4EF2-0A98-97260DC0E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Sponsorship involves significant risk for </a:t>
            </a:r>
            <a:r>
              <a:rPr lang="en-US" b="1" dirty="0"/>
              <a:t>sponsors</a:t>
            </a:r>
            <a:r>
              <a:rPr lang="en-US" dirty="0"/>
              <a:t>: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7FB3A1-A3A0-F060-1D21-DCC501DD96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9C0CE-2B58-3559-9779-D7570AA81F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5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E1D70E-C399-F467-C16E-8CC534CCD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330990"/>
              </p:ext>
            </p:extLst>
          </p:nvPr>
        </p:nvGraphicFramePr>
        <p:xfrm>
          <a:off x="722242" y="2054087"/>
          <a:ext cx="10243932" cy="3685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1966">
                  <a:extLst>
                    <a:ext uri="{9D8B030D-6E8A-4147-A177-3AD203B41FA5}">
                      <a16:colId xmlns:a16="http://schemas.microsoft.com/office/drawing/2014/main" val="3602741182"/>
                    </a:ext>
                  </a:extLst>
                </a:gridCol>
                <a:gridCol w="5121966">
                  <a:extLst>
                    <a:ext uri="{9D8B030D-6E8A-4147-A177-3AD203B41FA5}">
                      <a16:colId xmlns:a16="http://schemas.microsoft.com/office/drawing/2014/main" val="2797089743"/>
                    </a:ext>
                  </a:extLst>
                </a:gridCol>
              </a:tblGrid>
              <a:tr h="646877">
                <a:tc>
                  <a:txBody>
                    <a:bodyPr/>
                    <a:lstStyle/>
                    <a:p>
                      <a:r>
                        <a:rPr lang="en-US" sz="2400" dirty="0"/>
                        <a:t>When a protégé </a:t>
                      </a:r>
                      <a:r>
                        <a:rPr lang="en-US" sz="2400" dirty="0">
                          <a:solidFill>
                            <a:srgbClr val="00B050"/>
                          </a:solidFill>
                        </a:rPr>
                        <a:t>succeeds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When a protégé 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482723"/>
                  </a:ext>
                </a:extLst>
              </a:tr>
              <a:tr h="872546">
                <a:tc>
                  <a:txBody>
                    <a:bodyPr/>
                    <a:lstStyle/>
                    <a:p>
                      <a:r>
                        <a:rPr lang="en-US" sz="2400" dirty="0"/>
                        <a:t>Sponsor enhances their reputation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Sponsor’s credibility is damaged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394621"/>
                  </a:ext>
                </a:extLst>
              </a:tr>
              <a:tr h="646877">
                <a:tc>
                  <a:txBody>
                    <a:bodyPr/>
                    <a:lstStyle/>
                    <a:p>
                      <a:r>
                        <a:rPr lang="en-US" sz="2400" dirty="0"/>
                        <a:t>Seen as having good judgment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Reputation for poor judgment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944145"/>
                  </a:ext>
                </a:extLst>
              </a:tr>
              <a:tr h="872546">
                <a:tc>
                  <a:txBody>
                    <a:bodyPr/>
                    <a:lstStyle/>
                    <a:p>
                      <a:r>
                        <a:rPr lang="en-US" sz="2400" dirty="0"/>
                        <a:t>Strengthens network relationships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Network relationships may suffer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7783271"/>
                  </a:ext>
                </a:extLst>
              </a:tr>
              <a:tr h="646877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000000"/>
                          </a:solidFill>
                        </a:rPr>
                        <a:t>Social capital is gained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</a:rPr>
                        <a:t>Social capital is lost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265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991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9C3A-7619-4AE5-7543-E8FE544B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D9684-D634-F7DC-38B9-BDE647D58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7930"/>
          </a:xfrm>
        </p:spPr>
        <p:txBody>
          <a:bodyPr/>
          <a:lstStyle/>
          <a:p>
            <a:r>
              <a:rPr lang="en-US" dirty="0"/>
              <a:t>More importantly, how do these tradeoffs influence sponsor perceptions as a function of gender?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9F3F9-2D18-4276-6C39-A1A1D7908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800" dirty="0"/>
              <a:t>How does protégé outcome influence a sponsor’s outcomes?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Are women punished more harshly for their protégé’s failures? Are they rewarded, less?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Do women sponsors hedge their endorsements (lower confidence) relative to men?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Do audiences hold women sponsors to different credibility standards?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823F2B-5BDE-5507-F8FE-27BCC3EE0E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65F422-704F-7EE0-B90C-CCDC600386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8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297F-3D78-F8FA-E6B7-9093A2D7F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41494-12CB-1436-3EBF-D493F16FC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1B56A-41F5-010C-5F08-D67FD5B385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9D0FA-0BBD-8B72-475F-97F582E03D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7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DC27017-1AA2-F2C3-8FDA-E3518A1057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639702"/>
              </p:ext>
            </p:extLst>
          </p:nvPr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A1E703C-5D6A-61A9-69D6-0782A047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719507"/>
              </p:ext>
            </p:extLst>
          </p:nvPr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5A8D550-1458-0151-4BFB-9616713B4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281861"/>
              </p:ext>
            </p:extLst>
          </p:nvPr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427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C48E-A5CD-BC99-9CED-AF9961F1E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1A42F-DD22-FD57-9B8D-AEC763F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83400C-C088-1D72-ED4A-4626DA667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B37EC9-327F-0C16-0740-AAE506A36B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C4A8759-1965-231B-E470-5F91CE85871D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91C691B-A069-7B1A-549F-81F6B54B1D91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FCF9D7A-1ED4-52A4-CF39-15F94BFE2A19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D4CD780A-06D0-B412-ACDD-EE8C0BBA88C5}"/>
              </a:ext>
            </a:extLst>
          </p:cNvPr>
          <p:cNvSpPr/>
          <p:nvPr/>
        </p:nvSpPr>
        <p:spPr>
          <a:xfrm>
            <a:off x="4175540" y="1436572"/>
            <a:ext cx="7690677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47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FD3D-3E38-A7D2-0C92-607B960D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72BAB-591B-546E-8EC2-13C64042F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B926C-A5E9-165C-0939-0C4D26B149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2848DD-E95A-C322-C140-2421ACF9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139E466-ABFB-E7FF-076F-6D90557B18F3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8452ED7-56E8-DB40-6089-B3DE97AA8EAC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CA6A201-8AAD-728A-2255-EC5078CFD176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BCF7DBB7-75C0-7BAC-69C8-B2EA858F46E2}"/>
              </a:ext>
            </a:extLst>
          </p:cNvPr>
          <p:cNvSpPr/>
          <p:nvPr/>
        </p:nvSpPr>
        <p:spPr>
          <a:xfrm>
            <a:off x="8120269" y="1436572"/>
            <a:ext cx="3745948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56E7F6-44E3-216A-33D1-CF919F890DFA}"/>
              </a:ext>
            </a:extLst>
          </p:cNvPr>
          <p:cNvSpPr/>
          <p:nvPr/>
        </p:nvSpPr>
        <p:spPr>
          <a:xfrm>
            <a:off x="325783" y="1436572"/>
            <a:ext cx="3745948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291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A93C8-CEEA-4EDC-1620-692C0E52C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D779B-DE0F-8D8F-E6E9-779ACCE72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0E58E1-BD44-EE1D-0CE3-542E62C9EE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50FD0-9496-D1F3-7567-995F6F4C0B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91D6382-1E4E-8DF9-9777-BB09FB131018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24351C2-402B-0736-E2FB-61B08FDB6C98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ED19CAB-9054-F0D1-3FBE-0E3F81B70360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17DDE98C-9735-1744-72CC-6C776B573084}"/>
              </a:ext>
            </a:extLst>
          </p:cNvPr>
          <p:cNvSpPr/>
          <p:nvPr/>
        </p:nvSpPr>
        <p:spPr>
          <a:xfrm>
            <a:off x="325783" y="1436572"/>
            <a:ext cx="7595705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41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F0AB78E-5138-458B-832F-843F6134524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1" y="914400"/>
            <a:ext cx="2743199" cy="3136723"/>
          </a:xfrm>
          <a:prstGeom prst="rect">
            <a:avLst/>
          </a:prstGeom>
          <a:noFill/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59EE47E-D880-44A0-98EC-1C6DB40C50A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80907" y="4465885"/>
            <a:ext cx="4030185" cy="105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68895"/>
      </p:ext>
    </p:extLst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7891</TotalTime>
  <Words>754</Words>
  <Application>Microsoft Office PowerPoint</Application>
  <PresentationFormat>Widescreen</PresentationFormat>
  <Paragraphs>120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Garamond</vt:lpstr>
      <vt:lpstr>Georgia</vt:lpstr>
      <vt:lpstr>Wharton 2016 16:9</vt:lpstr>
      <vt:lpstr>Who Builds Social Capital Through Sponsorship? </vt:lpstr>
      <vt:lpstr>PowerPoint Presentation</vt:lpstr>
      <vt:lpstr>What is sponsorship?</vt:lpstr>
      <vt:lpstr>Why sponsorship matters</vt:lpstr>
      <vt:lpstr>The decision to sponsor has several tradeoffs</vt:lpstr>
      <vt:lpstr>More importantly, how do these tradeoffs influence sponsor perceptions as a function of gender?</vt:lpstr>
      <vt:lpstr>Multi-stage lab experiment</vt:lpstr>
      <vt:lpstr>Multi-stage lab experiment</vt:lpstr>
      <vt:lpstr>Multi-stage lab experiment</vt:lpstr>
      <vt:lpstr>Multi-stage lab experiment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Cervantez, Jose A.</cp:lastModifiedBy>
  <cp:revision>80</cp:revision>
  <dcterms:created xsi:type="dcterms:W3CDTF">2016-03-10T13:41:29Z</dcterms:created>
  <dcterms:modified xsi:type="dcterms:W3CDTF">2025-11-05T18:45:28Z</dcterms:modified>
</cp:coreProperties>
</file>