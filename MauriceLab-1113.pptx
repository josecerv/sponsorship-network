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56" r:id="rId2"/>
    <p:sldId id="319" r:id="rId3"/>
    <p:sldId id="320" r:id="rId4"/>
    <p:sldId id="322" r:id="rId5"/>
    <p:sldId id="323" r:id="rId6"/>
    <p:sldId id="324" r:id="rId7"/>
    <p:sldId id="325" r:id="rId8"/>
    <p:sldId id="328" r:id="rId9"/>
    <p:sldId id="326" r:id="rId10"/>
    <p:sldId id="347" r:id="rId11"/>
    <p:sldId id="329" r:id="rId12"/>
    <p:sldId id="332" r:id="rId13"/>
    <p:sldId id="333" r:id="rId14"/>
    <p:sldId id="335" r:id="rId15"/>
    <p:sldId id="336" r:id="rId16"/>
    <p:sldId id="337" r:id="rId17"/>
    <p:sldId id="339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327" r:id="rId26"/>
    <p:sldId id="348" r:id="rId27"/>
    <p:sldId id="349" r:id="rId28"/>
    <p:sldId id="350" r:id="rId29"/>
    <p:sldId id="352" r:id="rId30"/>
    <p:sldId id="353" r:id="rId31"/>
    <p:sldId id="354" r:id="rId32"/>
    <p:sldId id="356" r:id="rId33"/>
    <p:sldId id="357" r:id="rId34"/>
    <p:sldId id="358" r:id="rId35"/>
    <p:sldId id="359" r:id="rId36"/>
    <p:sldId id="360" r:id="rId37"/>
    <p:sldId id="361" r:id="rId38"/>
    <p:sldId id="362" r:id="rId39"/>
    <p:sldId id="26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19"/>
            <p14:sldId id="320"/>
            <p14:sldId id="322"/>
            <p14:sldId id="323"/>
            <p14:sldId id="324"/>
            <p14:sldId id="325"/>
            <p14:sldId id="328"/>
            <p14:sldId id="326"/>
            <p14:sldId id="347"/>
            <p14:sldId id="329"/>
            <p14:sldId id="332"/>
            <p14:sldId id="333"/>
            <p14:sldId id="335"/>
            <p14:sldId id="336"/>
            <p14:sldId id="337"/>
            <p14:sldId id="339"/>
            <p14:sldId id="340"/>
            <p14:sldId id="341"/>
            <p14:sldId id="342"/>
            <p14:sldId id="343"/>
            <p14:sldId id="346"/>
            <p14:sldId id="344"/>
            <p14:sldId id="345"/>
            <p14:sldId id="327"/>
            <p14:sldId id="348"/>
            <p14:sldId id="349"/>
            <p14:sldId id="350"/>
            <p14:sldId id="352"/>
            <p14:sldId id="353"/>
            <p14:sldId id="354"/>
            <p14:sldId id="356"/>
            <p14:sldId id="357"/>
            <p14:sldId id="358"/>
            <p14:sldId id="359"/>
            <p14:sldId id="360"/>
            <p14:sldId id="361"/>
            <p14:sldId id="3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96283"/>
  </p:normalViewPr>
  <p:slideViewPr>
    <p:cSldViewPr snapToGrid="0">
      <p:cViewPr varScale="1">
        <p:scale>
          <a:sx n="96" d="100"/>
          <a:sy n="96" d="100"/>
        </p:scale>
        <p:origin x="58" y="1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harton.qualtrics.com/jfe/form/SV_6yEQEFjnFJ13klo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harton.qualtrics.com/jfe/form/SV_6yEQEFjnFJ13klo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harton.qualtrics.com/jfe/form/SV_6yEQEFjnFJ13klo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harton.qualtrics.com/jfe/form/SV_6yEQEFjnFJ13klo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07383"/>
          </a:xfrm>
        </p:spPr>
        <p:txBody>
          <a:bodyPr/>
          <a:lstStyle/>
          <a:p>
            <a:r>
              <a:rPr lang="en-US" dirty="0"/>
              <a:t>Jose Cervantez, Erika Kirgios, Rosalind Chow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474874"/>
          </a:xfrm>
        </p:spPr>
        <p:txBody>
          <a:bodyPr/>
          <a:lstStyle/>
          <a:p>
            <a:r>
              <a:rPr lang="en-US" dirty="0"/>
              <a:t>November 13, 2025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27BD59-CAF8-ED41-AEBB-456ED013B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5671" y="3231203"/>
            <a:ext cx="10135871" cy="1311128"/>
          </a:xfrm>
        </p:spPr>
        <p:txBody>
          <a:bodyPr/>
          <a:lstStyle/>
          <a:p>
            <a:r>
              <a:rPr lang="en-US" sz="4400" b="1" i="0" cap="none" dirty="0">
                <a:latin typeface="Arial" panose="020B0604020202020204" pitchFamily="34" charset="0"/>
                <a:cs typeface="Arial" panose="020B0604020202020204" pitchFamily="34" charset="0"/>
              </a:rPr>
              <a:t>Who Builds Social Capital Through Sponsorship? </a:t>
            </a:r>
          </a:p>
        </p:txBody>
      </p:sp>
    </p:spTree>
    <p:extLst>
      <p:ext uri="{BB962C8B-B14F-4D97-AF65-F5344CB8AC3E}">
        <p14:creationId xmlns:p14="http://schemas.microsoft.com/office/powerpoint/2010/main" val="1546370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DBF5B-E994-58DF-30BE-90EBBE7C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61180033-AF51-242D-F29E-290CA4C5DC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FBED5A7-F2F0-2CFA-C1CE-452DC19AC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9" name="Picture 8" descr="A person in a suit and tie&#10;&#10;AI-generated content may be incorrect.">
            <a:extLst>
              <a:ext uri="{FF2B5EF4-FFF2-40B4-BE49-F238E27FC236}">
                <a16:creationId xmlns:a16="http://schemas.microsoft.com/office/drawing/2014/main" id="{00F1812E-DBC1-BA1B-020C-8EC073DC34E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115" y="1914849"/>
            <a:ext cx="2623930" cy="2623930"/>
          </a:xfrm>
          <a:prstGeom prst="rect">
            <a:avLst/>
          </a:prstGeom>
        </p:spPr>
      </p:pic>
      <p:pic>
        <p:nvPicPr>
          <p:cNvPr id="11" name="Picture 10" descr="A cartoon of a person smiling&#10;&#10;AI-generated content may be incorrect.">
            <a:extLst>
              <a:ext uri="{FF2B5EF4-FFF2-40B4-BE49-F238E27FC236}">
                <a16:creationId xmlns:a16="http://schemas.microsoft.com/office/drawing/2014/main" id="{90BDD2C0-79FB-491D-155E-F3EC478C559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497" y="1914849"/>
            <a:ext cx="2623930" cy="2623930"/>
          </a:xfrm>
          <a:prstGeom prst="rect">
            <a:avLst/>
          </a:prstGeom>
        </p:spPr>
      </p:pic>
      <p:pic>
        <p:nvPicPr>
          <p:cNvPr id="13" name="Picture 12" descr="A person in a blue shirt and tie&#10;&#10;AI-generated content may be incorrect.">
            <a:extLst>
              <a:ext uri="{FF2B5EF4-FFF2-40B4-BE49-F238E27FC236}">
                <a16:creationId xmlns:a16="http://schemas.microsoft.com/office/drawing/2014/main" id="{7BE7B399-9FC0-C0AB-5FB2-CDE554F5FCD7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769" y="2100719"/>
            <a:ext cx="2623930" cy="2623930"/>
          </a:xfrm>
          <a:prstGeom prst="rect">
            <a:avLst/>
          </a:prstGeom>
        </p:spPr>
      </p:pic>
      <p:pic>
        <p:nvPicPr>
          <p:cNvPr id="31" name="Picture 30" descr="A person in a blue shirt and tie&#10;&#10;AI-generated content may be incorrect.">
            <a:extLst>
              <a:ext uri="{FF2B5EF4-FFF2-40B4-BE49-F238E27FC236}">
                <a16:creationId xmlns:a16="http://schemas.microsoft.com/office/drawing/2014/main" id="{D604F8F8-9BE4-BF49-9884-F6E9AD6694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42" t="14546" r="6339" b="15055"/>
          <a:stretch>
            <a:fillRect/>
          </a:stretch>
        </p:blipFill>
        <p:spPr>
          <a:xfrm>
            <a:off x="6546085" y="1837884"/>
            <a:ext cx="3165297" cy="3149599"/>
          </a:xfrm>
          <a:prstGeom prst="rect">
            <a:avLst/>
          </a:prstGeom>
        </p:spPr>
      </p:pic>
      <p:pic>
        <p:nvPicPr>
          <p:cNvPr id="7" name="Graphic 6" descr="Thumbs Down with solid fill">
            <a:extLst>
              <a:ext uri="{FF2B5EF4-FFF2-40B4-BE49-F238E27FC236}">
                <a16:creationId xmlns:a16="http://schemas.microsoft.com/office/drawing/2014/main" id="{DF9E8C08-F377-CB7B-E6B6-4905224F2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9524" y="1186319"/>
            <a:ext cx="914400" cy="914400"/>
          </a:xfrm>
          <a:prstGeom prst="rect">
            <a:avLst/>
          </a:prstGeom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E9627B6E-9CE9-A645-120E-1451596CD140}"/>
              </a:ext>
            </a:extLst>
          </p:cNvPr>
          <p:cNvSpPr/>
          <p:nvPr/>
        </p:nvSpPr>
        <p:spPr>
          <a:xfrm>
            <a:off x="3087974" y="402151"/>
            <a:ext cx="6301550" cy="1303297"/>
          </a:xfrm>
          <a:custGeom>
            <a:avLst/>
            <a:gdLst>
              <a:gd name="connsiteX0" fmla="*/ 6361044 w 6361044"/>
              <a:gd name="connsiteY0" fmla="*/ 1010526 h 1145698"/>
              <a:gd name="connsiteX1" fmla="*/ 2146852 w 6361044"/>
              <a:gd name="connsiteY1" fmla="*/ 711 h 1145698"/>
              <a:gd name="connsiteX2" fmla="*/ 0 w 6361044"/>
              <a:gd name="connsiteY2" fmla="*/ 1145698 h 1145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61044" h="1145698">
                <a:moveTo>
                  <a:pt x="6361044" y="1010526"/>
                </a:moveTo>
                <a:cubicBezTo>
                  <a:pt x="4784035" y="494354"/>
                  <a:pt x="3207026" y="-21818"/>
                  <a:pt x="2146852" y="711"/>
                </a:cubicBezTo>
                <a:cubicBezTo>
                  <a:pt x="1086678" y="23240"/>
                  <a:pt x="543339" y="584469"/>
                  <a:pt x="0" y="1145698"/>
                </a:cubicBezTo>
              </a:path>
            </a:pathLst>
          </a:custGeom>
          <a:noFill/>
          <a:ln w="28575">
            <a:solidFill>
              <a:srgbClr val="C0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7AA67EBC-EBCC-6080-0858-10897C2F8BB6}"/>
              </a:ext>
            </a:extLst>
          </p:cNvPr>
          <p:cNvSpPr/>
          <p:nvPr/>
        </p:nvSpPr>
        <p:spPr>
          <a:xfrm>
            <a:off x="4077812" y="909723"/>
            <a:ext cx="2383692" cy="1591449"/>
          </a:xfrm>
          <a:prstGeom prst="cloud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He’s AMAZING!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E75886-E5EC-144B-6589-1EFCCDD61A4E}"/>
              </a:ext>
            </a:extLst>
          </p:cNvPr>
          <p:cNvSpPr/>
          <p:nvPr/>
        </p:nvSpPr>
        <p:spPr>
          <a:xfrm>
            <a:off x="4077811" y="855799"/>
            <a:ext cx="2656698" cy="15914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B23DB7B8-ED52-56B9-239A-94F0EB08F17D}"/>
              </a:ext>
            </a:extLst>
          </p:cNvPr>
          <p:cNvSpPr/>
          <p:nvPr/>
        </p:nvSpPr>
        <p:spPr>
          <a:xfrm>
            <a:off x="4089749" y="1001659"/>
            <a:ext cx="2339917" cy="1515425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He’s good! </a:t>
            </a:r>
          </a:p>
        </p:txBody>
      </p:sp>
    </p:spTree>
    <p:extLst>
      <p:ext uri="{BB962C8B-B14F-4D97-AF65-F5344CB8AC3E}">
        <p14:creationId xmlns:p14="http://schemas.microsoft.com/office/powerpoint/2010/main" val="318726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2" grpId="0" animBg="1"/>
      <p:bldP spid="3" grpId="0" animBg="1"/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AF90D-39B8-EF39-2634-C273071A1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sponsorship?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CCBFF-376D-B480-EDB1-4BA397508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08"/>
            <a:ext cx="6262315" cy="4351338"/>
          </a:xfrm>
        </p:spPr>
        <p:txBody>
          <a:bodyPr>
            <a:noAutofit/>
          </a:bodyPr>
          <a:lstStyle/>
          <a:p>
            <a:r>
              <a:rPr lang="en-US" sz="2000" dirty="0"/>
              <a:t>Support provided to influence other people’s perceptions of a protégé’s skills, abilities, performance, and potential with the intention of helping the protege in their career, specifically by enhancing positive perceptions or reducing negative perceptions.</a:t>
            </a:r>
          </a:p>
          <a:p>
            <a:r>
              <a:rPr lang="en-US" sz="2000" dirty="0"/>
              <a:t>Some examples include: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Advocating for protégés for specific opportunities (presentations, positions, projects)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Drawing attention to protégés’ skills and achievements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Making strategic introductions to influential individuals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C6E9E6-958E-51A9-D323-C3AA6BF1DF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10CED2-3CDF-3F84-61EF-F42054097D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" name="Picture 6" descr="A black and white image of a person standing on a pyramid&#10;&#10;AI-generated content may be incorrect.">
            <a:extLst>
              <a:ext uri="{FF2B5EF4-FFF2-40B4-BE49-F238E27FC236}">
                <a16:creationId xmlns:a16="http://schemas.microsoft.com/office/drawing/2014/main" id="{ED924FFB-BB0C-CC40-B452-6D4C6EAC2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5582" y="605190"/>
            <a:ext cx="4710485" cy="471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9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E557A-710A-0ED5-15C9-F5B7EFB12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FBB8F-67A5-D127-7D10-8B56ED73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decision to sponsor has several tradeoffs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435D-F359-4EF2-0A98-97260DC0E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Sponsorship involves significant risk for </a:t>
            </a:r>
            <a:r>
              <a:rPr lang="en-US" b="1" dirty="0"/>
              <a:t>sponsors</a:t>
            </a:r>
            <a:r>
              <a:rPr lang="en-US" dirty="0"/>
              <a:t>: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7FB3A1-A3A0-F060-1D21-DCC501DD96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9C0CE-2B58-3559-9779-D7570AA81F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4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E1D70E-C399-F467-C16E-8CC534CCD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330990"/>
              </p:ext>
            </p:extLst>
          </p:nvPr>
        </p:nvGraphicFramePr>
        <p:xfrm>
          <a:off x="722242" y="2054087"/>
          <a:ext cx="10243932" cy="3685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1966">
                  <a:extLst>
                    <a:ext uri="{9D8B030D-6E8A-4147-A177-3AD203B41FA5}">
                      <a16:colId xmlns:a16="http://schemas.microsoft.com/office/drawing/2014/main" val="3602741182"/>
                    </a:ext>
                  </a:extLst>
                </a:gridCol>
                <a:gridCol w="5121966">
                  <a:extLst>
                    <a:ext uri="{9D8B030D-6E8A-4147-A177-3AD203B41FA5}">
                      <a16:colId xmlns:a16="http://schemas.microsoft.com/office/drawing/2014/main" val="2797089743"/>
                    </a:ext>
                  </a:extLst>
                </a:gridCol>
              </a:tblGrid>
              <a:tr h="646877">
                <a:tc>
                  <a:txBody>
                    <a:bodyPr/>
                    <a:lstStyle/>
                    <a:p>
                      <a:r>
                        <a:rPr lang="en-US" sz="2400" dirty="0"/>
                        <a:t>When a protégé </a:t>
                      </a:r>
                      <a:r>
                        <a:rPr lang="en-US" sz="2400" dirty="0">
                          <a:solidFill>
                            <a:srgbClr val="00B050"/>
                          </a:solidFill>
                        </a:rPr>
                        <a:t>succeeds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When a protégé 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fails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482723"/>
                  </a:ext>
                </a:extLst>
              </a:tr>
              <a:tr h="872546">
                <a:tc>
                  <a:txBody>
                    <a:bodyPr/>
                    <a:lstStyle/>
                    <a:p>
                      <a:r>
                        <a:rPr lang="en-US" sz="2400" dirty="0"/>
                        <a:t>Sponsor enhances their reputation</a:t>
                      </a:r>
                      <a:endParaRPr lang="en-US" sz="24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Sponsor’s credibility is damaged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394621"/>
                  </a:ext>
                </a:extLst>
              </a:tr>
              <a:tr h="646877">
                <a:tc>
                  <a:txBody>
                    <a:bodyPr/>
                    <a:lstStyle/>
                    <a:p>
                      <a:r>
                        <a:rPr lang="en-US" sz="2400" dirty="0"/>
                        <a:t>Seen as having good judgment</a:t>
                      </a:r>
                      <a:endParaRPr lang="en-US" sz="24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Reputation for poor judgment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944145"/>
                  </a:ext>
                </a:extLst>
              </a:tr>
              <a:tr h="872546">
                <a:tc>
                  <a:txBody>
                    <a:bodyPr/>
                    <a:lstStyle/>
                    <a:p>
                      <a:r>
                        <a:rPr lang="en-US" sz="2400" dirty="0"/>
                        <a:t>Strengthens network relationships</a:t>
                      </a:r>
                      <a:endParaRPr lang="en-US" sz="24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Network relationships may suffer</a:t>
                      </a:r>
                      <a:endParaRPr 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7783271"/>
                  </a:ext>
                </a:extLst>
              </a:tr>
              <a:tr h="646877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000000"/>
                          </a:solidFill>
                        </a:rPr>
                        <a:t>Social capital is gained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</a:rPr>
                        <a:t>Social capital is lost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265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991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9C3A-7619-4AE5-7543-E8FE544B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D9684-D634-F7DC-38B9-BDE647D58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7930"/>
          </a:xfrm>
        </p:spPr>
        <p:txBody>
          <a:bodyPr/>
          <a:lstStyle/>
          <a:p>
            <a:r>
              <a:rPr lang="en-US" dirty="0"/>
              <a:t>More importantly, how do these tradeoffs influence sponsor perceptions as a function of gender?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9F3F9-2D18-4276-6C39-A1A1D7908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800" dirty="0"/>
              <a:t>How does protégé outcome influence a sponsor’s social capital?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200" dirty="0"/>
              <a:t>Are women punished more harshly for their protégé’s failures? Are they rewarded, less?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Do women sponsors hedge their endorsements (lower confidence) relative to men?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Do audiences hold women sponsors to different credibility standards?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823F2B-5BDE-5507-F8FE-27BCC3EE0E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65F422-704F-7EE0-B90C-CCDC600386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80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E297F-3D78-F8FA-E6B7-9093A2D7F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41494-12CB-1436-3EBF-D493F16FC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E1B56A-41F5-010C-5F08-D67FD5B385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9D0FA-0BBD-8B72-475F-97F582E03DE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DC27017-1AA2-F2C3-8FDA-E3518A1057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639702"/>
              </p:ext>
            </p:extLst>
          </p:nvPr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A1E703C-5D6A-61A9-69D6-0782A0472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4719507"/>
              </p:ext>
            </p:extLst>
          </p:nvPr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5A8D550-1458-0151-4BFB-9616713B4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281861"/>
              </p:ext>
            </p:extLst>
          </p:nvPr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6427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C48E-A5CD-BC99-9CED-AF9961F1E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1A42F-DD22-FD57-9B8D-AEC763F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83400C-C088-1D72-ED4A-4626DA667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B37EC9-327F-0C16-0740-AAE506A36B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7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C4A8759-1965-231B-E470-5F91CE85871D}"/>
              </a:ext>
            </a:extLst>
          </p:cNvPr>
          <p:cNvGraphicFramePr>
            <a:graphicFrameLocks noGrp="1"/>
          </p:cNvGraphicFramePr>
          <p:nvPr/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91C691B-A069-7B1A-549F-81F6B54B1D91}"/>
              </a:ext>
            </a:extLst>
          </p:cNvPr>
          <p:cNvGraphicFramePr>
            <a:graphicFrameLocks noGrp="1"/>
          </p:cNvGraphicFramePr>
          <p:nvPr/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0FCF9D7A-1ED4-52A4-CF39-15F94BFE2A19}"/>
              </a:ext>
            </a:extLst>
          </p:cNvPr>
          <p:cNvGraphicFramePr>
            <a:graphicFrameLocks noGrp="1"/>
          </p:cNvGraphicFramePr>
          <p:nvPr/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D4CD780A-06D0-B412-ACDD-EE8C0BBA88C5}"/>
              </a:ext>
            </a:extLst>
          </p:cNvPr>
          <p:cNvSpPr/>
          <p:nvPr/>
        </p:nvSpPr>
        <p:spPr>
          <a:xfrm>
            <a:off x="4175540" y="1436572"/>
            <a:ext cx="7690677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47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B51F8-C887-3A47-0FA0-1A87D15F8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309095-30D4-B84A-15BB-BB8A0E8752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2AEE7A-EE36-4185-95E0-2F7695EF83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97FA438-D031-D36B-7861-8C38C9543A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74" t="11438" r="24413" b="48763"/>
          <a:stretch>
            <a:fillRect/>
          </a:stretch>
        </p:blipFill>
        <p:spPr>
          <a:xfrm>
            <a:off x="4476205" y="3566864"/>
            <a:ext cx="3457303" cy="27294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324516C-62F9-8344-03DE-E3A8027FE3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92" t="80889" r="24984"/>
          <a:stretch>
            <a:fillRect/>
          </a:stretch>
        </p:blipFill>
        <p:spPr>
          <a:xfrm>
            <a:off x="6096000" y="1468098"/>
            <a:ext cx="5081409" cy="19609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B6AA9C5-883F-C220-621B-CE8CC08365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05" t="52889" r="18254" b="21206"/>
          <a:stretch>
            <a:fillRect/>
          </a:stretch>
        </p:blipFill>
        <p:spPr>
          <a:xfrm>
            <a:off x="706011" y="1197427"/>
            <a:ext cx="5498845" cy="230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9257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FD3D-3E38-A7D2-0C92-607B960D4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72BAB-591B-546E-8EC2-13C64042F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B926C-A5E9-165C-0939-0C4D26B149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2848DD-E95A-C322-C140-2421ACF9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9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139E466-ABFB-E7FF-076F-6D90557B18F3}"/>
              </a:ext>
            </a:extLst>
          </p:cNvPr>
          <p:cNvGraphicFramePr>
            <a:graphicFrameLocks noGrp="1"/>
          </p:cNvGraphicFramePr>
          <p:nvPr/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8452ED7-56E8-DB40-6089-B3DE97AA8EAC}"/>
              </a:ext>
            </a:extLst>
          </p:cNvPr>
          <p:cNvGraphicFramePr>
            <a:graphicFrameLocks noGrp="1"/>
          </p:cNvGraphicFramePr>
          <p:nvPr/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CA6A201-8AAD-728A-2255-EC5078CFD176}"/>
              </a:ext>
            </a:extLst>
          </p:cNvPr>
          <p:cNvGraphicFramePr>
            <a:graphicFrameLocks noGrp="1"/>
          </p:cNvGraphicFramePr>
          <p:nvPr/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BCF7DBB7-75C0-7BAC-69C8-B2EA858F46E2}"/>
              </a:ext>
            </a:extLst>
          </p:cNvPr>
          <p:cNvSpPr/>
          <p:nvPr/>
        </p:nvSpPr>
        <p:spPr>
          <a:xfrm>
            <a:off x="8120269" y="1436572"/>
            <a:ext cx="3745948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56E7F6-44E3-216A-33D1-CF919F890DFA}"/>
              </a:ext>
            </a:extLst>
          </p:cNvPr>
          <p:cNvSpPr/>
          <p:nvPr/>
        </p:nvSpPr>
        <p:spPr>
          <a:xfrm>
            <a:off x="325783" y="1436572"/>
            <a:ext cx="3745948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291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A50F-567F-1350-562C-00A1BEF5F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903252-B2B8-6CD7-6ACB-3C8D0F3E45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C0E9BA-8590-63E1-675B-AF24EBC388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DAE09-7B73-03A1-EA65-FD2AA0493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60801"/>
            <a:ext cx="12192000" cy="3936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567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68664-ECDA-00BE-1356-B015B911C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53E12-4186-D968-43E3-A1A37141AF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2991A2-8492-2B77-981F-AC0F666C5C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F4A5D1-F347-BD6F-3E43-9A21B1C376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23"/>
          <a:stretch>
            <a:fillRect/>
          </a:stretch>
        </p:blipFill>
        <p:spPr>
          <a:xfrm>
            <a:off x="209550" y="102691"/>
            <a:ext cx="11772900" cy="607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358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FDBF-B128-E50E-E211-61F9D8A3E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B7860-B2D3-5726-9069-8FFE0FEE9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71F3BD-9D8E-F863-2DB9-FAB7978EBC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F980F0-A978-0B13-6D25-D76CBCC6E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5317"/>
            <a:ext cx="12192000" cy="416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891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EB4E8-1ADE-BEFC-0E7B-05CA1AE4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D5D208-712D-6C86-1FD8-34D9434DE8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8E01EE-F40C-94A8-435E-B9E23333622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EB4D59-E05C-066B-6F0D-E06BE26EE9D5}"/>
              </a:ext>
            </a:extLst>
          </p:cNvPr>
          <p:cNvSpPr txBox="1"/>
          <p:nvPr/>
        </p:nvSpPr>
        <p:spPr>
          <a:xfrm>
            <a:off x="313508" y="5738949"/>
            <a:ext cx="5199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Feedback on whether telegraphing this information would be helpful?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8BFEA2-9446-FE8F-3505-6E33AA11D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28" y="234462"/>
            <a:ext cx="11878492" cy="550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91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5E991-1B35-277D-1C56-FC45BC0B8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2E285-87D5-403F-3E8C-9A6C5CC824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2BC1-4F15-0E11-47F8-6EBA203059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06BE77-666B-BB87-B790-60BBC3CD2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8818"/>
            <a:ext cx="12192000" cy="396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26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95A41-4BE5-E8C2-C3BB-2AC8E34E3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1AD38-86EF-08AB-2C48-2DFB52333A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36A0C6-FFD7-1021-2310-C9376A20F7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F03471-91DC-C713-8B15-CDC00CDB1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62" y="89321"/>
            <a:ext cx="11495058" cy="639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58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7393D-0D79-C64C-90A7-81FABA779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CF73A3-A11D-9C6D-F053-7681F5F3DA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E9230-001A-AE50-E939-9157B964D3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B0F8CB-9B0A-ABFB-BB87-F1242018F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312" y="89807"/>
            <a:ext cx="7858438" cy="63191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A98127-0CC4-EF06-E0C6-58575F9573FC}"/>
              </a:ext>
            </a:extLst>
          </p:cNvPr>
          <p:cNvSpPr txBox="1"/>
          <p:nvPr/>
        </p:nvSpPr>
        <p:spPr>
          <a:xfrm>
            <a:off x="231676" y="4363374"/>
            <a:ext cx="17856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Feedback on whether telegraphing this information would be helpful?</a:t>
            </a:r>
          </a:p>
        </p:txBody>
      </p:sp>
    </p:spTree>
    <p:extLst>
      <p:ext uri="{BB962C8B-B14F-4D97-AF65-F5344CB8AC3E}">
        <p14:creationId xmlns:p14="http://schemas.microsoft.com/office/powerpoint/2010/main" val="416618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8DCD4-C9BC-52C5-785A-1A5CBB0A2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2408FF-90BB-DDA9-E237-9E1801DB18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1F62EE-99EE-C565-0A7C-770CB4D481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C631FF-A2AC-58E9-618C-90E6BEA6B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5" y="1535266"/>
            <a:ext cx="12116850" cy="37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17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DC0D0-D617-B793-2F6E-4B13E6E08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E5ED95-2DEC-9259-496D-E6C935DF65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91E5A9-1F92-58FF-F993-963D37618C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47923C-7997-F18E-0C79-08775E2C2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6" y="0"/>
            <a:ext cx="11167368" cy="6487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130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60098-6593-035D-9909-6FA6E73BC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C91244-676D-6E05-5C32-51BF60C132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4AF342-1021-2BBA-06E3-19AEFCD299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BBFEDD-1289-2F3B-F3E2-FA23F6881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29399"/>
            <a:ext cx="12192000" cy="3399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144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5AB72-2F80-BC25-398C-15A1CAE3B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CED33F-5B5F-584D-ADB0-FCF0E034C4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6D565-E478-BC8B-9B24-D236150CDD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62F8BD-D047-3B7B-1CD0-E69873EBD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20" y="1504335"/>
            <a:ext cx="11887200" cy="384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4284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34018-A004-9A89-0E38-2173ABAFF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C34292-8B62-8011-32B5-9B31A62595A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107E1-D797-8AA8-48DE-D02F627DB3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FF4F53-29B2-B148-B932-95C19FE0B1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76"/>
          <a:stretch>
            <a:fillRect/>
          </a:stretch>
        </p:blipFill>
        <p:spPr>
          <a:xfrm>
            <a:off x="1798420" y="476672"/>
            <a:ext cx="8595159" cy="5904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A41DE4-DA1B-E08B-6BFC-A257C30D555A}"/>
              </a:ext>
            </a:extLst>
          </p:cNvPr>
          <p:cNvSpPr txBox="1"/>
          <p:nvPr/>
        </p:nvSpPr>
        <p:spPr>
          <a:xfrm>
            <a:off x="278674" y="512473"/>
            <a:ext cx="1680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 Dominant</a:t>
            </a:r>
          </a:p>
          <a:p>
            <a:r>
              <a:rPr lang="en-US" b="1" dirty="0"/>
              <a:t>(B Wins)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82BD84-7AB0-F3EA-09D9-7618173DD841}"/>
              </a:ext>
            </a:extLst>
          </p:cNvPr>
          <p:cNvSpPr txBox="1"/>
          <p:nvPr/>
        </p:nvSpPr>
        <p:spPr>
          <a:xfrm>
            <a:off x="9870621" y="155121"/>
            <a:ext cx="1671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Survey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4585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BEEA1-818E-3282-2BFC-A556DA39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A1A568-DD23-589F-17B8-F0A8222FA7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760076-E23B-1CB9-10C6-6F28C9693B2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225DD6-A37C-9CA1-F139-052A13E9ED7C}"/>
              </a:ext>
            </a:extLst>
          </p:cNvPr>
          <p:cNvSpPr txBox="1"/>
          <p:nvPr/>
        </p:nvSpPr>
        <p:spPr>
          <a:xfrm>
            <a:off x="278674" y="512473"/>
            <a:ext cx="22274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Uncertain</a:t>
            </a:r>
          </a:p>
          <a:p>
            <a:r>
              <a:rPr lang="en-US" b="1" dirty="0"/>
              <a:t>(A Wins)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1BF81F-C37D-CE3E-28C7-35837AA3E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0453" y="431930"/>
            <a:ext cx="7851094" cy="57373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3B6C17D-2441-6E6A-523B-A6BA0E256EA9}"/>
              </a:ext>
            </a:extLst>
          </p:cNvPr>
          <p:cNvSpPr txBox="1"/>
          <p:nvPr/>
        </p:nvSpPr>
        <p:spPr>
          <a:xfrm>
            <a:off x="9870621" y="155121"/>
            <a:ext cx="1671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Survey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421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5EFFF-5757-ABBC-B518-88810A2F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82373C-594A-B85B-26DA-1212F04B46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CCB231-B6C1-5990-251B-DC419D9AB8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EF2E8-F088-73E7-2F7A-0B2928C2DF1C}"/>
              </a:ext>
            </a:extLst>
          </p:cNvPr>
          <p:cNvSpPr txBox="1"/>
          <p:nvPr/>
        </p:nvSpPr>
        <p:spPr>
          <a:xfrm>
            <a:off x="278675" y="512473"/>
            <a:ext cx="1950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 Slightly Better</a:t>
            </a:r>
          </a:p>
          <a:p>
            <a:r>
              <a:rPr lang="en-US" b="1" dirty="0"/>
              <a:t>(B Wins)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8FE3FE-B07C-ED00-0F6F-58BB9A421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323" y="330227"/>
            <a:ext cx="8184753" cy="60153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995AD5-C39E-19B2-B798-F7DBACA27A5E}"/>
              </a:ext>
            </a:extLst>
          </p:cNvPr>
          <p:cNvSpPr txBox="1"/>
          <p:nvPr/>
        </p:nvSpPr>
        <p:spPr>
          <a:xfrm>
            <a:off x="9870621" y="155121"/>
            <a:ext cx="1671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Survey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9939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E2C9E-DFA6-02E1-DCDD-A27EAC0B3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E75EEA-8E25-9307-4A12-AA98E4F00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37233E-0EA2-D182-967B-5871296655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A7E32E-CBC6-28BE-B25B-8212F4EB168D}"/>
              </a:ext>
            </a:extLst>
          </p:cNvPr>
          <p:cNvSpPr txBox="1"/>
          <p:nvPr/>
        </p:nvSpPr>
        <p:spPr>
          <a:xfrm>
            <a:off x="278674" y="512473"/>
            <a:ext cx="22274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Uncertain</a:t>
            </a:r>
          </a:p>
          <a:p>
            <a:r>
              <a:rPr lang="en-US" b="1" dirty="0"/>
              <a:t>(B Wins)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853B0D-8175-FB88-E7CF-131EE8AA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480" y="512473"/>
            <a:ext cx="7898454" cy="56004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622DB4-8A48-8D8F-3BEC-F264EE48094A}"/>
              </a:ext>
            </a:extLst>
          </p:cNvPr>
          <p:cNvSpPr txBox="1"/>
          <p:nvPr/>
        </p:nvSpPr>
        <p:spPr>
          <a:xfrm>
            <a:off x="9870621" y="155121"/>
            <a:ext cx="16717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Survey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3211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A93C8-CEEA-4EDC-1620-692C0E52C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D779B-DE0F-8D8F-E6E9-779ACCE72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</p:spPr>
        <p:txBody>
          <a:bodyPr/>
          <a:lstStyle/>
          <a:p>
            <a:r>
              <a:rPr lang="en-US" dirty="0"/>
              <a:t>Multi-stage lab experiment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0E58E1-BD44-EE1D-0CE3-542E62C9EE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50FD0-9496-D1F3-7567-995F6F4C0B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91D6382-1E4E-8DF9-9777-BB09FB131018}"/>
              </a:ext>
            </a:extLst>
          </p:cNvPr>
          <p:cNvGraphicFramePr>
            <a:graphicFrameLocks noGrp="1"/>
          </p:cNvGraphicFramePr>
          <p:nvPr/>
        </p:nvGraphicFramePr>
        <p:xfrm>
          <a:off x="325783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1</a:t>
                      </a:r>
                    </a:p>
                    <a:p>
                      <a:pPr algn="ctr"/>
                      <a:r>
                        <a:rPr lang="en-US" dirty="0"/>
                        <a:t>(Protégé Performance)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Data from Barron et al., 2025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Tasks: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Word search puzzles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General knowledge quiz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Logical reasoning test (Raven’s matrices)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24351C2-402B-0736-E2FB-61B08FDB6C98}"/>
              </a:ext>
            </a:extLst>
          </p:cNvPr>
          <p:cNvGraphicFramePr>
            <a:graphicFrameLocks noGrp="1"/>
          </p:cNvGraphicFramePr>
          <p:nvPr/>
        </p:nvGraphicFramePr>
        <p:xfrm>
          <a:off x="4175540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2</a:t>
                      </a:r>
                    </a:p>
                    <a:p>
                      <a:pPr algn="ctr"/>
                      <a:r>
                        <a:rPr lang="en-US" dirty="0"/>
                        <a:t>(Sponsor Endorsements)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Sponsors evaluate two candidates and provide an endorsement.</a:t>
                      </a:r>
                    </a:p>
                    <a:p>
                      <a:endParaRPr lang="en-US" dirty="0"/>
                    </a:p>
                    <a:p>
                      <a:r>
                        <a:rPr lang="en-US" b="1" dirty="0"/>
                        <a:t>Goal</a:t>
                      </a:r>
                      <a:r>
                        <a:rPr lang="en-US" dirty="0"/>
                        <a:t>: Predict which candidate will perform better on logical reasoning, based on their performance on word search puzzle and/or general knowledge quiz.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ED19CAB-9054-F0D1-3FBE-0E3F81B70360}"/>
              </a:ext>
            </a:extLst>
          </p:cNvPr>
          <p:cNvGraphicFramePr>
            <a:graphicFrameLocks noGrp="1"/>
          </p:cNvGraphicFramePr>
          <p:nvPr/>
        </p:nvGraphicFramePr>
        <p:xfrm>
          <a:off x="8120269" y="1436572"/>
          <a:ext cx="3745948" cy="3984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48">
                  <a:extLst>
                    <a:ext uri="{9D8B030D-6E8A-4147-A177-3AD203B41FA5}">
                      <a16:colId xmlns:a16="http://schemas.microsoft.com/office/drawing/2014/main" val="2853847036"/>
                    </a:ext>
                  </a:extLst>
                </a:gridCol>
              </a:tblGrid>
              <a:tr h="75195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Stage 3</a:t>
                      </a:r>
                    </a:p>
                    <a:p>
                      <a:pPr algn="ctr"/>
                      <a:r>
                        <a:rPr lang="en-US" dirty="0"/>
                        <a:t>(Audience Evaluation)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7524698"/>
                  </a:ext>
                </a:extLst>
              </a:tr>
              <a:tr h="3232902">
                <a:tc>
                  <a:txBody>
                    <a:bodyPr/>
                    <a:lstStyle/>
                    <a:p>
                      <a:r>
                        <a:rPr lang="en-US" dirty="0"/>
                        <a:t>An evaluator (i.e., the audience) will assess multiple endorsements from same sponsor.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b="1" dirty="0"/>
                        <a:t>Goal</a:t>
                      </a:r>
                      <a:r>
                        <a:rPr lang="en-US" dirty="0"/>
                        <a:t>: Evaluate the sponsor’s predictions and decide how much to trust each endorsement on being correct.</a:t>
                      </a:r>
                      <a:br>
                        <a:rPr lang="en-US" dirty="0"/>
                      </a:b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587913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17DDE98C-9735-1744-72CC-6C776B573084}"/>
              </a:ext>
            </a:extLst>
          </p:cNvPr>
          <p:cNvSpPr/>
          <p:nvPr/>
        </p:nvSpPr>
        <p:spPr>
          <a:xfrm>
            <a:off x="325783" y="1436572"/>
            <a:ext cx="7595705" cy="3984856"/>
          </a:xfrm>
          <a:prstGeom prst="rect">
            <a:avLst/>
          </a:prstGeom>
          <a:solidFill>
            <a:srgbClr val="011F5B">
              <a:alpha val="85098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412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45131-5643-0311-8DDA-D1CB2CB3D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47B8C1-D41F-F967-8004-D5E0ED32CA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390FE-FAD6-351D-562B-B37D89F46D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FF0057-919F-337D-F5C2-C21250EF0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67212"/>
            <a:ext cx="12192000" cy="2123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495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E1939-8AF7-26E0-0466-3B5A9D80E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1E8F1B-CB6C-8F90-46E2-8BDC6C26D2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9EFFE-EFD8-9D71-3A55-476337DCD1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3508B4-A878-75DA-C8AF-C4AAC75DB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21" y="1557806"/>
            <a:ext cx="11805557" cy="362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9485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B5CD0-BEFB-9F07-AC28-FFEE3653B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B24EC-8818-32C7-E8F4-E7688F2DA3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Maurice Lab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7C2B68-843A-356C-6225-C7578DBB2A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B27404-CB63-FB33-837F-0FAD8D8BF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" y="1550507"/>
            <a:ext cx="12132091" cy="375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8224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8E0-CD93-D5C7-2551-64344011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3761C-84AF-7A00-44CD-B771B3049D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380258" y="6487182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FC966A-96F2-8D74-25B3-CC659D77FE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42356" y="6487182"/>
            <a:ext cx="49736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40A7CA-2400-6037-454C-890800D69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77" y="1575460"/>
            <a:ext cx="11999845" cy="358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17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A851C-CA69-D326-8733-23C38BA22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493346-9E89-81E0-33AD-62405DBCC9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380258" y="6487182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13ACF6-D401-C4A8-03A1-DCF3F445B45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42356" y="6487182"/>
            <a:ext cx="49736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30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46F23A-BE46-9BC3-1D9C-1ED0EAA29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3" y="90894"/>
            <a:ext cx="11495058" cy="6294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346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84DF7-6281-1CED-B46A-53B866257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62E379-B123-ACF2-C7D5-24D9810351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380258" y="6487182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E25E8-0155-24C2-05DB-BEC8DE3447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42356" y="6487182"/>
            <a:ext cx="49736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EA68F8-C925-A3C6-2117-C2B75CE67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897" y="106500"/>
            <a:ext cx="7930205" cy="638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327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899ED-FAC3-00C3-D9FD-C9EE8A9E8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C71A5B-3A3A-6166-394F-C32166C16C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380258" y="6487182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81EA17-1865-9EE1-3739-1345582D6B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42356" y="6487182"/>
            <a:ext cx="49736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43F042-AA24-0B22-FF65-154BB219D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307" y="131445"/>
            <a:ext cx="7445385" cy="626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290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099B3-6540-0B8F-0828-0E756302C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669216-E29F-22F1-A8FF-3E2D3275AB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380258" y="6487182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E9EE51-5E1F-B106-BA18-AF263333DA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42356" y="6487182"/>
            <a:ext cx="49736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86EA23-7FF1-E437-D950-444B60388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134" y="658890"/>
            <a:ext cx="7277731" cy="554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964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1476-CF2A-7F13-BABF-85B2098E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8FFB7-D0E1-91AD-1F83-03962EB8F2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380258" y="6487182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894E67-ACC5-D503-2D23-5F58545BC7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42356" y="6487182"/>
            <a:ext cx="49736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32360C-90A7-C4FF-5821-DB77B4367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289" y="158626"/>
            <a:ext cx="7163421" cy="611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710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EC0B0F7-0F9F-95F9-F4B4-B2934B14F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D4CEE-D927-6EE0-406A-B5EA733D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DBC1AE-AAAC-68D7-5773-495AE8B1D7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F20775-6341-48B4-49A3-2D5CADBA50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35</a:t>
            </a:fld>
            <a:endParaRPr lang="en-US"/>
          </a:p>
        </p:txBody>
      </p:sp>
      <p:pic>
        <p:nvPicPr>
          <p:cNvPr id="10" name="Picture 9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4B04B049-A6DE-1184-1EE2-6DE23DC9B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0" y="923013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942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44B8A0-6561-67D8-E766-4EBC1990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6C667-745B-E7CE-87D0-D2695A5A8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61CCDA-BE5C-F3DC-15B3-9111F75259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116C-C262-ACE1-CE78-6260234AC1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E69D40-0C04-84B2-FDDF-30AFF71C5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81191" y="923013"/>
            <a:ext cx="8229617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478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F3EED1-3F5B-4AAE-1888-3C94AE45E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5C9AD-08E8-DAB9-0A47-A568CC645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DBD51A-CF7C-60B6-AC8A-7070321005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18CD6-6AD6-0F30-12F1-58A6706C48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37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1AF4B9-9A5F-AC52-42F0-5F2E89CEA66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81191" y="1197334"/>
            <a:ext cx="8229617" cy="4937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059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07263A-30C5-BF30-E8EB-7C2F90F62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8EC22-9280-574B-9D09-F0896A6F7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77B16-167B-FC2C-3416-D2A0A63225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Maurice Lab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2E203E-7CDD-4F48-FDA1-4B0ECD1120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DD253308-F9C5-4FCB-8415-6DEE77C16A35}" type="slidenum">
              <a:rPr lang="en-US" smtClean="0"/>
              <a:pPr>
                <a:spcAft>
                  <a:spcPts val="600"/>
                </a:spcAft>
              </a:pPr>
              <a:t>38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9BD396-0031-BFB5-FBDF-27ED41932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36109" y="1149722"/>
            <a:ext cx="9259762" cy="5050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77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F0AB78E-5138-458B-832F-843F6134524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1" y="914400"/>
            <a:ext cx="2743199" cy="3136723"/>
          </a:xfrm>
          <a:prstGeom prst="rect">
            <a:avLst/>
          </a:prstGeom>
          <a:noFill/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D59EE47E-D880-44A0-98EC-1C6DB40C50A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80907" y="4465885"/>
            <a:ext cx="4030185" cy="105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68895"/>
      </p:ext>
    </p:extLst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8144</TotalTime>
  <Words>859</Words>
  <Application>Microsoft Office PowerPoint</Application>
  <PresentationFormat>Widescreen</PresentationFormat>
  <Paragraphs>188</Paragraphs>
  <Slides>39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Garamond</vt:lpstr>
      <vt:lpstr>Georgia</vt:lpstr>
      <vt:lpstr>Wharton 2016 16:9</vt:lpstr>
      <vt:lpstr>Who Builds Social Capital Through Sponsorship? </vt:lpstr>
      <vt:lpstr>PowerPoint Presentation</vt:lpstr>
      <vt:lpstr>What is sponsorship?</vt:lpstr>
      <vt:lpstr>The decision to sponsor has several tradeoffs</vt:lpstr>
      <vt:lpstr>More importantly, how do these tradeoffs influence sponsor perceptions as a function of gender?</vt:lpstr>
      <vt:lpstr>Multi-stage lab experiment</vt:lpstr>
      <vt:lpstr>Multi-stage lab experiment</vt:lpstr>
      <vt:lpstr>PowerPoint Presentation</vt:lpstr>
      <vt:lpstr>Multi-stage lab experiment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Multi-stage lab experiment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Predictions</vt:lpstr>
      <vt:lpstr>Predictions</vt:lpstr>
      <vt:lpstr>Predictions</vt:lpstr>
      <vt:lpstr>Predictions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Cervantez, Jose A.</cp:lastModifiedBy>
  <cp:revision>85</cp:revision>
  <dcterms:created xsi:type="dcterms:W3CDTF">2016-03-10T13:41:29Z</dcterms:created>
  <dcterms:modified xsi:type="dcterms:W3CDTF">2025-11-12T16:26:17Z</dcterms:modified>
</cp:coreProperties>
</file>