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6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28" r:id="rId10"/>
    <p:sldId id="326" r:id="rId11"/>
    <p:sldId id="347" r:id="rId12"/>
    <p:sldId id="329" r:id="rId13"/>
    <p:sldId id="332" r:id="rId14"/>
    <p:sldId id="333" r:id="rId15"/>
    <p:sldId id="335" r:id="rId16"/>
    <p:sldId id="336" r:id="rId17"/>
    <p:sldId id="337" r:id="rId18"/>
    <p:sldId id="339" r:id="rId19"/>
    <p:sldId id="340" r:id="rId20"/>
    <p:sldId id="341" r:id="rId21"/>
    <p:sldId id="342" r:id="rId22"/>
    <p:sldId id="343" r:id="rId23"/>
    <p:sldId id="346" r:id="rId24"/>
    <p:sldId id="344" r:id="rId25"/>
    <p:sldId id="345" r:id="rId26"/>
    <p:sldId id="327" r:id="rId27"/>
    <p:sldId id="348" r:id="rId28"/>
    <p:sldId id="349" r:id="rId29"/>
    <p:sldId id="350" r:id="rId30"/>
    <p:sldId id="352" r:id="rId31"/>
    <p:sldId id="353" r:id="rId32"/>
    <p:sldId id="354" r:id="rId33"/>
    <p:sldId id="355" r:id="rId34"/>
    <p:sldId id="356" r:id="rId35"/>
    <p:sldId id="357" r:id="rId36"/>
    <p:sldId id="358" r:id="rId37"/>
    <p:sldId id="359" r:id="rId38"/>
    <p:sldId id="360" r:id="rId39"/>
    <p:sldId id="361" r:id="rId40"/>
    <p:sldId id="362" r:id="rId41"/>
    <p:sldId id="263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F33541-5E58-43C3-A2D8-8288F878A3DB}">
          <p14:sldIdLst>
            <p14:sldId id="256"/>
            <p14:sldId id="319"/>
            <p14:sldId id="320"/>
            <p14:sldId id="321"/>
            <p14:sldId id="322"/>
            <p14:sldId id="323"/>
            <p14:sldId id="324"/>
            <p14:sldId id="325"/>
            <p14:sldId id="328"/>
            <p14:sldId id="326"/>
            <p14:sldId id="347"/>
            <p14:sldId id="329"/>
            <p14:sldId id="332"/>
            <p14:sldId id="333"/>
            <p14:sldId id="335"/>
            <p14:sldId id="336"/>
            <p14:sldId id="337"/>
            <p14:sldId id="339"/>
            <p14:sldId id="340"/>
            <p14:sldId id="341"/>
            <p14:sldId id="342"/>
            <p14:sldId id="343"/>
            <p14:sldId id="346"/>
            <p14:sldId id="344"/>
            <p14:sldId id="345"/>
            <p14:sldId id="327"/>
            <p14:sldId id="348"/>
            <p14:sldId id="349"/>
            <p14:sldId id="350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F5B"/>
    <a:srgbClr val="000000"/>
    <a:srgbClr val="A8204E"/>
    <a:srgbClr val="C6093B"/>
    <a:srgbClr val="B1B6AF"/>
    <a:srgbClr val="D9D7D0"/>
    <a:srgbClr val="FF9ED3"/>
    <a:srgbClr val="AFAFAF"/>
    <a:srgbClr val="04ABFD"/>
    <a:srgbClr val="C50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60" autoAdjust="0"/>
    <p:restoredTop sz="96283"/>
  </p:normalViewPr>
  <p:slideViewPr>
    <p:cSldViewPr snapToGrid="0">
      <p:cViewPr varScale="1">
        <p:scale>
          <a:sx n="88" d="100"/>
          <a:sy n="88" d="100"/>
        </p:scale>
        <p:origin x="53" y="2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FAB296-C70E-40F1-B507-D2D143AD6EBF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078BF-40EC-41E1-9B62-3081DB120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15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2892C-D9C7-4A81-A07C-60131499A00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A37F7-1A90-4E51-A507-1AEFE7B69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54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 5">
            <a:extLst>
              <a:ext uri="{FF2B5EF4-FFF2-40B4-BE49-F238E27FC236}">
                <a16:creationId xmlns:a16="http://schemas.microsoft.com/office/drawing/2014/main" id="{C79B39E0-BF53-44AA-98FF-1D1B87B7E713}"/>
              </a:ext>
            </a:extLst>
          </p:cNvPr>
          <p:cNvSpPr/>
          <p:nvPr userDrawn="1"/>
        </p:nvSpPr>
        <p:spPr>
          <a:xfrm>
            <a:off x="9712713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5">
                  <a:alpha val="0"/>
                </a:schemeClr>
              </a:gs>
              <a:gs pos="100000">
                <a:schemeClr val="accent2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1695DCC8-D73C-40D9-A089-189E7E30D752}"/>
              </a:ext>
            </a:extLst>
          </p:cNvPr>
          <p:cNvSpPr/>
          <p:nvPr userDrawn="1"/>
        </p:nvSpPr>
        <p:spPr>
          <a:xfrm rot="10800000">
            <a:off x="7213298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5671" y="3896000"/>
            <a:ext cx="10135871" cy="646331"/>
          </a:xfrm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672" y="4550000"/>
            <a:ext cx="9144000" cy="544444"/>
          </a:xfrm>
        </p:spPr>
        <p:txBody>
          <a:bodyPr lIns="0" rIns="0">
            <a:sp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/>
          </p:nvPr>
        </p:nvSpPr>
        <p:spPr>
          <a:xfrm>
            <a:off x="575672" y="5337129"/>
            <a:ext cx="9144000" cy="509691"/>
          </a:xfrm>
        </p:spPr>
        <p:txBody>
          <a:bodyPr lIns="0" rIns="0">
            <a:spAutoFit/>
          </a:bodyPr>
          <a:lstStyle>
            <a:lvl1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1pPr>
            <a:lvl2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2pPr>
            <a:lvl3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3pPr>
            <a:lvl4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4pPr>
            <a:lvl5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A7F1E24-66DA-4CF5-9530-9AE8212B0B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672" y="533027"/>
            <a:ext cx="3655687" cy="95630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B5BF14-A6EB-4C48-A237-48EB0CADD5DE}"/>
              </a:ext>
            </a:extLst>
          </p:cNvPr>
          <p:cNvCxnSpPr>
            <a:cxnSpLocks/>
          </p:cNvCxnSpPr>
          <p:nvPr userDrawn="1"/>
        </p:nvCxnSpPr>
        <p:spPr>
          <a:xfrm flipH="1">
            <a:off x="9901646" y="0"/>
            <a:ext cx="1476731" cy="3618411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72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Pho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building, outdoor, sky, city&#10;&#10;Description automatically generated">
            <a:extLst>
              <a:ext uri="{FF2B5EF4-FFF2-40B4-BE49-F238E27FC236}">
                <a16:creationId xmlns:a16="http://schemas.microsoft.com/office/drawing/2014/main" id="{E2A878F4-D03E-4B25-B3E7-D24416503F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prstClr val="black"/>
              <a:schemeClr val="accent3">
                <a:tint val="45000"/>
                <a:satMod val="400000"/>
              </a:schemeClr>
            </a:duotone>
            <a:alphaModFix amt="1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-321100"/>
            <a:ext cx="12191999" cy="8127999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" name="Parallelogram 5">
            <a:extLst>
              <a:ext uri="{FF2B5EF4-FFF2-40B4-BE49-F238E27FC236}">
                <a16:creationId xmlns:a16="http://schemas.microsoft.com/office/drawing/2014/main" id="{C79B39E0-BF53-44AA-98FF-1D1B87B7E713}"/>
              </a:ext>
            </a:extLst>
          </p:cNvPr>
          <p:cNvSpPr/>
          <p:nvPr userDrawn="1"/>
        </p:nvSpPr>
        <p:spPr>
          <a:xfrm>
            <a:off x="9712713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5">
                  <a:alpha val="0"/>
                </a:schemeClr>
              </a:gs>
              <a:gs pos="100000">
                <a:schemeClr val="accent2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1695DCC8-D73C-40D9-A089-189E7E30D752}"/>
              </a:ext>
            </a:extLst>
          </p:cNvPr>
          <p:cNvSpPr/>
          <p:nvPr userDrawn="1"/>
        </p:nvSpPr>
        <p:spPr>
          <a:xfrm rot="10800000">
            <a:off x="7213298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5671" y="3896000"/>
            <a:ext cx="10135871" cy="646331"/>
          </a:xfrm>
        </p:spPr>
        <p:txBody>
          <a:bodyPr anchor="b"/>
          <a:lstStyle>
            <a:lvl1pPr algn="l">
              <a:defRPr sz="4000" b="1" i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672" y="4550000"/>
            <a:ext cx="9144000" cy="544444"/>
          </a:xfrm>
        </p:spPr>
        <p:txBody>
          <a:bodyPr lIns="0" rIns="0">
            <a:spAutoFit/>
          </a:bodyPr>
          <a:lstStyle>
            <a:lvl1pPr marL="0" indent="0" algn="l">
              <a:buNone/>
              <a:defRPr sz="2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/>
          </p:nvPr>
        </p:nvSpPr>
        <p:spPr>
          <a:xfrm>
            <a:off x="575672" y="5337129"/>
            <a:ext cx="9144000" cy="509691"/>
          </a:xfrm>
        </p:spPr>
        <p:txBody>
          <a:bodyPr lIns="0" rIns="0">
            <a:spAutoFit/>
          </a:bodyPr>
          <a:lstStyle>
            <a:lvl1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1pPr>
            <a:lvl2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2pPr>
            <a:lvl3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3pPr>
            <a:lvl4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4pPr>
            <a:lvl5pPr>
              <a:defRPr>
                <a:solidFill>
                  <a:schemeClr val="accent4"/>
                </a:solidFill>
                <a:latin typeface="Garamond" panose="02020404030301010803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FA7F1E24-66DA-4CF5-9530-9AE8212B0B4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672" y="533027"/>
            <a:ext cx="3655687" cy="95630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B5BF14-A6EB-4C48-A237-48EB0CADD5DE}"/>
              </a:ext>
            </a:extLst>
          </p:cNvPr>
          <p:cNvCxnSpPr>
            <a:cxnSpLocks/>
          </p:cNvCxnSpPr>
          <p:nvPr userDrawn="1"/>
        </p:nvCxnSpPr>
        <p:spPr>
          <a:xfrm flipH="1">
            <a:off x="9901646" y="0"/>
            <a:ext cx="1476731" cy="3618411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710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60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: Emphas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3C0B3D4-45AD-49CB-92C9-1CEAD1196E1A}"/>
              </a:ext>
            </a:extLst>
          </p:cNvPr>
          <p:cNvSpPr/>
          <p:nvPr userDrawn="1"/>
        </p:nvSpPr>
        <p:spPr>
          <a:xfrm>
            <a:off x="0" y="6503504"/>
            <a:ext cx="12192000" cy="384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rgbClr val="002C77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8AF9ED-1340-42AE-98EE-2BF152A031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280" y="6595711"/>
            <a:ext cx="914688" cy="17309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A8C50F-BE59-40AD-99BF-D8A00352B94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92746" y="6552811"/>
            <a:ext cx="97287" cy="213183"/>
          </a:xfrm>
          <a:prstGeom prst="line">
            <a:avLst/>
          </a:prstGeom>
          <a:ln w="25400">
            <a:solidFill>
              <a:srgbClr val="C509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571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5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DFFA3A7A-D3AA-4B7E-90CE-EE3526AB70DC}"/>
              </a:ext>
            </a:extLst>
          </p:cNvPr>
          <p:cNvSpPr/>
          <p:nvPr userDrawn="1"/>
        </p:nvSpPr>
        <p:spPr>
          <a:xfrm>
            <a:off x="1023115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1F3CF6A-3971-42FB-8195-ED773BE1B8CF}"/>
              </a:ext>
            </a:extLst>
          </p:cNvPr>
          <p:cNvSpPr/>
          <p:nvPr userDrawn="1"/>
        </p:nvSpPr>
        <p:spPr>
          <a:xfrm rot="10800000">
            <a:off x="-1476300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5">
                  <a:alpha val="0"/>
                </a:schemeClr>
              </a:gs>
              <a:gs pos="100000">
                <a:schemeClr val="accent5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BAB1EB-95BB-4528-96F7-3993F4666FBE}"/>
              </a:ext>
            </a:extLst>
          </p:cNvPr>
          <p:cNvGrpSpPr/>
          <p:nvPr userDrawn="1"/>
        </p:nvGrpSpPr>
        <p:grpSpPr>
          <a:xfrm>
            <a:off x="-924553" y="656444"/>
            <a:ext cx="2777689" cy="73767"/>
            <a:chOff x="828118" y="83421"/>
            <a:chExt cx="2777689" cy="7376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B40905-A4F8-4242-9DE3-61056F12D5A4}"/>
                </a:ext>
              </a:extLst>
            </p:cNvPr>
            <p:cNvGrpSpPr/>
            <p:nvPr/>
          </p:nvGrpSpPr>
          <p:grpSpPr>
            <a:xfrm rot="13500000">
              <a:off x="828118" y="83427"/>
              <a:ext cx="73761" cy="73761"/>
              <a:chOff x="5762847" y="855527"/>
              <a:chExt cx="182880" cy="18288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85626CC-E4D2-4261-815E-FA09F03FA989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7745C30-65FE-4301-BF33-94D3F3A3F6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4B5484A-3F2C-455F-ADD8-5BAD2F0322D2}"/>
                </a:ext>
              </a:extLst>
            </p:cNvPr>
            <p:cNvGrpSpPr/>
            <p:nvPr/>
          </p:nvGrpSpPr>
          <p:grpSpPr>
            <a:xfrm rot="13500000">
              <a:off x="1166109" y="83426"/>
              <a:ext cx="73761" cy="73761"/>
              <a:chOff x="5762847" y="855527"/>
              <a:chExt cx="182880" cy="18288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E1D04B5-4C19-42F1-8AF4-DF77DFA9E696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33ECFAA-6C73-4422-84C0-4662E9830C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4D8B4D-C8F9-4060-AE12-77D2B2E9A95C}"/>
                </a:ext>
              </a:extLst>
            </p:cNvPr>
            <p:cNvGrpSpPr/>
            <p:nvPr/>
          </p:nvGrpSpPr>
          <p:grpSpPr>
            <a:xfrm rot="13500000">
              <a:off x="1504100" y="83425"/>
              <a:ext cx="73761" cy="73761"/>
              <a:chOff x="5762847" y="855527"/>
              <a:chExt cx="182880" cy="1828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FD70F0B-B853-4441-ABD5-CEA2455FA7CA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14F4EBA-8FF9-4A39-B071-46C46C8052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7652A8B-72EF-4E78-AA4E-0CC2394AAA21}"/>
                </a:ext>
              </a:extLst>
            </p:cNvPr>
            <p:cNvGrpSpPr/>
            <p:nvPr/>
          </p:nvGrpSpPr>
          <p:grpSpPr>
            <a:xfrm rot="13500000">
              <a:off x="1842091" y="83424"/>
              <a:ext cx="73761" cy="73761"/>
              <a:chOff x="5762847" y="855527"/>
              <a:chExt cx="182880" cy="18288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E4AB0-390C-4314-BBBC-DFA40152295E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B6769D0-F275-4F11-9097-0042ADB40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D93944D-A039-4CD5-9AAE-897D4057BC13}"/>
                </a:ext>
              </a:extLst>
            </p:cNvPr>
            <p:cNvGrpSpPr/>
            <p:nvPr/>
          </p:nvGrpSpPr>
          <p:grpSpPr>
            <a:xfrm rot="13500000">
              <a:off x="2180082" y="83423"/>
              <a:ext cx="73761" cy="73761"/>
              <a:chOff x="5762847" y="855527"/>
              <a:chExt cx="182880" cy="1828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B5ADA53-753C-4DE1-B313-308F77F4E56B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904B05C-FFDF-4A5C-BD23-16898BF2E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FEDB6F-A4E2-4FCE-A382-14C5749E3290}"/>
                </a:ext>
              </a:extLst>
            </p:cNvPr>
            <p:cNvGrpSpPr/>
            <p:nvPr/>
          </p:nvGrpSpPr>
          <p:grpSpPr>
            <a:xfrm rot="13500000">
              <a:off x="2518073" y="83422"/>
              <a:ext cx="73761" cy="73761"/>
              <a:chOff x="5762847" y="855527"/>
              <a:chExt cx="182880" cy="18288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3FC0C9B-9496-47E9-A777-E83E7C27EEF3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A665E8C-7D59-4EF3-954C-2D948CFCF1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C01E60-2746-4AA2-A880-0D1F684E6FE3}"/>
                </a:ext>
              </a:extLst>
            </p:cNvPr>
            <p:cNvGrpSpPr/>
            <p:nvPr/>
          </p:nvGrpSpPr>
          <p:grpSpPr>
            <a:xfrm rot="13500000">
              <a:off x="2856064" y="83422"/>
              <a:ext cx="73761" cy="73761"/>
              <a:chOff x="5762847" y="855527"/>
              <a:chExt cx="182880" cy="18288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18FA5CD-8005-4A6D-8D9B-F4048F54A21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EC720DB-D986-4D5A-9503-CB2DCA1A0A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43610E3-6EE0-43FB-9911-A020EBA799F1}"/>
                </a:ext>
              </a:extLst>
            </p:cNvPr>
            <p:cNvGrpSpPr/>
            <p:nvPr/>
          </p:nvGrpSpPr>
          <p:grpSpPr>
            <a:xfrm rot="13500000">
              <a:off x="3194055" y="83421"/>
              <a:ext cx="73761" cy="73761"/>
              <a:chOff x="5762847" y="855527"/>
              <a:chExt cx="182880" cy="18288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0951241-06EA-4635-B628-EDF99846FA7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107952F-EB06-401B-85CE-5E106F9B4F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C77E5D5-C6D5-48F0-BAA0-1A07DFCB925F}"/>
                </a:ext>
              </a:extLst>
            </p:cNvPr>
            <p:cNvGrpSpPr/>
            <p:nvPr/>
          </p:nvGrpSpPr>
          <p:grpSpPr>
            <a:xfrm rot="13500000">
              <a:off x="3532046" y="83421"/>
              <a:ext cx="73761" cy="73761"/>
              <a:chOff x="5762847" y="855527"/>
              <a:chExt cx="182880" cy="18288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F6D7969-0451-480A-BE97-04E8DBC3CADC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9F3E26C-819B-4080-888E-DF18167284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082344"/>
            <a:ext cx="10515600" cy="480131"/>
          </a:xfrm>
        </p:spPr>
        <p:txBody>
          <a:bodyPr anchor="b"/>
          <a:lstStyle>
            <a:lvl1pPr>
              <a:defRPr sz="2800" i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91701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30061091-7521-4125-B5CB-44ACB827FB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4955" y="2603092"/>
            <a:ext cx="3312277" cy="3793713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B8F1CD1-1171-4356-9440-0F08548CF601}"/>
              </a:ext>
            </a:extLst>
          </p:cNvPr>
          <p:cNvCxnSpPr>
            <a:cxnSpLocks/>
          </p:cNvCxnSpPr>
          <p:nvPr userDrawn="1"/>
        </p:nvCxnSpPr>
        <p:spPr>
          <a:xfrm flipH="1">
            <a:off x="823962" y="4733825"/>
            <a:ext cx="663644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139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6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DFFA3A7A-D3AA-4B7E-90CE-EE3526AB70DC}"/>
              </a:ext>
            </a:extLst>
          </p:cNvPr>
          <p:cNvSpPr/>
          <p:nvPr userDrawn="1"/>
        </p:nvSpPr>
        <p:spPr>
          <a:xfrm>
            <a:off x="1023115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1F3CF6A-3971-42FB-8195-ED773BE1B8CF}"/>
              </a:ext>
            </a:extLst>
          </p:cNvPr>
          <p:cNvSpPr/>
          <p:nvPr userDrawn="1"/>
        </p:nvSpPr>
        <p:spPr>
          <a:xfrm rot="10800000">
            <a:off x="-1476300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5C2FD72-5224-4845-839C-6BFE7FA721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4955" y="2603092"/>
            <a:ext cx="3312277" cy="379371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BBAB1EB-95BB-4528-96F7-3993F4666FBE}"/>
              </a:ext>
            </a:extLst>
          </p:cNvPr>
          <p:cNvGrpSpPr/>
          <p:nvPr userDrawn="1"/>
        </p:nvGrpSpPr>
        <p:grpSpPr>
          <a:xfrm>
            <a:off x="-924553" y="656444"/>
            <a:ext cx="2777689" cy="73767"/>
            <a:chOff x="828118" y="83421"/>
            <a:chExt cx="2777689" cy="7376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B40905-A4F8-4242-9DE3-61056F12D5A4}"/>
                </a:ext>
              </a:extLst>
            </p:cNvPr>
            <p:cNvGrpSpPr/>
            <p:nvPr/>
          </p:nvGrpSpPr>
          <p:grpSpPr>
            <a:xfrm rot="13500000">
              <a:off x="828118" y="83427"/>
              <a:ext cx="73761" cy="73761"/>
              <a:chOff x="5762847" y="855527"/>
              <a:chExt cx="182880" cy="18288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85626CC-E4D2-4261-815E-FA09F03FA989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7745C30-65FE-4301-BF33-94D3F3A3F6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4B5484A-3F2C-455F-ADD8-5BAD2F0322D2}"/>
                </a:ext>
              </a:extLst>
            </p:cNvPr>
            <p:cNvGrpSpPr/>
            <p:nvPr/>
          </p:nvGrpSpPr>
          <p:grpSpPr>
            <a:xfrm rot="13500000">
              <a:off x="1166109" y="83426"/>
              <a:ext cx="73761" cy="73761"/>
              <a:chOff x="5762847" y="855527"/>
              <a:chExt cx="182880" cy="18288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E1D04B5-4C19-42F1-8AF4-DF77DFA9E696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33ECFAA-6C73-4422-84C0-4662E9830C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4D8B4D-C8F9-4060-AE12-77D2B2E9A95C}"/>
                </a:ext>
              </a:extLst>
            </p:cNvPr>
            <p:cNvGrpSpPr/>
            <p:nvPr/>
          </p:nvGrpSpPr>
          <p:grpSpPr>
            <a:xfrm rot="13500000">
              <a:off x="1504100" y="83425"/>
              <a:ext cx="73761" cy="73761"/>
              <a:chOff x="5762847" y="855527"/>
              <a:chExt cx="182880" cy="1828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FD70F0B-B853-4441-ABD5-CEA2455FA7CA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14F4EBA-8FF9-4A39-B071-46C46C8052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7652A8B-72EF-4E78-AA4E-0CC2394AAA21}"/>
                </a:ext>
              </a:extLst>
            </p:cNvPr>
            <p:cNvGrpSpPr/>
            <p:nvPr/>
          </p:nvGrpSpPr>
          <p:grpSpPr>
            <a:xfrm rot="13500000">
              <a:off x="1842091" y="83424"/>
              <a:ext cx="73761" cy="73761"/>
              <a:chOff x="5762847" y="855527"/>
              <a:chExt cx="182880" cy="18288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E4AB0-390C-4314-BBBC-DFA40152295E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B6769D0-F275-4F11-9097-0042ADB40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D93944D-A039-4CD5-9AAE-897D4057BC13}"/>
                </a:ext>
              </a:extLst>
            </p:cNvPr>
            <p:cNvGrpSpPr/>
            <p:nvPr/>
          </p:nvGrpSpPr>
          <p:grpSpPr>
            <a:xfrm rot="13500000">
              <a:off x="2180082" y="83423"/>
              <a:ext cx="73761" cy="73761"/>
              <a:chOff x="5762847" y="855527"/>
              <a:chExt cx="182880" cy="1828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B5ADA53-753C-4DE1-B313-308F77F4E56B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904B05C-FFDF-4A5C-BD23-16898BF2E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FEDB6F-A4E2-4FCE-A382-14C5749E3290}"/>
                </a:ext>
              </a:extLst>
            </p:cNvPr>
            <p:cNvGrpSpPr/>
            <p:nvPr/>
          </p:nvGrpSpPr>
          <p:grpSpPr>
            <a:xfrm rot="13500000">
              <a:off x="2518073" y="83422"/>
              <a:ext cx="73761" cy="73761"/>
              <a:chOff x="5762847" y="855527"/>
              <a:chExt cx="182880" cy="18288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3FC0C9B-9496-47E9-A777-E83E7C27EEF3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A665E8C-7D59-4EF3-954C-2D948CFCF1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C01E60-2746-4AA2-A880-0D1F684E6FE3}"/>
                </a:ext>
              </a:extLst>
            </p:cNvPr>
            <p:cNvGrpSpPr/>
            <p:nvPr/>
          </p:nvGrpSpPr>
          <p:grpSpPr>
            <a:xfrm rot="13500000">
              <a:off x="2856064" y="83422"/>
              <a:ext cx="73761" cy="73761"/>
              <a:chOff x="5762847" y="855527"/>
              <a:chExt cx="182880" cy="18288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18FA5CD-8005-4A6D-8D9B-F4048F54A21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EC720DB-D986-4D5A-9503-CB2DCA1A0A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43610E3-6EE0-43FB-9911-A020EBA799F1}"/>
                </a:ext>
              </a:extLst>
            </p:cNvPr>
            <p:cNvGrpSpPr/>
            <p:nvPr/>
          </p:nvGrpSpPr>
          <p:grpSpPr>
            <a:xfrm rot="13500000">
              <a:off x="3194055" y="83421"/>
              <a:ext cx="73761" cy="73761"/>
              <a:chOff x="5762847" y="855527"/>
              <a:chExt cx="182880" cy="18288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0951241-06EA-4635-B628-EDF99846FA7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107952F-EB06-401B-85CE-5E106F9B4F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C77E5D5-C6D5-48F0-BAA0-1A07DFCB925F}"/>
                </a:ext>
              </a:extLst>
            </p:cNvPr>
            <p:cNvGrpSpPr/>
            <p:nvPr/>
          </p:nvGrpSpPr>
          <p:grpSpPr>
            <a:xfrm rot="13500000">
              <a:off x="3532046" y="83421"/>
              <a:ext cx="73761" cy="73761"/>
              <a:chOff x="5762847" y="855527"/>
              <a:chExt cx="182880" cy="18288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F6D7969-0451-480A-BE97-04E8DBC3CADC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9F3E26C-819B-4080-888E-DF18167284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4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082344"/>
            <a:ext cx="10515600" cy="480131"/>
          </a:xfrm>
        </p:spPr>
        <p:txBody>
          <a:bodyPr anchor="b"/>
          <a:lstStyle>
            <a:lvl1pPr>
              <a:defRPr sz="2800" i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91701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8A4EB83-0CB6-4E8A-BD62-F024F3A15EB7}"/>
              </a:ext>
            </a:extLst>
          </p:cNvPr>
          <p:cNvCxnSpPr>
            <a:cxnSpLocks/>
          </p:cNvCxnSpPr>
          <p:nvPr userDrawn="1"/>
        </p:nvCxnSpPr>
        <p:spPr>
          <a:xfrm flipH="1">
            <a:off x="823962" y="4733825"/>
            <a:ext cx="663644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345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0_Section Hea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DFFA3A7A-D3AA-4B7E-90CE-EE3526AB70DC}"/>
              </a:ext>
            </a:extLst>
          </p:cNvPr>
          <p:cNvSpPr/>
          <p:nvPr userDrawn="1"/>
        </p:nvSpPr>
        <p:spPr>
          <a:xfrm>
            <a:off x="1023115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5">
                  <a:alpha val="0"/>
                  <a:lumMod val="75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1F3CF6A-3971-42FB-8195-ED773BE1B8CF}"/>
              </a:ext>
            </a:extLst>
          </p:cNvPr>
          <p:cNvSpPr/>
          <p:nvPr userDrawn="1"/>
        </p:nvSpPr>
        <p:spPr>
          <a:xfrm rot="10800000">
            <a:off x="-1476300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6">
                  <a:alpha val="0"/>
                </a:schemeClr>
              </a:gs>
              <a:gs pos="100000">
                <a:schemeClr val="accent6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5C2FD72-5224-4845-839C-6BFE7FA721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25000"/>
            <a:alphaModFix amt="20000"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4955" y="2603092"/>
            <a:ext cx="3312277" cy="379371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BBAB1EB-95BB-4528-96F7-3993F4666FBE}"/>
              </a:ext>
            </a:extLst>
          </p:cNvPr>
          <p:cNvGrpSpPr/>
          <p:nvPr userDrawn="1"/>
        </p:nvGrpSpPr>
        <p:grpSpPr>
          <a:xfrm>
            <a:off x="-924553" y="656444"/>
            <a:ext cx="2777689" cy="73767"/>
            <a:chOff x="828118" y="83421"/>
            <a:chExt cx="2777689" cy="7376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B40905-A4F8-4242-9DE3-61056F12D5A4}"/>
                </a:ext>
              </a:extLst>
            </p:cNvPr>
            <p:cNvGrpSpPr/>
            <p:nvPr/>
          </p:nvGrpSpPr>
          <p:grpSpPr>
            <a:xfrm rot="13500000">
              <a:off x="828118" y="83427"/>
              <a:ext cx="73761" cy="73761"/>
              <a:chOff x="5762847" y="855527"/>
              <a:chExt cx="182880" cy="18288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85626CC-E4D2-4261-815E-FA09F03FA989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7745C30-65FE-4301-BF33-94D3F3A3F6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4B5484A-3F2C-455F-ADD8-5BAD2F0322D2}"/>
                </a:ext>
              </a:extLst>
            </p:cNvPr>
            <p:cNvGrpSpPr/>
            <p:nvPr/>
          </p:nvGrpSpPr>
          <p:grpSpPr>
            <a:xfrm rot="13500000">
              <a:off x="1166109" y="83426"/>
              <a:ext cx="73761" cy="73761"/>
              <a:chOff x="5762847" y="855527"/>
              <a:chExt cx="182880" cy="18288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E1D04B5-4C19-42F1-8AF4-DF77DFA9E696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33ECFAA-6C73-4422-84C0-4662E9830C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4D8B4D-C8F9-4060-AE12-77D2B2E9A95C}"/>
                </a:ext>
              </a:extLst>
            </p:cNvPr>
            <p:cNvGrpSpPr/>
            <p:nvPr/>
          </p:nvGrpSpPr>
          <p:grpSpPr>
            <a:xfrm rot="13500000">
              <a:off x="1504100" y="83425"/>
              <a:ext cx="73761" cy="73761"/>
              <a:chOff x="5762847" y="855527"/>
              <a:chExt cx="182880" cy="1828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FD70F0B-B853-4441-ABD5-CEA2455FA7CA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14F4EBA-8FF9-4A39-B071-46C46C8052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7652A8B-72EF-4E78-AA4E-0CC2394AAA21}"/>
                </a:ext>
              </a:extLst>
            </p:cNvPr>
            <p:cNvGrpSpPr/>
            <p:nvPr/>
          </p:nvGrpSpPr>
          <p:grpSpPr>
            <a:xfrm rot="13500000">
              <a:off x="1842091" y="83424"/>
              <a:ext cx="73761" cy="73761"/>
              <a:chOff x="5762847" y="855527"/>
              <a:chExt cx="182880" cy="18288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E4AB0-390C-4314-BBBC-DFA40152295E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B6769D0-F275-4F11-9097-0042ADB40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D93944D-A039-4CD5-9AAE-897D4057BC13}"/>
                </a:ext>
              </a:extLst>
            </p:cNvPr>
            <p:cNvGrpSpPr/>
            <p:nvPr/>
          </p:nvGrpSpPr>
          <p:grpSpPr>
            <a:xfrm rot="13500000">
              <a:off x="2180082" y="83423"/>
              <a:ext cx="73761" cy="73761"/>
              <a:chOff x="5762847" y="855527"/>
              <a:chExt cx="182880" cy="1828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B5ADA53-753C-4DE1-B313-308F77F4E56B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904B05C-FFDF-4A5C-BD23-16898BF2E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FEDB6F-A4E2-4FCE-A382-14C5749E3290}"/>
                </a:ext>
              </a:extLst>
            </p:cNvPr>
            <p:cNvGrpSpPr/>
            <p:nvPr/>
          </p:nvGrpSpPr>
          <p:grpSpPr>
            <a:xfrm rot="13500000">
              <a:off x="2518073" y="83422"/>
              <a:ext cx="73761" cy="73761"/>
              <a:chOff x="5762847" y="855527"/>
              <a:chExt cx="182880" cy="18288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3FC0C9B-9496-47E9-A777-E83E7C27EEF3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A665E8C-7D59-4EF3-954C-2D948CFCF1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C01E60-2746-4AA2-A880-0D1F684E6FE3}"/>
                </a:ext>
              </a:extLst>
            </p:cNvPr>
            <p:cNvGrpSpPr/>
            <p:nvPr/>
          </p:nvGrpSpPr>
          <p:grpSpPr>
            <a:xfrm rot="13500000">
              <a:off x="2856064" y="83422"/>
              <a:ext cx="73761" cy="73761"/>
              <a:chOff x="5762847" y="855527"/>
              <a:chExt cx="182880" cy="18288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18FA5CD-8005-4A6D-8D9B-F4048F54A21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EC720DB-D986-4D5A-9503-CB2DCA1A0A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43610E3-6EE0-43FB-9911-A020EBA799F1}"/>
                </a:ext>
              </a:extLst>
            </p:cNvPr>
            <p:cNvGrpSpPr/>
            <p:nvPr/>
          </p:nvGrpSpPr>
          <p:grpSpPr>
            <a:xfrm rot="13500000">
              <a:off x="3194055" y="83421"/>
              <a:ext cx="73761" cy="73761"/>
              <a:chOff x="5762847" y="855527"/>
              <a:chExt cx="182880" cy="18288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0951241-06EA-4635-B628-EDF99846FA7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107952F-EB06-401B-85CE-5E106F9B4F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C77E5D5-C6D5-48F0-BAA0-1A07DFCB925F}"/>
                </a:ext>
              </a:extLst>
            </p:cNvPr>
            <p:cNvGrpSpPr/>
            <p:nvPr/>
          </p:nvGrpSpPr>
          <p:grpSpPr>
            <a:xfrm rot="13500000">
              <a:off x="3532046" y="83421"/>
              <a:ext cx="73761" cy="73761"/>
              <a:chOff x="5762847" y="855527"/>
              <a:chExt cx="182880" cy="18288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F6D7969-0451-480A-BE97-04E8DBC3CADC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9F3E26C-819B-4080-888E-DF18167284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082344"/>
            <a:ext cx="10515600" cy="480131"/>
          </a:xfrm>
        </p:spPr>
        <p:txBody>
          <a:bodyPr anchor="b"/>
          <a:lstStyle>
            <a:lvl1pPr>
              <a:defRPr sz="2800" i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91701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46EAFCF-62A9-448E-A69F-44EB1C0D199B}"/>
              </a:ext>
            </a:extLst>
          </p:cNvPr>
          <p:cNvCxnSpPr>
            <a:cxnSpLocks/>
          </p:cNvCxnSpPr>
          <p:nvPr userDrawn="1"/>
        </p:nvCxnSpPr>
        <p:spPr>
          <a:xfrm flipH="1">
            <a:off x="823962" y="4733825"/>
            <a:ext cx="66364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020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9_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DFFA3A7A-D3AA-4B7E-90CE-EE3526AB70DC}"/>
              </a:ext>
            </a:extLst>
          </p:cNvPr>
          <p:cNvSpPr/>
          <p:nvPr userDrawn="1"/>
        </p:nvSpPr>
        <p:spPr>
          <a:xfrm>
            <a:off x="1023115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5C2FD72-5224-4845-839C-6BFE7FA721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4955" y="2603092"/>
            <a:ext cx="3312277" cy="3793713"/>
          </a:xfrm>
          <a:prstGeom prst="rect">
            <a:avLst/>
          </a:prstGeom>
        </p:spPr>
      </p:pic>
      <p:sp>
        <p:nvSpPr>
          <p:cNvPr id="41" name="Parallelogram 40">
            <a:extLst>
              <a:ext uri="{FF2B5EF4-FFF2-40B4-BE49-F238E27FC236}">
                <a16:creationId xmlns:a16="http://schemas.microsoft.com/office/drawing/2014/main" id="{235462F7-7773-4AC8-8064-DE9AAEC9C875}"/>
              </a:ext>
            </a:extLst>
          </p:cNvPr>
          <p:cNvSpPr/>
          <p:nvPr userDrawn="1"/>
        </p:nvSpPr>
        <p:spPr>
          <a:xfrm rot="10800000">
            <a:off x="-1476300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6">
                  <a:alpha val="0"/>
                </a:schemeClr>
              </a:gs>
              <a:gs pos="100000">
                <a:schemeClr val="accent6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BAB1EB-95BB-4528-96F7-3993F4666FBE}"/>
              </a:ext>
            </a:extLst>
          </p:cNvPr>
          <p:cNvGrpSpPr/>
          <p:nvPr userDrawn="1"/>
        </p:nvGrpSpPr>
        <p:grpSpPr>
          <a:xfrm>
            <a:off x="-924553" y="656444"/>
            <a:ext cx="2777689" cy="73767"/>
            <a:chOff x="828118" y="83421"/>
            <a:chExt cx="2777689" cy="7376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AB40905-A4F8-4242-9DE3-61056F12D5A4}"/>
                </a:ext>
              </a:extLst>
            </p:cNvPr>
            <p:cNvGrpSpPr/>
            <p:nvPr/>
          </p:nvGrpSpPr>
          <p:grpSpPr>
            <a:xfrm rot="13500000">
              <a:off x="828118" y="83427"/>
              <a:ext cx="73761" cy="73761"/>
              <a:chOff x="5762847" y="855527"/>
              <a:chExt cx="182880" cy="18288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85626CC-E4D2-4261-815E-FA09F03FA989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37745C30-65FE-4301-BF33-94D3F3A3F6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4B5484A-3F2C-455F-ADD8-5BAD2F0322D2}"/>
                </a:ext>
              </a:extLst>
            </p:cNvPr>
            <p:cNvGrpSpPr/>
            <p:nvPr/>
          </p:nvGrpSpPr>
          <p:grpSpPr>
            <a:xfrm rot="13500000">
              <a:off x="1166109" y="83426"/>
              <a:ext cx="73761" cy="73761"/>
              <a:chOff x="5762847" y="855527"/>
              <a:chExt cx="182880" cy="182880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E1D04B5-4C19-42F1-8AF4-DF77DFA9E696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33ECFAA-6C73-4422-84C0-4662E9830C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24D8B4D-C8F9-4060-AE12-77D2B2E9A95C}"/>
                </a:ext>
              </a:extLst>
            </p:cNvPr>
            <p:cNvGrpSpPr/>
            <p:nvPr/>
          </p:nvGrpSpPr>
          <p:grpSpPr>
            <a:xfrm rot="13500000">
              <a:off x="1504100" y="83425"/>
              <a:ext cx="73761" cy="73761"/>
              <a:chOff x="5762847" y="855527"/>
              <a:chExt cx="182880" cy="1828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FD70F0B-B853-4441-ABD5-CEA2455FA7CA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14F4EBA-8FF9-4A39-B071-46C46C8052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7652A8B-72EF-4E78-AA4E-0CC2394AAA21}"/>
                </a:ext>
              </a:extLst>
            </p:cNvPr>
            <p:cNvGrpSpPr/>
            <p:nvPr/>
          </p:nvGrpSpPr>
          <p:grpSpPr>
            <a:xfrm rot="13500000">
              <a:off x="1842091" y="83424"/>
              <a:ext cx="73761" cy="73761"/>
              <a:chOff x="5762847" y="855527"/>
              <a:chExt cx="182880" cy="18288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E4AB0-390C-4314-BBBC-DFA40152295E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B6769D0-F275-4F11-9097-0042ADB40B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D93944D-A039-4CD5-9AAE-897D4057BC13}"/>
                </a:ext>
              </a:extLst>
            </p:cNvPr>
            <p:cNvGrpSpPr/>
            <p:nvPr/>
          </p:nvGrpSpPr>
          <p:grpSpPr>
            <a:xfrm rot="13500000">
              <a:off x="2180082" y="83423"/>
              <a:ext cx="73761" cy="73761"/>
              <a:chOff x="5762847" y="855527"/>
              <a:chExt cx="182880" cy="1828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B5ADA53-753C-4DE1-B313-308F77F4E56B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904B05C-FFDF-4A5C-BD23-16898BF2E1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FEDB6F-A4E2-4FCE-A382-14C5749E3290}"/>
                </a:ext>
              </a:extLst>
            </p:cNvPr>
            <p:cNvGrpSpPr/>
            <p:nvPr/>
          </p:nvGrpSpPr>
          <p:grpSpPr>
            <a:xfrm rot="13500000">
              <a:off x="2518073" y="83422"/>
              <a:ext cx="73761" cy="73761"/>
              <a:chOff x="5762847" y="855527"/>
              <a:chExt cx="182880" cy="18288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3FC0C9B-9496-47E9-A777-E83E7C27EEF3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AA665E8C-7D59-4EF3-954C-2D948CFCF1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C01E60-2746-4AA2-A880-0D1F684E6FE3}"/>
                </a:ext>
              </a:extLst>
            </p:cNvPr>
            <p:cNvGrpSpPr/>
            <p:nvPr/>
          </p:nvGrpSpPr>
          <p:grpSpPr>
            <a:xfrm rot="13500000">
              <a:off x="2856064" y="83422"/>
              <a:ext cx="73761" cy="73761"/>
              <a:chOff x="5762847" y="855527"/>
              <a:chExt cx="182880" cy="18288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18FA5CD-8005-4A6D-8D9B-F4048F54A21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6EC720DB-D986-4D5A-9503-CB2DCA1A0A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43610E3-6EE0-43FB-9911-A020EBA799F1}"/>
                </a:ext>
              </a:extLst>
            </p:cNvPr>
            <p:cNvGrpSpPr/>
            <p:nvPr/>
          </p:nvGrpSpPr>
          <p:grpSpPr>
            <a:xfrm rot="13500000">
              <a:off x="3194055" y="83421"/>
              <a:ext cx="73761" cy="73761"/>
              <a:chOff x="5762847" y="855527"/>
              <a:chExt cx="182880" cy="182880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0951241-06EA-4635-B628-EDF99846FA7F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107952F-EB06-401B-85CE-5E106F9B4F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C77E5D5-C6D5-48F0-BAA0-1A07DFCB925F}"/>
                </a:ext>
              </a:extLst>
            </p:cNvPr>
            <p:cNvGrpSpPr/>
            <p:nvPr/>
          </p:nvGrpSpPr>
          <p:grpSpPr>
            <a:xfrm rot="13500000">
              <a:off x="3532046" y="83421"/>
              <a:ext cx="73761" cy="73761"/>
              <a:chOff x="5762847" y="855527"/>
              <a:chExt cx="182880" cy="182880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F6D7969-0451-480A-BE97-04E8DBC3CADC}"/>
                  </a:ext>
                </a:extLst>
              </p:cNvPr>
              <p:cNvCxnSpPr/>
              <p:nvPr/>
            </p:nvCxnSpPr>
            <p:spPr>
              <a:xfrm>
                <a:off x="5762847" y="855527"/>
                <a:ext cx="0" cy="18288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9F3E26C-819B-4080-888E-DF18167284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62847" y="1038407"/>
                <a:ext cx="182880" cy="0"/>
              </a:xfrm>
              <a:prstGeom prst="line">
                <a:avLst/>
              </a:prstGeom>
              <a:ln w="19050">
                <a:solidFill>
                  <a:schemeClr val="accent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91701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082344"/>
            <a:ext cx="10515600" cy="480131"/>
          </a:xfrm>
        </p:spPr>
        <p:txBody>
          <a:bodyPr anchor="b"/>
          <a:lstStyle>
            <a:lvl1pPr>
              <a:defRPr sz="2800" i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A6B9B6E-B9A8-40A1-A460-0452F1F94C21}"/>
              </a:ext>
            </a:extLst>
          </p:cNvPr>
          <p:cNvCxnSpPr>
            <a:cxnSpLocks/>
          </p:cNvCxnSpPr>
          <p:nvPr userDrawn="1"/>
        </p:nvCxnSpPr>
        <p:spPr>
          <a:xfrm flipH="1">
            <a:off x="823962" y="4733825"/>
            <a:ext cx="66364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015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4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4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20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89470"/>
            <a:ext cx="3932237" cy="86793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2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24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17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43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solidFill>
            <a:schemeClr val="accent1">
              <a:alpha val="85000"/>
            </a:schemeClr>
          </a:solidFill>
        </p:spPr>
        <p:txBody>
          <a:bodyPr lIns="274320" tIns="274320" rIns="274320" bIns="274320"/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731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76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and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Name of Initiative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E500D9-CF53-4920-99CA-9E654F42E876}"/>
              </a:ext>
            </a:extLst>
          </p:cNvPr>
          <p:cNvSpPr/>
          <p:nvPr userDrawn="1"/>
        </p:nvSpPr>
        <p:spPr>
          <a:xfrm>
            <a:off x="139304" y="-180462"/>
            <a:ext cx="4094603" cy="4094603"/>
          </a:xfrm>
          <a:prstGeom prst="ellipse">
            <a:avLst/>
          </a:prstGeom>
          <a:noFill/>
          <a:ln w="1905000">
            <a:gradFill>
              <a:gsLst>
                <a:gs pos="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85000"/>
                    <a:alpha val="60000"/>
                  </a:schemeClr>
                </a:gs>
              </a:gsLst>
              <a:lin ang="13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26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ground Only: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0E5126E1-4A6C-403C-B3E7-5CEEA6593AAE}"/>
              </a:ext>
            </a:extLst>
          </p:cNvPr>
          <p:cNvSpPr/>
          <p:nvPr userDrawn="1"/>
        </p:nvSpPr>
        <p:spPr>
          <a:xfrm>
            <a:off x="-222857" y="-30736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accent5">
                  <a:alpha val="0"/>
                </a:schemeClr>
              </a:gs>
              <a:gs pos="100000">
                <a:schemeClr val="accent2"/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32B7EF76-94A6-4AAA-BD5E-5CF9731D4B1A}"/>
              </a:ext>
            </a:extLst>
          </p:cNvPr>
          <p:cNvSpPr/>
          <p:nvPr userDrawn="1"/>
        </p:nvSpPr>
        <p:spPr>
          <a:xfrm rot="10800000">
            <a:off x="8834814" y="2261903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accent3">
                  <a:alpha val="0"/>
                </a:schemeClr>
              </a:gs>
              <a:gs pos="100000">
                <a:schemeClr val="accent3">
                  <a:alpha val="7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9440D6-9A55-4787-B579-8FFD0755C6D4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14776" y="3239589"/>
            <a:ext cx="1476731" cy="3618411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54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elogram 9">
            <a:extLst>
              <a:ext uri="{FF2B5EF4-FFF2-40B4-BE49-F238E27FC236}">
                <a16:creationId xmlns:a16="http://schemas.microsoft.com/office/drawing/2014/main" id="{26E6B51D-CB0A-4E91-9A6C-433229868862}"/>
              </a:ext>
            </a:extLst>
          </p:cNvPr>
          <p:cNvSpPr/>
          <p:nvPr userDrawn="1"/>
        </p:nvSpPr>
        <p:spPr>
          <a:xfrm rot="10800000">
            <a:off x="8921143" y="2302961"/>
            <a:ext cx="3580043" cy="4585278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20000">
                <a:schemeClr val="bg1">
                  <a:lumMod val="95000"/>
                  <a:alpha val="0"/>
                </a:schemeClr>
              </a:gs>
              <a:gs pos="100000">
                <a:schemeClr val="bg1">
                  <a:lumMod val="95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DE33F1FB-D1DC-40E3-8128-01F1050E365D}"/>
              </a:ext>
            </a:extLst>
          </p:cNvPr>
          <p:cNvSpPr/>
          <p:nvPr userDrawn="1"/>
        </p:nvSpPr>
        <p:spPr>
          <a:xfrm rot="10800000">
            <a:off x="9799931" y="-30736"/>
            <a:ext cx="5402509" cy="6919471"/>
          </a:xfrm>
          <a:prstGeom prst="parallelogram">
            <a:avLst>
              <a:gd name="adj" fmla="val 52245"/>
            </a:avLst>
          </a:prstGeom>
          <a:gradFill flip="none" rotWithShape="1">
            <a:gsLst>
              <a:gs pos="40000">
                <a:schemeClr val="bg1">
                  <a:lumMod val="85000"/>
                  <a:alpha val="0"/>
                </a:schemeClr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18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503504"/>
            <a:ext cx="12192000" cy="384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rgbClr val="002C77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FDA7CF6-2050-4A6C-BFA8-9DD0EF549C0D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52280" y="6595711"/>
            <a:ext cx="914688" cy="17309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0131"/>
          </a:xfrm>
          <a:prstGeom prst="rect">
            <a:avLst/>
          </a:prstGeom>
        </p:spPr>
        <p:txBody>
          <a:bodyPr vert="horz" lIns="0" tIns="45720" rIns="0" bIns="4572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10108"/>
            <a:ext cx="10515600" cy="43513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80258" y="64871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AFAFAF"/>
                </a:solidFill>
              </a:defRPr>
            </a:lvl1pPr>
          </a:lstStyle>
          <a:p>
            <a:r>
              <a:rPr lang="en-US" dirty="0"/>
              <a:t>Name of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42356" y="6487182"/>
            <a:ext cx="4973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rgbClr val="AFAFAF"/>
                </a:solidFill>
              </a:defRPr>
            </a:lvl1pPr>
          </a:lstStyle>
          <a:p>
            <a:fld id="{DD253308-F9C5-4FCB-8415-6DEE77C16A3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C6A3B2-8B52-4A4F-A948-674C40D1293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592746" y="6552811"/>
            <a:ext cx="97287" cy="213183"/>
          </a:xfrm>
          <a:prstGeom prst="line">
            <a:avLst/>
          </a:prstGeom>
          <a:ln w="25400">
            <a:solidFill>
              <a:srgbClr val="C509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03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50" r:id="rId3"/>
    <p:sldLayoutId id="2147483658" r:id="rId4"/>
    <p:sldLayoutId id="2147483668" r:id="rId5"/>
    <p:sldLayoutId id="2147483669" r:id="rId6"/>
    <p:sldLayoutId id="2147483673" r:id="rId7"/>
    <p:sldLayoutId id="2147483672" r:id="rId8"/>
    <p:sldLayoutId id="2147483653" r:id="rId9"/>
    <p:sldLayoutId id="2147483656" r:id="rId10"/>
    <p:sldLayoutId id="2147483654" r:id="rId11"/>
    <p:sldLayoutId id="2147483662" r:id="rId12"/>
    <p:sldLayoutId id="2147483663" r:id="rId13"/>
    <p:sldLayoutId id="2147483655" r:id="rId14"/>
    <p:sldLayoutId id="2147483659" r:id="rId15"/>
    <p:sldLayoutId id="2147483661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C5093B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22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13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13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13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13000"/>
        </a:lnSpc>
        <a:spcBef>
          <a:spcPts val="800"/>
        </a:spcBef>
        <a:spcAft>
          <a:spcPts val="200"/>
        </a:spcAft>
        <a:buFont typeface="Arial" panose="020B0604020202020204" pitchFamily="34" charset="0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672" y="4550000"/>
            <a:ext cx="9144000" cy="507383"/>
          </a:xfrm>
        </p:spPr>
        <p:txBody>
          <a:bodyPr/>
          <a:lstStyle/>
          <a:p>
            <a:r>
              <a:rPr lang="en-US" dirty="0"/>
              <a:t>Jose Cervantez, Erika Kirgios, Rosalind Chow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75672" y="5337129"/>
            <a:ext cx="9144000" cy="474874"/>
          </a:xfrm>
        </p:spPr>
        <p:txBody>
          <a:bodyPr/>
          <a:lstStyle/>
          <a:p>
            <a:r>
              <a:rPr lang="en-US" dirty="0"/>
              <a:t>November 13, 2025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027BD59-CAF8-ED41-AEBB-456ED013B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671" y="3231203"/>
            <a:ext cx="10135871" cy="1311128"/>
          </a:xfrm>
        </p:spPr>
        <p:txBody>
          <a:bodyPr/>
          <a:lstStyle/>
          <a:p>
            <a:r>
              <a:rPr lang="en-US" sz="4400" b="1" i="0" cap="none" dirty="0">
                <a:latin typeface="Arial" panose="020B0604020202020204" pitchFamily="34" charset="0"/>
                <a:cs typeface="Arial" panose="020B0604020202020204" pitchFamily="34" charset="0"/>
              </a:rPr>
              <a:t>Who Builds Social Capital Through Sponsorship? </a:t>
            </a:r>
          </a:p>
        </p:txBody>
      </p:sp>
    </p:spTree>
    <p:extLst>
      <p:ext uri="{BB962C8B-B14F-4D97-AF65-F5344CB8AC3E}">
        <p14:creationId xmlns:p14="http://schemas.microsoft.com/office/powerpoint/2010/main" val="1546370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DBF5B-E994-58DF-30BE-90EBBE7CC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61180033-AF51-242D-F29E-290CA4C5DC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FBED5A7-F2F0-2CFA-C1CE-452DC19AC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9" name="Picture 8" descr="A person in a suit and tie&#10;&#10;AI-generated content may be incorrect.">
            <a:extLst>
              <a:ext uri="{FF2B5EF4-FFF2-40B4-BE49-F238E27FC236}">
                <a16:creationId xmlns:a16="http://schemas.microsoft.com/office/drawing/2014/main" id="{00F1812E-DBC1-BA1B-020C-8EC073DC34E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115" y="1914849"/>
            <a:ext cx="2623930" cy="2623930"/>
          </a:xfrm>
          <a:prstGeom prst="rect">
            <a:avLst/>
          </a:prstGeom>
        </p:spPr>
      </p:pic>
      <p:pic>
        <p:nvPicPr>
          <p:cNvPr id="11" name="Picture 10" descr="A cartoon of a person smiling&#10;&#10;AI-generated content may be incorrect.">
            <a:extLst>
              <a:ext uri="{FF2B5EF4-FFF2-40B4-BE49-F238E27FC236}">
                <a16:creationId xmlns:a16="http://schemas.microsoft.com/office/drawing/2014/main" id="{90BDD2C0-79FB-491D-155E-F3EC478C559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497" y="1914849"/>
            <a:ext cx="2623930" cy="2623930"/>
          </a:xfrm>
          <a:prstGeom prst="rect">
            <a:avLst/>
          </a:prstGeom>
        </p:spPr>
      </p:pic>
      <p:pic>
        <p:nvPicPr>
          <p:cNvPr id="13" name="Picture 12" descr="A person in a blue shirt and tie&#10;&#10;AI-generated content may be incorrect.">
            <a:extLst>
              <a:ext uri="{FF2B5EF4-FFF2-40B4-BE49-F238E27FC236}">
                <a16:creationId xmlns:a16="http://schemas.microsoft.com/office/drawing/2014/main" id="{7BE7B399-9FC0-C0AB-5FB2-CDE554F5FCD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769" y="2100719"/>
            <a:ext cx="2623930" cy="2623930"/>
          </a:xfrm>
          <a:prstGeom prst="rect">
            <a:avLst/>
          </a:prstGeom>
        </p:spPr>
      </p:pic>
      <p:sp>
        <p:nvSpPr>
          <p:cNvPr id="22" name="Cloud 21">
            <a:extLst>
              <a:ext uri="{FF2B5EF4-FFF2-40B4-BE49-F238E27FC236}">
                <a16:creationId xmlns:a16="http://schemas.microsoft.com/office/drawing/2014/main" id="{7AA67EBC-EBCC-6080-0858-10897C2F8BB6}"/>
              </a:ext>
            </a:extLst>
          </p:cNvPr>
          <p:cNvSpPr/>
          <p:nvPr/>
        </p:nvSpPr>
        <p:spPr>
          <a:xfrm>
            <a:off x="4096624" y="759904"/>
            <a:ext cx="2383692" cy="1591449"/>
          </a:xfrm>
          <a:prstGeom prst="cloud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He’s great! </a:t>
            </a:r>
          </a:p>
        </p:txBody>
      </p:sp>
      <p:pic>
        <p:nvPicPr>
          <p:cNvPr id="31" name="Picture 30" descr="A person in a blue shirt and tie&#10;&#10;AI-generated content may be incorrect.">
            <a:extLst>
              <a:ext uri="{FF2B5EF4-FFF2-40B4-BE49-F238E27FC236}">
                <a16:creationId xmlns:a16="http://schemas.microsoft.com/office/drawing/2014/main" id="{D604F8F8-9BE4-BF49-9884-F6E9AD6694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42" t="14546" r="6339" b="15055"/>
          <a:stretch>
            <a:fillRect/>
          </a:stretch>
        </p:blipFill>
        <p:spPr>
          <a:xfrm>
            <a:off x="6546085" y="1837884"/>
            <a:ext cx="3165297" cy="3149599"/>
          </a:xfrm>
          <a:prstGeom prst="rect">
            <a:avLst/>
          </a:prstGeom>
        </p:spPr>
      </p:pic>
      <p:pic>
        <p:nvPicPr>
          <p:cNvPr id="7" name="Graphic 6" descr="Thumbs Down with solid fill">
            <a:extLst>
              <a:ext uri="{FF2B5EF4-FFF2-40B4-BE49-F238E27FC236}">
                <a16:creationId xmlns:a16="http://schemas.microsoft.com/office/drawing/2014/main" id="{DF9E8C08-F377-CB7B-E6B6-4905224F2C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89524" y="1186319"/>
            <a:ext cx="914400" cy="914400"/>
          </a:xfrm>
          <a:prstGeom prst="rect">
            <a:avLst/>
          </a:pr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9627B6E-9CE9-A645-120E-1451596CD140}"/>
              </a:ext>
            </a:extLst>
          </p:cNvPr>
          <p:cNvSpPr/>
          <p:nvPr/>
        </p:nvSpPr>
        <p:spPr>
          <a:xfrm>
            <a:off x="3037398" y="643345"/>
            <a:ext cx="6361044" cy="1145698"/>
          </a:xfrm>
          <a:custGeom>
            <a:avLst/>
            <a:gdLst>
              <a:gd name="connsiteX0" fmla="*/ 6361044 w 6361044"/>
              <a:gd name="connsiteY0" fmla="*/ 1010526 h 1145698"/>
              <a:gd name="connsiteX1" fmla="*/ 2146852 w 6361044"/>
              <a:gd name="connsiteY1" fmla="*/ 711 h 1145698"/>
              <a:gd name="connsiteX2" fmla="*/ 0 w 6361044"/>
              <a:gd name="connsiteY2" fmla="*/ 1145698 h 1145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61044" h="1145698">
                <a:moveTo>
                  <a:pt x="6361044" y="1010526"/>
                </a:moveTo>
                <a:cubicBezTo>
                  <a:pt x="4784035" y="494354"/>
                  <a:pt x="3207026" y="-21818"/>
                  <a:pt x="2146852" y="711"/>
                </a:cubicBezTo>
                <a:cubicBezTo>
                  <a:pt x="1086678" y="23240"/>
                  <a:pt x="543339" y="584469"/>
                  <a:pt x="0" y="1145698"/>
                </a:cubicBezTo>
              </a:path>
            </a:pathLst>
          </a:custGeom>
          <a:noFill/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6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AF90D-39B8-EF39-2634-C273071A1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sponsorship?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CCBFF-376D-B480-EDB1-4BA397508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108"/>
            <a:ext cx="6262315" cy="4351338"/>
          </a:xfrm>
        </p:spPr>
        <p:txBody>
          <a:bodyPr>
            <a:noAutofit/>
          </a:bodyPr>
          <a:lstStyle/>
          <a:p>
            <a:r>
              <a:rPr lang="en-US" sz="2000" dirty="0"/>
              <a:t>Support provided to influence other people’s perceptions of a protégé’s skills, abilities, performance, and potential with the intention of helping the protege in their career, specifically by enhancing positive perceptions or reducing negative perceptions.</a:t>
            </a:r>
          </a:p>
          <a:p>
            <a:r>
              <a:rPr lang="en-US" sz="2000" dirty="0"/>
              <a:t>Some examples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Advocating for protégés for specific opportunities (presentations, positions, projects)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Drawing attention to protégés’ skills and achievements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Making strategic introductions to influential individuals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6E9E6-958E-51A9-D323-C3AA6BF1DF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0CED2-3CDF-3F84-61EF-F42054097D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 descr="A black and white image of a person standing on a pyramid&#10;&#10;AI-generated content may be incorrect.">
            <a:extLst>
              <a:ext uri="{FF2B5EF4-FFF2-40B4-BE49-F238E27FC236}">
                <a16:creationId xmlns:a16="http://schemas.microsoft.com/office/drawing/2014/main" id="{ED924FFB-BB0C-CC40-B452-6D4C6EAC2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582" y="605190"/>
            <a:ext cx="4710485" cy="471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9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70FEA-0036-BBE3-0591-D78454DC6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108"/>
            <a:ext cx="6172200" cy="4351338"/>
          </a:xfrm>
        </p:spPr>
        <p:txBody>
          <a:bodyPr/>
          <a:lstStyle/>
          <a:p>
            <a:r>
              <a:rPr lang="en-US" dirty="0"/>
              <a:t>Compared to other forms of career support (i.e., mentorship), sponsorship is a stronger predictor of advancement.</a:t>
            </a:r>
          </a:p>
          <a:p>
            <a:r>
              <a:rPr lang="en-US" dirty="0"/>
              <a:t>Leads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Promotions and raises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High-visibility assignments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Access to leadership roles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Critical professional connections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FFABF-A813-3D2C-2446-D098B60E3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sponsorship matters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1A3D3-3684-0025-CAC6-2FD54E74C5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71987-5356-DB6E-D42C-5847FA9C63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Graphic 7" descr="Money outline">
            <a:extLst>
              <a:ext uri="{FF2B5EF4-FFF2-40B4-BE49-F238E27FC236}">
                <a16:creationId xmlns:a16="http://schemas.microsoft.com/office/drawing/2014/main" id="{4CAF3267-F6F4-D7A2-33A0-02E86D0AB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37658" y="2815051"/>
            <a:ext cx="1764430" cy="1764430"/>
          </a:xfrm>
          <a:prstGeom prst="rect">
            <a:avLst/>
          </a:prstGeom>
        </p:spPr>
      </p:pic>
      <p:pic>
        <p:nvPicPr>
          <p:cNvPr id="12" name="Graphic 11" descr="Social network with solid fill">
            <a:extLst>
              <a:ext uri="{FF2B5EF4-FFF2-40B4-BE49-F238E27FC236}">
                <a16:creationId xmlns:a16="http://schemas.microsoft.com/office/drawing/2014/main" id="{7CF9DE3F-D492-CA88-3B30-D8D5B1E573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99434" y="2692621"/>
            <a:ext cx="1947014" cy="1947014"/>
          </a:xfrm>
          <a:prstGeom prst="rect">
            <a:avLst/>
          </a:prstGeom>
        </p:spPr>
      </p:pic>
      <p:pic>
        <p:nvPicPr>
          <p:cNvPr id="14" name="Graphic 13" descr="Handshake with solid fill">
            <a:extLst>
              <a:ext uri="{FF2B5EF4-FFF2-40B4-BE49-F238E27FC236}">
                <a16:creationId xmlns:a16="http://schemas.microsoft.com/office/drawing/2014/main" id="{549F3989-2DD3-71D1-17E9-13C0076050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5692" y="553402"/>
            <a:ext cx="2491409" cy="249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6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E557A-710A-0ED5-15C9-F5B7EFB12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FBB8F-67A5-D127-7D10-8B56ED73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decision to sponsor has several tradeoffs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2435D-F359-4EF2-0A98-97260DC0E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Sponsorship involves significant risk for </a:t>
            </a:r>
            <a:r>
              <a:rPr lang="en-US" b="1" dirty="0"/>
              <a:t>sponsors</a:t>
            </a:r>
            <a:r>
              <a:rPr lang="en-US" dirty="0"/>
              <a:t>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FB3A1-A3A0-F060-1D21-DCC501DD96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9C0CE-2B58-3559-9779-D7570AA81F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CE1D70E-C399-F467-C16E-8CC534CCD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330990"/>
              </p:ext>
            </p:extLst>
          </p:nvPr>
        </p:nvGraphicFramePr>
        <p:xfrm>
          <a:off x="722242" y="2054087"/>
          <a:ext cx="10243932" cy="3685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1966">
                  <a:extLst>
                    <a:ext uri="{9D8B030D-6E8A-4147-A177-3AD203B41FA5}">
                      <a16:colId xmlns:a16="http://schemas.microsoft.com/office/drawing/2014/main" val="3602741182"/>
                    </a:ext>
                  </a:extLst>
                </a:gridCol>
                <a:gridCol w="5121966">
                  <a:extLst>
                    <a:ext uri="{9D8B030D-6E8A-4147-A177-3AD203B41FA5}">
                      <a16:colId xmlns:a16="http://schemas.microsoft.com/office/drawing/2014/main" val="2797089743"/>
                    </a:ext>
                  </a:extLst>
                </a:gridCol>
              </a:tblGrid>
              <a:tr h="646877">
                <a:tc>
                  <a:txBody>
                    <a:bodyPr/>
                    <a:lstStyle/>
                    <a:p>
                      <a:r>
                        <a:rPr lang="en-US" sz="2400" dirty="0"/>
                        <a:t>When a protégé </a:t>
                      </a:r>
                      <a:r>
                        <a:rPr lang="en-US" sz="2400" dirty="0">
                          <a:solidFill>
                            <a:srgbClr val="00B050"/>
                          </a:solidFill>
                        </a:rPr>
                        <a:t>succeeds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When a protégé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fails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482723"/>
                  </a:ext>
                </a:extLst>
              </a:tr>
              <a:tr h="872546">
                <a:tc>
                  <a:txBody>
                    <a:bodyPr/>
                    <a:lstStyle/>
                    <a:p>
                      <a:r>
                        <a:rPr lang="en-US" sz="2400" dirty="0"/>
                        <a:t>Sponsor enhances their reputation</a:t>
                      </a:r>
                      <a:endParaRPr lang="en-US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Sponsor’s credibility is damaged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394621"/>
                  </a:ext>
                </a:extLst>
              </a:tr>
              <a:tr h="646877">
                <a:tc>
                  <a:txBody>
                    <a:bodyPr/>
                    <a:lstStyle/>
                    <a:p>
                      <a:r>
                        <a:rPr lang="en-US" sz="2400" dirty="0"/>
                        <a:t>Seen as having good judgment</a:t>
                      </a:r>
                      <a:endParaRPr lang="en-US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Reputation for poor judgment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944145"/>
                  </a:ext>
                </a:extLst>
              </a:tr>
              <a:tr h="872546">
                <a:tc>
                  <a:txBody>
                    <a:bodyPr/>
                    <a:lstStyle/>
                    <a:p>
                      <a:r>
                        <a:rPr lang="en-US" sz="2400" dirty="0"/>
                        <a:t>Strengthens network relationships</a:t>
                      </a:r>
                      <a:endParaRPr lang="en-US" sz="2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Network relationships may suffer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783271"/>
                  </a:ext>
                </a:extLst>
              </a:tr>
              <a:tr h="64687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Social capital is 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Social capital is lost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265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91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99C3A-7619-4AE5-7543-E8FE544B3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9684-D634-F7DC-38B9-BDE647D58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7930"/>
          </a:xfrm>
        </p:spPr>
        <p:txBody>
          <a:bodyPr/>
          <a:lstStyle/>
          <a:p>
            <a:r>
              <a:rPr lang="en-US" dirty="0"/>
              <a:t>More importantly, how do these tradeoffs influence sponsor perceptions as a function of gender?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9F3F9-2D18-4276-6C39-A1A1D7908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How does protégé outcome influence a sponsor’s outcomes?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Are women punished more harshly for their protégé’s failures? Are they rewarded, less?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Do women sponsors hedge their endorsements (lower confidence) relative to men?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Do audiences hold women sponsors to different credibility standards?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823F2B-5BDE-5507-F8FE-27BCC3EE0E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5F422-704F-7EE0-B90C-CCDC600386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80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E297F-3D78-F8FA-E6B7-9093A2D7F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41494-12CB-1436-3EBF-D493F16FC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0131"/>
          </a:xfrm>
        </p:spPr>
        <p:txBody>
          <a:bodyPr/>
          <a:lstStyle/>
          <a:p>
            <a:r>
              <a:rPr lang="en-US" dirty="0"/>
              <a:t>Multi-stage lab experiment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1B56A-41F5-010C-5F08-D67FD5B385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C9D0FA-0BBD-8B72-475F-97F582E03D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DC27017-1AA2-F2C3-8FDA-E3518A105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639702"/>
              </p:ext>
            </p:extLst>
          </p:nvPr>
        </p:nvGraphicFramePr>
        <p:xfrm>
          <a:off x="325783" y="1436572"/>
          <a:ext cx="3745948" cy="398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48">
                  <a:extLst>
                    <a:ext uri="{9D8B030D-6E8A-4147-A177-3AD203B41FA5}">
                      <a16:colId xmlns:a16="http://schemas.microsoft.com/office/drawing/2014/main" val="2853847036"/>
                    </a:ext>
                  </a:extLst>
                </a:gridCol>
              </a:tblGrid>
              <a:tr h="7519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Stage 1</a:t>
                      </a:r>
                    </a:p>
                    <a:p>
                      <a:pPr algn="ctr"/>
                      <a:r>
                        <a:rPr lang="en-US" dirty="0"/>
                        <a:t>(Protégé Performance)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24698"/>
                  </a:ext>
                </a:extLst>
              </a:tr>
              <a:tr h="3232902">
                <a:tc>
                  <a:txBody>
                    <a:bodyPr/>
                    <a:lstStyle/>
                    <a:p>
                      <a:r>
                        <a:rPr lang="en-US" dirty="0"/>
                        <a:t>Data from Barron et al., 2025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Tasks: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Word search puzzles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General knowledge quiz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Logical reasoning test (Raven’s matrices)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58791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A1E703C-5D6A-61A9-69D6-0782A0472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719507"/>
              </p:ext>
            </p:extLst>
          </p:nvPr>
        </p:nvGraphicFramePr>
        <p:xfrm>
          <a:off x="4175540" y="1436572"/>
          <a:ext cx="3745948" cy="398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48">
                  <a:extLst>
                    <a:ext uri="{9D8B030D-6E8A-4147-A177-3AD203B41FA5}">
                      <a16:colId xmlns:a16="http://schemas.microsoft.com/office/drawing/2014/main" val="2853847036"/>
                    </a:ext>
                  </a:extLst>
                </a:gridCol>
              </a:tblGrid>
              <a:tr h="7519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Stage 2</a:t>
                      </a:r>
                    </a:p>
                    <a:p>
                      <a:pPr algn="ctr"/>
                      <a:r>
                        <a:rPr lang="en-US" dirty="0"/>
                        <a:t>(Sponsor Endorsements)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24698"/>
                  </a:ext>
                </a:extLst>
              </a:tr>
              <a:tr h="3232902">
                <a:tc>
                  <a:txBody>
                    <a:bodyPr/>
                    <a:lstStyle/>
                    <a:p>
                      <a:r>
                        <a:rPr lang="en-US" dirty="0"/>
                        <a:t>Sponsors evaluate two candidates and provide an endorsement.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Goal</a:t>
                      </a:r>
                      <a:r>
                        <a:rPr lang="en-US" dirty="0"/>
                        <a:t>: Predict which candidate will perform better on logical reasoning, based on their performance on word search puzzle and/or general knowledge quiz.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58791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5A8D550-1458-0151-4BFB-9616713B4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281861"/>
              </p:ext>
            </p:extLst>
          </p:nvPr>
        </p:nvGraphicFramePr>
        <p:xfrm>
          <a:off x="8120269" y="1436572"/>
          <a:ext cx="3745948" cy="398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48">
                  <a:extLst>
                    <a:ext uri="{9D8B030D-6E8A-4147-A177-3AD203B41FA5}">
                      <a16:colId xmlns:a16="http://schemas.microsoft.com/office/drawing/2014/main" val="2853847036"/>
                    </a:ext>
                  </a:extLst>
                </a:gridCol>
              </a:tblGrid>
              <a:tr h="7519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Stage 3</a:t>
                      </a:r>
                    </a:p>
                    <a:p>
                      <a:pPr algn="ctr"/>
                      <a:r>
                        <a:rPr lang="en-US" dirty="0"/>
                        <a:t>(Audience Evaluation)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24698"/>
                  </a:ext>
                </a:extLst>
              </a:tr>
              <a:tr h="3232902">
                <a:tc>
                  <a:txBody>
                    <a:bodyPr/>
                    <a:lstStyle/>
                    <a:p>
                      <a:r>
                        <a:rPr lang="en-US" dirty="0"/>
                        <a:t>An evaluator (i.e., the audience) will assess multiple endorsements from same sponsor.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b="1" dirty="0"/>
                        <a:t>Goal</a:t>
                      </a:r>
                      <a:r>
                        <a:rPr lang="en-US" dirty="0"/>
                        <a:t>: Evaluate the sponsor’s predictions and decide how much to trust each endorsement on being correct.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587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42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5C48E-A5CD-BC99-9CED-AF9961F1E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1A42F-DD22-FD57-9B8D-AEC763F4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0131"/>
          </a:xfrm>
        </p:spPr>
        <p:txBody>
          <a:bodyPr/>
          <a:lstStyle/>
          <a:p>
            <a:r>
              <a:rPr lang="en-US" dirty="0"/>
              <a:t>Multi-stage lab experiment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3400C-C088-1D72-ED4A-4626DA667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37EC9-327F-0C16-0740-AAE506A36B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C4A8759-1965-231B-E470-5F91CE85871D}"/>
              </a:ext>
            </a:extLst>
          </p:cNvPr>
          <p:cNvGraphicFramePr>
            <a:graphicFrameLocks noGrp="1"/>
          </p:cNvGraphicFramePr>
          <p:nvPr/>
        </p:nvGraphicFramePr>
        <p:xfrm>
          <a:off x="325783" y="1436572"/>
          <a:ext cx="3745948" cy="398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48">
                  <a:extLst>
                    <a:ext uri="{9D8B030D-6E8A-4147-A177-3AD203B41FA5}">
                      <a16:colId xmlns:a16="http://schemas.microsoft.com/office/drawing/2014/main" val="2853847036"/>
                    </a:ext>
                  </a:extLst>
                </a:gridCol>
              </a:tblGrid>
              <a:tr h="7519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Stage 1</a:t>
                      </a:r>
                    </a:p>
                    <a:p>
                      <a:pPr algn="ctr"/>
                      <a:r>
                        <a:rPr lang="en-US" dirty="0"/>
                        <a:t>(Protégé Performance)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24698"/>
                  </a:ext>
                </a:extLst>
              </a:tr>
              <a:tr h="3232902">
                <a:tc>
                  <a:txBody>
                    <a:bodyPr/>
                    <a:lstStyle/>
                    <a:p>
                      <a:r>
                        <a:rPr lang="en-US" dirty="0"/>
                        <a:t>Data from Barron et al., 2025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Tasks: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Word search puzzles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General knowledge quiz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Logical reasoning test (Raven’s matrices)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58791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91C691B-A069-7B1A-549F-81F6B54B1D91}"/>
              </a:ext>
            </a:extLst>
          </p:cNvPr>
          <p:cNvGraphicFramePr>
            <a:graphicFrameLocks noGrp="1"/>
          </p:cNvGraphicFramePr>
          <p:nvPr/>
        </p:nvGraphicFramePr>
        <p:xfrm>
          <a:off x="4175540" y="1436572"/>
          <a:ext cx="3745948" cy="398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48">
                  <a:extLst>
                    <a:ext uri="{9D8B030D-6E8A-4147-A177-3AD203B41FA5}">
                      <a16:colId xmlns:a16="http://schemas.microsoft.com/office/drawing/2014/main" val="2853847036"/>
                    </a:ext>
                  </a:extLst>
                </a:gridCol>
              </a:tblGrid>
              <a:tr h="7519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Stage 2</a:t>
                      </a:r>
                    </a:p>
                    <a:p>
                      <a:pPr algn="ctr"/>
                      <a:r>
                        <a:rPr lang="en-US" dirty="0"/>
                        <a:t>(Sponsor Endorsements)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24698"/>
                  </a:ext>
                </a:extLst>
              </a:tr>
              <a:tr h="3232902">
                <a:tc>
                  <a:txBody>
                    <a:bodyPr/>
                    <a:lstStyle/>
                    <a:p>
                      <a:r>
                        <a:rPr lang="en-US" dirty="0"/>
                        <a:t>Sponsors evaluate two candidates and provide an endorsement.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Goal</a:t>
                      </a:r>
                      <a:r>
                        <a:rPr lang="en-US" dirty="0"/>
                        <a:t>: Predict which candidate will perform better on logical reasoning, based on their performance on word search puzzle and/or general knowledge quiz.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58791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FCF9D7A-1ED4-52A4-CF39-15F94BFE2A19}"/>
              </a:ext>
            </a:extLst>
          </p:cNvPr>
          <p:cNvGraphicFramePr>
            <a:graphicFrameLocks noGrp="1"/>
          </p:cNvGraphicFramePr>
          <p:nvPr/>
        </p:nvGraphicFramePr>
        <p:xfrm>
          <a:off x="8120269" y="1436572"/>
          <a:ext cx="3745948" cy="398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48">
                  <a:extLst>
                    <a:ext uri="{9D8B030D-6E8A-4147-A177-3AD203B41FA5}">
                      <a16:colId xmlns:a16="http://schemas.microsoft.com/office/drawing/2014/main" val="2853847036"/>
                    </a:ext>
                  </a:extLst>
                </a:gridCol>
              </a:tblGrid>
              <a:tr h="7519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Stage 3</a:t>
                      </a:r>
                    </a:p>
                    <a:p>
                      <a:pPr algn="ctr"/>
                      <a:r>
                        <a:rPr lang="en-US" dirty="0"/>
                        <a:t>(Audience Evaluation)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24698"/>
                  </a:ext>
                </a:extLst>
              </a:tr>
              <a:tr h="3232902">
                <a:tc>
                  <a:txBody>
                    <a:bodyPr/>
                    <a:lstStyle/>
                    <a:p>
                      <a:r>
                        <a:rPr lang="en-US" dirty="0"/>
                        <a:t>An evaluator (i.e., the audience) will assess multiple endorsements from same sponsor.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b="1" dirty="0"/>
                        <a:t>Goal</a:t>
                      </a:r>
                      <a:r>
                        <a:rPr lang="en-US" dirty="0"/>
                        <a:t>: Evaluate the sponsor’s predictions and decide how much to trust each endorsement on being correct.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58791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D4CD780A-06D0-B412-ACDD-EE8C0BBA88C5}"/>
              </a:ext>
            </a:extLst>
          </p:cNvPr>
          <p:cNvSpPr/>
          <p:nvPr/>
        </p:nvSpPr>
        <p:spPr>
          <a:xfrm>
            <a:off x="4175540" y="1436572"/>
            <a:ext cx="7690677" cy="3984856"/>
          </a:xfrm>
          <a:prstGeom prst="rect">
            <a:avLst/>
          </a:prstGeom>
          <a:solidFill>
            <a:srgbClr val="011F5B">
              <a:alpha val="8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47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B51F8-C887-3A47-0FA0-1A87D15F8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309095-30D4-B84A-15BB-BB8A0E8752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AEE7A-EE36-4185-95E0-2F7695EF83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7FA438-D031-D36B-7861-8C38C9543A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74" t="11438" r="24413" b="48763"/>
          <a:stretch>
            <a:fillRect/>
          </a:stretch>
        </p:blipFill>
        <p:spPr>
          <a:xfrm>
            <a:off x="4476205" y="3566864"/>
            <a:ext cx="3457303" cy="27294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24516C-62F9-8344-03DE-E3A8027FE3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92" t="80889" r="24984"/>
          <a:stretch>
            <a:fillRect/>
          </a:stretch>
        </p:blipFill>
        <p:spPr>
          <a:xfrm>
            <a:off x="6096000" y="1468098"/>
            <a:ext cx="5081409" cy="19609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B6AA9C5-883F-C220-621B-CE8CC08365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05" t="52889" r="18254" b="21206"/>
          <a:stretch>
            <a:fillRect/>
          </a:stretch>
        </p:blipFill>
        <p:spPr>
          <a:xfrm>
            <a:off x="706011" y="1197427"/>
            <a:ext cx="5498845" cy="230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25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FD3D-3E38-A7D2-0C92-607B960D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72BAB-591B-546E-8EC2-13C64042F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0131"/>
          </a:xfrm>
        </p:spPr>
        <p:txBody>
          <a:bodyPr/>
          <a:lstStyle/>
          <a:p>
            <a:r>
              <a:rPr lang="en-US" dirty="0"/>
              <a:t>Multi-stage lab experiment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1B926C-A5E9-165C-0939-0C4D26B149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2848DD-E95A-C322-C140-2421ACF980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139E466-ABFB-E7FF-076F-6D90557B18F3}"/>
              </a:ext>
            </a:extLst>
          </p:cNvPr>
          <p:cNvGraphicFramePr>
            <a:graphicFrameLocks noGrp="1"/>
          </p:cNvGraphicFramePr>
          <p:nvPr/>
        </p:nvGraphicFramePr>
        <p:xfrm>
          <a:off x="325783" y="1436572"/>
          <a:ext cx="3745948" cy="398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48">
                  <a:extLst>
                    <a:ext uri="{9D8B030D-6E8A-4147-A177-3AD203B41FA5}">
                      <a16:colId xmlns:a16="http://schemas.microsoft.com/office/drawing/2014/main" val="2853847036"/>
                    </a:ext>
                  </a:extLst>
                </a:gridCol>
              </a:tblGrid>
              <a:tr h="7519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Stage 1</a:t>
                      </a:r>
                    </a:p>
                    <a:p>
                      <a:pPr algn="ctr"/>
                      <a:r>
                        <a:rPr lang="en-US" dirty="0"/>
                        <a:t>(Protégé Performance)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24698"/>
                  </a:ext>
                </a:extLst>
              </a:tr>
              <a:tr h="3232902">
                <a:tc>
                  <a:txBody>
                    <a:bodyPr/>
                    <a:lstStyle/>
                    <a:p>
                      <a:r>
                        <a:rPr lang="en-US" dirty="0"/>
                        <a:t>Data from Barron et al., 2025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Tasks: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Word search puzzles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General knowledge quiz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Logical reasoning test (Raven’s matrices)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58791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8452ED7-56E8-DB40-6089-B3DE97AA8EAC}"/>
              </a:ext>
            </a:extLst>
          </p:cNvPr>
          <p:cNvGraphicFramePr>
            <a:graphicFrameLocks noGrp="1"/>
          </p:cNvGraphicFramePr>
          <p:nvPr/>
        </p:nvGraphicFramePr>
        <p:xfrm>
          <a:off x="4175540" y="1436572"/>
          <a:ext cx="3745948" cy="398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48">
                  <a:extLst>
                    <a:ext uri="{9D8B030D-6E8A-4147-A177-3AD203B41FA5}">
                      <a16:colId xmlns:a16="http://schemas.microsoft.com/office/drawing/2014/main" val="2853847036"/>
                    </a:ext>
                  </a:extLst>
                </a:gridCol>
              </a:tblGrid>
              <a:tr h="7519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Stage 2</a:t>
                      </a:r>
                    </a:p>
                    <a:p>
                      <a:pPr algn="ctr"/>
                      <a:r>
                        <a:rPr lang="en-US" dirty="0"/>
                        <a:t>(Sponsor Endorsements)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24698"/>
                  </a:ext>
                </a:extLst>
              </a:tr>
              <a:tr h="3232902">
                <a:tc>
                  <a:txBody>
                    <a:bodyPr/>
                    <a:lstStyle/>
                    <a:p>
                      <a:r>
                        <a:rPr lang="en-US" dirty="0"/>
                        <a:t>Sponsors evaluate two candidates and provide an endorsement.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Goal</a:t>
                      </a:r>
                      <a:r>
                        <a:rPr lang="en-US" dirty="0"/>
                        <a:t>: Predict which candidate will perform better on logical reasoning, based on their performance on word search puzzle and/or general knowledge quiz.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58791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CA6A201-8AAD-728A-2255-EC5078CFD176}"/>
              </a:ext>
            </a:extLst>
          </p:cNvPr>
          <p:cNvGraphicFramePr>
            <a:graphicFrameLocks noGrp="1"/>
          </p:cNvGraphicFramePr>
          <p:nvPr/>
        </p:nvGraphicFramePr>
        <p:xfrm>
          <a:off x="8120269" y="1436572"/>
          <a:ext cx="3745948" cy="398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48">
                  <a:extLst>
                    <a:ext uri="{9D8B030D-6E8A-4147-A177-3AD203B41FA5}">
                      <a16:colId xmlns:a16="http://schemas.microsoft.com/office/drawing/2014/main" val="2853847036"/>
                    </a:ext>
                  </a:extLst>
                </a:gridCol>
              </a:tblGrid>
              <a:tr h="7519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Stage 3</a:t>
                      </a:r>
                    </a:p>
                    <a:p>
                      <a:pPr algn="ctr"/>
                      <a:r>
                        <a:rPr lang="en-US" dirty="0"/>
                        <a:t>(Audience Evaluation)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24698"/>
                  </a:ext>
                </a:extLst>
              </a:tr>
              <a:tr h="3232902">
                <a:tc>
                  <a:txBody>
                    <a:bodyPr/>
                    <a:lstStyle/>
                    <a:p>
                      <a:r>
                        <a:rPr lang="en-US" dirty="0"/>
                        <a:t>An evaluator (i.e., the audience) will assess multiple endorsements from same sponsor.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b="1" dirty="0"/>
                        <a:t>Goal</a:t>
                      </a:r>
                      <a:r>
                        <a:rPr lang="en-US" dirty="0"/>
                        <a:t>: Evaluate the sponsor’s predictions and decide how much to trust each endorsement on being correct.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58791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CF7DBB7-75C0-7BAC-69C8-B2EA858F46E2}"/>
              </a:ext>
            </a:extLst>
          </p:cNvPr>
          <p:cNvSpPr/>
          <p:nvPr/>
        </p:nvSpPr>
        <p:spPr>
          <a:xfrm>
            <a:off x="8120269" y="1436572"/>
            <a:ext cx="3745948" cy="3984856"/>
          </a:xfrm>
          <a:prstGeom prst="rect">
            <a:avLst/>
          </a:prstGeom>
          <a:solidFill>
            <a:srgbClr val="011F5B">
              <a:alpha val="8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56E7F6-44E3-216A-33D1-CF919F890DFA}"/>
              </a:ext>
            </a:extLst>
          </p:cNvPr>
          <p:cNvSpPr/>
          <p:nvPr/>
        </p:nvSpPr>
        <p:spPr>
          <a:xfrm>
            <a:off x="325783" y="1436572"/>
            <a:ext cx="3745948" cy="3984856"/>
          </a:xfrm>
          <a:prstGeom prst="rect">
            <a:avLst/>
          </a:prstGeom>
          <a:solidFill>
            <a:srgbClr val="011F5B">
              <a:alpha val="8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91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3A50F-567F-1350-562C-00A1BEF5F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903252-B2B8-6CD7-6ACB-3C8D0F3E45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0E9BA-8590-63E1-675B-AF24EBC388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FFE52D-D64F-7419-6FF7-219DF68D2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816" y="1599012"/>
            <a:ext cx="8789221" cy="285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567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68664-ECDA-00BE-1356-B015B911C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53E12-4186-D968-43E3-A1A37141AF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2991A2-8492-2B77-981F-AC0F666C5C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1AA246-7A77-83EE-72A8-E4F74D95E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063" y="611222"/>
            <a:ext cx="8824832" cy="494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358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3FDBF-B128-E50E-E211-61F9D8A3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B7860-B2D3-5726-9069-8FFE0FEE91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1F3BD-9D8E-F863-2DB9-FAB7978EBC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22542D-8AC8-25E4-9BDD-B938F4C19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627" y="1402080"/>
            <a:ext cx="9402746" cy="338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91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B4E8-1ADE-BEFC-0E7B-05CA1AE44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D5D208-712D-6C86-1FD8-34D9434DE8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8E01EE-F40C-94A8-435E-B9E2333362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E8E9CC-C5E4-CC49-E06D-27C532576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888" y="880534"/>
            <a:ext cx="9404224" cy="44574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EB4D59-E05C-066B-6F0D-E06BE26EE9D5}"/>
              </a:ext>
            </a:extLst>
          </p:cNvPr>
          <p:cNvSpPr txBox="1"/>
          <p:nvPr/>
        </p:nvSpPr>
        <p:spPr>
          <a:xfrm>
            <a:off x="313508" y="5738949"/>
            <a:ext cx="5199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Feedback on whether telegraphing this information would be helpful?</a:t>
            </a:r>
          </a:p>
        </p:txBody>
      </p:sp>
    </p:spTree>
    <p:extLst>
      <p:ext uri="{BB962C8B-B14F-4D97-AF65-F5344CB8AC3E}">
        <p14:creationId xmlns:p14="http://schemas.microsoft.com/office/powerpoint/2010/main" val="634791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5E991-1B35-277D-1C56-FC45BC0B8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2E285-87D5-403F-3E8C-9A6C5CC824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52BC1-4F15-0E11-47F8-6EBA203059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C39BCD-908D-9623-9B06-CE9171EC3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82" y="1233756"/>
            <a:ext cx="9731436" cy="393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26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95A41-4BE5-E8C2-C3BB-2AC8E34E3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31AD38-86EF-08AB-2C48-2DFB52333A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36A0C6-FFD7-1021-2310-C9376A20F7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DE4DF9-F04B-209D-9C2A-905DC6DF0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042" y="351389"/>
            <a:ext cx="8775916" cy="563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58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7393D-0D79-C64C-90A7-81FABA779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CF73A3-A11D-9C6D-F053-7681F5F3DA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CE9230-001A-AE50-E939-9157B964D3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8C7795-F86A-6EA8-4256-8219F9C94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880" y="87086"/>
            <a:ext cx="7111065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181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8DCD4-C9BC-52C5-785A-1A5CBB0A2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2408FF-90BB-DDA9-E237-9E1801DB18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F62EE-99EE-C565-0A7C-770CB4D481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D4082B-34C0-B97E-1E9A-C46466436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894" y="2015367"/>
            <a:ext cx="7750212" cy="28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17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DC0D0-D617-B793-2F6E-4B13E6E08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5ED95-2DEC-9259-496D-E6C935DF65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1E5A9-1F92-58FF-F993-963D37618C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619A52-F5F2-0DDE-B298-2AFC3F273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446" y="1028492"/>
            <a:ext cx="7933107" cy="480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30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60098-6593-035D-9909-6FA6E73BC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91244-676D-6E05-5C32-51BF60C132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AF342-1021-2BBA-06E3-19AEFCD29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409B80-26DB-CD42-6314-3F06F5BB8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998" y="1881051"/>
            <a:ext cx="8860003" cy="289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144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5AB72-2F80-BC25-398C-15A1CAE3B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CED33F-5B5F-584D-ADB0-FCF0E034C4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Maurice Lab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6D565-E478-BC8B-9B24-D236150CDD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F018D7-B819-41B6-CAAF-D14456718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729" y="1487954"/>
            <a:ext cx="9360541" cy="338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428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34018-A004-9A89-0E38-2173ABAFF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34292-8B62-8011-32B5-9B31A62595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Maurice Lab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107E1-D797-8AA8-48DE-D02F627DB3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FF4F53-29B2-B148-B932-95C19FE0B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877" y="512473"/>
            <a:ext cx="7910245" cy="56240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A41DE4-DA1B-E08B-6BFC-A257C30D555A}"/>
              </a:ext>
            </a:extLst>
          </p:cNvPr>
          <p:cNvSpPr txBox="1"/>
          <p:nvPr/>
        </p:nvSpPr>
        <p:spPr>
          <a:xfrm>
            <a:off x="278674" y="512473"/>
            <a:ext cx="1680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Dominant</a:t>
            </a:r>
          </a:p>
          <a:p>
            <a:r>
              <a:rPr lang="en-US" b="1" dirty="0"/>
              <a:t>(B Wins)</a:t>
            </a:r>
          </a:p>
        </p:txBody>
      </p:sp>
    </p:spTree>
    <p:extLst>
      <p:ext uri="{BB962C8B-B14F-4D97-AF65-F5344CB8AC3E}">
        <p14:creationId xmlns:p14="http://schemas.microsoft.com/office/powerpoint/2010/main" val="1064585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BEEA1-818E-3282-2BFC-A556DA396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1A568-DD23-589F-17B8-F0A8222FA7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Maurice Lab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760076-E23B-1CB9-10C6-6F28C9693B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225DD6-A37C-9CA1-F139-052A13E9ED7C}"/>
              </a:ext>
            </a:extLst>
          </p:cNvPr>
          <p:cNvSpPr txBox="1"/>
          <p:nvPr/>
        </p:nvSpPr>
        <p:spPr>
          <a:xfrm>
            <a:off x="278674" y="512473"/>
            <a:ext cx="2227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Uncertain</a:t>
            </a:r>
          </a:p>
          <a:p>
            <a:r>
              <a:rPr lang="en-US" b="1" dirty="0"/>
              <a:t>(A Wins)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1BF81F-C37D-CE3E-28C7-35837AA3E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462" y="750338"/>
            <a:ext cx="7331075" cy="535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21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5EFFF-5757-ABBC-B518-88810A2F1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2373C-594A-B85B-26DA-1212F04B46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Maurice Lab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CB231-B6C1-5990-251B-DC419D9AB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AEF2E8-F088-73E7-2F7A-0B2928C2DF1C}"/>
              </a:ext>
            </a:extLst>
          </p:cNvPr>
          <p:cNvSpPr txBox="1"/>
          <p:nvPr/>
        </p:nvSpPr>
        <p:spPr>
          <a:xfrm>
            <a:off x="278674" y="512473"/>
            <a:ext cx="2238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 Slightly Better</a:t>
            </a:r>
          </a:p>
          <a:p>
            <a:r>
              <a:rPr lang="en-US" b="1" dirty="0"/>
              <a:t>(B Wins)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8FE3FE-B07C-ED00-0F6F-58BB9A421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911" y="639838"/>
            <a:ext cx="7590178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93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E2C9E-DFA6-02E1-DCDD-A27EAC0B3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E75EEA-8E25-9307-4A12-AA98E4F008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Maurice Lab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7233E-0EA2-D182-967B-5871296655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A7E32E-CBC6-28BE-B25B-8212F4EB168D}"/>
              </a:ext>
            </a:extLst>
          </p:cNvPr>
          <p:cNvSpPr txBox="1"/>
          <p:nvPr/>
        </p:nvSpPr>
        <p:spPr>
          <a:xfrm>
            <a:off x="278674" y="512473"/>
            <a:ext cx="2227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Uncertain</a:t>
            </a:r>
          </a:p>
          <a:p>
            <a:r>
              <a:rPr lang="en-US" b="1" dirty="0"/>
              <a:t>(B Wins)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853B0D-8175-FB88-E7CF-131EE8AA5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445" y="773200"/>
            <a:ext cx="7491109" cy="53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21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A93C8-CEEA-4EDC-1620-692C0E52C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D779B-DE0F-8D8F-E6E9-779ACCE72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0131"/>
          </a:xfrm>
        </p:spPr>
        <p:txBody>
          <a:bodyPr/>
          <a:lstStyle/>
          <a:p>
            <a:r>
              <a:rPr lang="en-US" dirty="0"/>
              <a:t>Multi-stage lab experiment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E58E1-BD44-EE1D-0CE3-542E62C9EE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F50FD0-9496-D1F3-7567-995F6F4C0B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91D6382-1E4E-8DF9-9777-BB09FB131018}"/>
              </a:ext>
            </a:extLst>
          </p:cNvPr>
          <p:cNvGraphicFramePr>
            <a:graphicFrameLocks noGrp="1"/>
          </p:cNvGraphicFramePr>
          <p:nvPr/>
        </p:nvGraphicFramePr>
        <p:xfrm>
          <a:off x="325783" y="1436572"/>
          <a:ext cx="3745948" cy="398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48">
                  <a:extLst>
                    <a:ext uri="{9D8B030D-6E8A-4147-A177-3AD203B41FA5}">
                      <a16:colId xmlns:a16="http://schemas.microsoft.com/office/drawing/2014/main" val="2853847036"/>
                    </a:ext>
                  </a:extLst>
                </a:gridCol>
              </a:tblGrid>
              <a:tr h="7519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Stage 1</a:t>
                      </a:r>
                    </a:p>
                    <a:p>
                      <a:pPr algn="ctr"/>
                      <a:r>
                        <a:rPr lang="en-US" dirty="0"/>
                        <a:t>(Protégé Performance)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24698"/>
                  </a:ext>
                </a:extLst>
              </a:tr>
              <a:tr h="3232902">
                <a:tc>
                  <a:txBody>
                    <a:bodyPr/>
                    <a:lstStyle/>
                    <a:p>
                      <a:r>
                        <a:rPr lang="en-US" dirty="0"/>
                        <a:t>Data from Barron et al., 2025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Tasks: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Word search puzzles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General knowledge quiz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Logical reasoning test (Raven’s matrices)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58791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24351C2-402B-0736-E2FB-61B08FDB6C98}"/>
              </a:ext>
            </a:extLst>
          </p:cNvPr>
          <p:cNvGraphicFramePr>
            <a:graphicFrameLocks noGrp="1"/>
          </p:cNvGraphicFramePr>
          <p:nvPr/>
        </p:nvGraphicFramePr>
        <p:xfrm>
          <a:off x="4175540" y="1436572"/>
          <a:ext cx="3745948" cy="398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48">
                  <a:extLst>
                    <a:ext uri="{9D8B030D-6E8A-4147-A177-3AD203B41FA5}">
                      <a16:colId xmlns:a16="http://schemas.microsoft.com/office/drawing/2014/main" val="2853847036"/>
                    </a:ext>
                  </a:extLst>
                </a:gridCol>
              </a:tblGrid>
              <a:tr h="7519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Stage 2</a:t>
                      </a:r>
                    </a:p>
                    <a:p>
                      <a:pPr algn="ctr"/>
                      <a:r>
                        <a:rPr lang="en-US" dirty="0"/>
                        <a:t>(Sponsor Endorsements)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24698"/>
                  </a:ext>
                </a:extLst>
              </a:tr>
              <a:tr h="3232902">
                <a:tc>
                  <a:txBody>
                    <a:bodyPr/>
                    <a:lstStyle/>
                    <a:p>
                      <a:r>
                        <a:rPr lang="en-US" dirty="0"/>
                        <a:t>Sponsors evaluate two candidates and provide an endorsement.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Goal</a:t>
                      </a:r>
                      <a:r>
                        <a:rPr lang="en-US" dirty="0"/>
                        <a:t>: Predict which candidate will perform better on logical reasoning, based on their performance on word search puzzle and/or general knowledge quiz.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58791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ED19CAB-9054-F0D1-3FBE-0E3F81B70360}"/>
              </a:ext>
            </a:extLst>
          </p:cNvPr>
          <p:cNvGraphicFramePr>
            <a:graphicFrameLocks noGrp="1"/>
          </p:cNvGraphicFramePr>
          <p:nvPr/>
        </p:nvGraphicFramePr>
        <p:xfrm>
          <a:off x="8120269" y="1436572"/>
          <a:ext cx="3745948" cy="398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948">
                  <a:extLst>
                    <a:ext uri="{9D8B030D-6E8A-4147-A177-3AD203B41FA5}">
                      <a16:colId xmlns:a16="http://schemas.microsoft.com/office/drawing/2014/main" val="2853847036"/>
                    </a:ext>
                  </a:extLst>
                </a:gridCol>
              </a:tblGrid>
              <a:tr h="7519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Stage 3</a:t>
                      </a:r>
                    </a:p>
                    <a:p>
                      <a:pPr algn="ctr"/>
                      <a:r>
                        <a:rPr lang="en-US" dirty="0"/>
                        <a:t>(Audience Evaluation)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24698"/>
                  </a:ext>
                </a:extLst>
              </a:tr>
              <a:tr h="3232902">
                <a:tc>
                  <a:txBody>
                    <a:bodyPr/>
                    <a:lstStyle/>
                    <a:p>
                      <a:r>
                        <a:rPr lang="en-US" dirty="0"/>
                        <a:t>An evaluator (i.e., the audience) will assess multiple endorsements from same sponsor.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b="1" dirty="0"/>
                        <a:t>Goal</a:t>
                      </a:r>
                      <a:r>
                        <a:rPr lang="en-US" dirty="0"/>
                        <a:t>: Evaluate the sponsor’s predictions and decide how much to trust each endorsement on being correct.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58791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7DDE98C-9735-1744-72CC-6C776B573084}"/>
              </a:ext>
            </a:extLst>
          </p:cNvPr>
          <p:cNvSpPr/>
          <p:nvPr/>
        </p:nvSpPr>
        <p:spPr>
          <a:xfrm>
            <a:off x="325783" y="1436572"/>
            <a:ext cx="7595705" cy="3984856"/>
          </a:xfrm>
          <a:prstGeom prst="rect">
            <a:avLst/>
          </a:prstGeom>
          <a:solidFill>
            <a:srgbClr val="011F5B">
              <a:alpha val="8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41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45131-5643-0311-8DDA-D1CB2CB3D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7B8C1-D41F-F967-8004-D5E0ED32CA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Maurice Lab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390FE-FAD6-351D-562B-B37D89F46D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975308-9783-9C0C-9573-98F6247BE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308" y="2739330"/>
            <a:ext cx="7887383" cy="137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49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E1939-8AF7-26E0-0466-3B5A9D80E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1E8F1B-CB6C-8F90-46E2-8BDC6C26D2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Maurice Lab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9EFFE-EFD8-9D71-3A55-476337DCD1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1AA803-E996-E876-7F69-6CEF80AB2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53" y="1904878"/>
            <a:ext cx="9854693" cy="330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48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B5CD0-BEFB-9F07-AC28-FFEE3653B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B24EC-8818-32C7-E8F4-E7688F2DA3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Maurice Lab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C2B68-843A-356C-6225-C7578DBB2A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253308-F9C5-4FCB-8415-6DEE77C16A35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7BB49A-19D1-6A65-48B7-17D20333A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10" y="561684"/>
            <a:ext cx="8964180" cy="573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8224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508E0-CD93-D5C7-2551-643440118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ext&#10;&#10;AI-generated content may be incorrect.">
            <a:extLst>
              <a:ext uri="{FF2B5EF4-FFF2-40B4-BE49-F238E27FC236}">
                <a16:creationId xmlns:a16="http://schemas.microsoft.com/office/drawing/2014/main" id="{9739D43E-F480-4173-0445-AF890B4C7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44096"/>
            <a:ext cx="10515600" cy="2760343"/>
          </a:xfrm>
          <a:prstGeom prst="rect">
            <a:avLst/>
          </a:prstGeo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3761C-84AF-7A00-44CD-B771B3049D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80258" y="6487182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C966A-96F2-8D74-25B3-CC659D77FE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42356" y="6487182"/>
            <a:ext cx="49736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253308-F9C5-4FCB-8415-6DEE77C16A35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1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A851C-CA69-D326-8733-23C38BA22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493346-9E89-81E0-33AD-62405DBCC9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80258" y="6487182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13ACF6-D401-C4A8-03A1-DCF3F445B4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42356" y="6487182"/>
            <a:ext cx="49736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253308-F9C5-4FCB-8415-6DEE77C16A35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CCAEF0-6C47-1F1B-7433-410FB42AD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132" y="669649"/>
            <a:ext cx="9259736" cy="497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346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84DF7-6281-1CED-B46A-53B866257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62E379-B123-ACF2-C7D5-24D9810351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80258" y="6487182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E25E8-0155-24C2-05DB-BEC8DE3447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42356" y="6487182"/>
            <a:ext cx="49736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253308-F9C5-4FCB-8415-6DEE77C16A35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463AB3-428E-AB81-8A4F-7FE23AE3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08" y="2090058"/>
            <a:ext cx="10103183" cy="236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3277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5D32-CC34-0A88-41C2-E403E6E5A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8D31F-09EB-990C-239E-AD69759E0B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80258" y="6487182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B25452-01E6-6E25-5C47-6D2AA372CA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42356" y="6487182"/>
            <a:ext cx="49736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253308-F9C5-4FCB-8415-6DEE77C16A35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60821E-1644-00FE-BDC5-5B7DE2531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802" y="1725870"/>
            <a:ext cx="9842395" cy="340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839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899ED-FAC3-00C3-D9FD-C9EE8A9E8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C71A5B-3A3A-6166-394F-C32166C16C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80258" y="6487182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81EA17-1865-9EE1-3739-1345582D6B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42356" y="6487182"/>
            <a:ext cx="49736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253308-F9C5-4FCB-8415-6DEE77C16A35}" type="slidenum">
              <a:rPr lang="en-US" smtClean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43F042-AA24-0B22-FF65-154BB219D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307" y="131445"/>
            <a:ext cx="7445385" cy="626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290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099B3-6540-0B8F-0828-0E756302C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669216-E29F-22F1-A8FF-3E2D3275AB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80258" y="6487182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E9EE51-5E1F-B106-BA18-AF263333DA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42356" y="6487182"/>
            <a:ext cx="49736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253308-F9C5-4FCB-8415-6DEE77C16A35}" type="slidenum">
              <a:rPr lang="en-US" smtClean="0"/>
              <a:pPr>
                <a:spcAft>
                  <a:spcPts val="600"/>
                </a:spcAft>
              </a:pPr>
              <a:t>35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86EA23-7FF1-E437-D950-444B60388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134" y="658890"/>
            <a:ext cx="7277731" cy="554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9646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31476-CF2A-7F13-BABF-85B2098EB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8FFB7-D0E1-91AD-1F83-03962EB8F2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80258" y="6487182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94E67-ACC5-D503-2D23-5F58545BC7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42356" y="6487182"/>
            <a:ext cx="49736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253308-F9C5-4FCB-8415-6DEE77C16A35}" type="slidenum">
              <a:rPr lang="en-US" smtClean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32360C-90A7-C4FF-5821-DB77B4367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289" y="158626"/>
            <a:ext cx="7163421" cy="611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7100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0B0F7-0F9F-95F9-F4B4-B2934B14F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D4CEE-D927-6EE0-406A-B5EA733D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DBC1AE-AAAC-68D7-5773-495AE8B1D7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F20775-6341-48B4-49A3-2D5CADBA50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253308-F9C5-4FCB-8415-6DEE77C16A35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  <p:pic>
        <p:nvPicPr>
          <p:cNvPr id="10" name="Picture 9" descr="A graph with red and blue squares&#10;&#10;AI-generated content may be incorrect.">
            <a:extLst>
              <a:ext uri="{FF2B5EF4-FFF2-40B4-BE49-F238E27FC236}">
                <a16:creationId xmlns:a16="http://schemas.microsoft.com/office/drawing/2014/main" id="{4B04B049-A6DE-1184-1EE2-6DE23DC9B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0" y="923013"/>
            <a:ext cx="9144019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425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4B8A0-6561-67D8-E766-4EBC1990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6C667-745B-E7CE-87D0-D2695A5A8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61CCDA-BE5C-F3DC-15B3-9111F75259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116C-C262-ACE1-CE78-6260234AC1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253308-F9C5-4FCB-8415-6DEE77C16A35}" type="slidenum">
              <a:rPr lang="en-US" smtClean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E69D40-0C04-84B2-FDDF-30AFF71C5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1191" y="923013"/>
            <a:ext cx="8229617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478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3EED1-3F5B-4AAE-1888-3C94AE45E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5C9AD-08E8-DAB9-0A47-A568CC645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BD51A-CF7C-60B6-AC8A-7070321005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D18CD6-6AD6-0F30-12F1-58A6706C48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253308-F9C5-4FCB-8415-6DEE77C16A35}" type="slidenum">
              <a:rPr lang="en-US" smtClean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1AF4B9-9A5F-AC52-42F0-5F2E89CEA66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1191" y="1197334"/>
            <a:ext cx="8229617" cy="493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059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7263A-30C5-BF30-E8EB-7C2F90F62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8EC22-9280-574B-9D09-F0896A6F7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77B16-167B-FC2C-3416-D2A0A63225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Maurice Lab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E203E-7CDD-4F48-FDA1-4B0ECD1120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D253308-F9C5-4FCB-8415-6DEE77C16A35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9BD396-0031-BFB5-FBDF-27ED41932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6109" y="1149722"/>
            <a:ext cx="9259762" cy="505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774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1F0AB78E-5138-458B-832F-843F6134524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4401" y="914400"/>
            <a:ext cx="2743199" cy="3136723"/>
          </a:xfrm>
          <a:prstGeom prst="rect">
            <a:avLst/>
          </a:prstGeom>
          <a:noFill/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D59EE47E-D880-44A0-98EC-1C6DB40C50A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0907" y="4465885"/>
            <a:ext cx="4030185" cy="105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668895"/>
      </p:ext>
    </p:extLst>
  </p:cSld>
  <p:clrMapOvr>
    <a:masterClrMapping/>
  </p:clrMapOvr>
</p:sld>
</file>

<file path=ppt/theme/theme1.xml><?xml version="1.0" encoding="utf-8"?>
<a:theme xmlns:a="http://schemas.openxmlformats.org/drawingml/2006/main" name="Wharton 2016 16:9">
  <a:themeElements>
    <a:clrScheme name="Wharton">
      <a:dk1>
        <a:srgbClr val="2D2C41"/>
      </a:dk1>
      <a:lt1>
        <a:srgbClr val="FFFFFF"/>
      </a:lt1>
      <a:dk2>
        <a:srgbClr val="011F5B"/>
      </a:dk2>
      <a:lt2>
        <a:srgbClr val="EEEDEA"/>
      </a:lt2>
      <a:accent1>
        <a:srgbClr val="011F5B"/>
      </a:accent1>
      <a:accent2>
        <a:srgbClr val="990000"/>
      </a:accent2>
      <a:accent3>
        <a:srgbClr val="026CB5"/>
      </a:accent3>
      <a:accent4>
        <a:srgbClr val="06AAFC"/>
      </a:accent4>
      <a:accent5>
        <a:srgbClr val="96227D"/>
      </a:accent5>
      <a:accent6>
        <a:srgbClr val="D7BC6A"/>
      </a:accent6>
      <a:hlink>
        <a:srgbClr val="06AAFC"/>
      </a:hlink>
      <a:folHlink>
        <a:srgbClr val="06AAFC"/>
      </a:folHlink>
    </a:clrScheme>
    <a:fontScheme name="Wharton 201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Theme_4x3</Template>
  <TotalTime>7977</TotalTime>
  <Words>882</Words>
  <Application>Microsoft Office PowerPoint</Application>
  <PresentationFormat>Widescreen</PresentationFormat>
  <Paragraphs>193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Garamond</vt:lpstr>
      <vt:lpstr>Georgia</vt:lpstr>
      <vt:lpstr>Wharton 2016 16:9</vt:lpstr>
      <vt:lpstr>Who Builds Social Capital Through Sponsorship? </vt:lpstr>
      <vt:lpstr>PowerPoint Presentation</vt:lpstr>
      <vt:lpstr>What is sponsorship?</vt:lpstr>
      <vt:lpstr>Why sponsorship matters</vt:lpstr>
      <vt:lpstr>The decision to sponsor has several tradeoffs</vt:lpstr>
      <vt:lpstr>More importantly, how do these tradeoffs influence sponsor perceptions as a function of gender?</vt:lpstr>
      <vt:lpstr>Multi-stage lab experiment</vt:lpstr>
      <vt:lpstr>Multi-stage lab experiment</vt:lpstr>
      <vt:lpstr>PowerPoint Presentation</vt:lpstr>
      <vt:lpstr>Multi-stage lab experiment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Multi-stage lab experiment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Predictions</vt:lpstr>
      <vt:lpstr>Predictions</vt:lpstr>
      <vt:lpstr>Predictions</vt:lpstr>
      <vt:lpstr>Predictions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Byers</dc:creator>
  <cp:lastModifiedBy>Cervantez, Jose A.</cp:lastModifiedBy>
  <cp:revision>81</cp:revision>
  <dcterms:created xsi:type="dcterms:W3CDTF">2016-03-10T13:41:29Z</dcterms:created>
  <dcterms:modified xsi:type="dcterms:W3CDTF">2025-11-06T01:59:21Z</dcterms:modified>
</cp:coreProperties>
</file>